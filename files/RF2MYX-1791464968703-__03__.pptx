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78" r:id="rId2"/>
    <p:sldId id="373" r:id="rId3"/>
    <p:sldId id="380" r:id="rId4"/>
    <p:sldId id="381" r:id="rId5"/>
    <p:sldId id="398" r:id="rId6"/>
    <p:sldId id="382" r:id="rId7"/>
    <p:sldId id="331" r:id="rId8"/>
    <p:sldId id="334" r:id="rId9"/>
    <p:sldId id="379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1" r:id="rId18"/>
    <p:sldId id="393" r:id="rId19"/>
    <p:sldId id="338" r:id="rId20"/>
    <p:sldId id="341" r:id="rId21"/>
    <p:sldId id="394" r:id="rId22"/>
    <p:sldId id="397" r:id="rId23"/>
    <p:sldId id="396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FF"/>
    <a:srgbClr val="CA652A"/>
    <a:srgbClr val="65CA2A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8606" autoAdjust="0"/>
  </p:normalViewPr>
  <p:slideViewPr>
    <p:cSldViewPr snapToGrid="0">
      <p:cViewPr varScale="1">
        <p:scale>
          <a:sx n="83" d="100"/>
          <a:sy n="83" d="100"/>
        </p:scale>
        <p:origin x="138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59E7F-6412-4A1B-8A63-77BCF74287F2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7B5C9-0BBE-4034-BFC4-3B5D6E800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10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F96FA645-8ABC-4ACE-9988-75710A0D86A8}" type="slidenum">
              <a:rPr lang="ru-RU" altLang="ru-RU" smtClean="0">
                <a:solidFill>
                  <a:srgbClr val="000000"/>
                </a:solidFill>
              </a:rPr>
              <a:pPr/>
              <a:t>1</a:t>
            </a:fld>
            <a:endParaRPr lang="ru-RU" altLang="ru-RU" smtClean="0">
              <a:solidFill>
                <a:srgbClr val="000000"/>
              </a:solidFill>
            </a:endParaRPr>
          </a:p>
        </p:txBody>
      </p:sp>
      <p:sp>
        <p:nvSpPr>
          <p:cNvPr id="512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 eaLnBrk="1" hangingPunct="1">
              <a:buSzPct val="100000"/>
            </a:pPr>
            <a:fld id="{34C22601-D140-43E9-A49A-CD0E3FCD2D5F}" type="slidenum">
              <a:rPr lang="ru-RU" altLang="ru-RU" sz="1200">
                <a:solidFill>
                  <a:srgbClr val="000000"/>
                </a:solidFill>
              </a:rPr>
              <a:pPr algn="r" eaLnBrk="1" hangingPunct="1">
                <a:buSzPct val="100000"/>
              </a:pPr>
              <a:t>1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512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 eaLnBrk="1" hangingPunct="1">
              <a:buSzPct val="100000"/>
            </a:pPr>
            <a:fld id="{339FB897-CD93-4394-8BCB-26E916A0D764}" type="slidenum">
              <a:rPr lang="ru-RU" altLang="ru-RU" sz="1200">
                <a:solidFill>
                  <a:srgbClr val="000000"/>
                </a:solidFill>
              </a:rPr>
              <a:pPr algn="r" eaLnBrk="1" hangingPunct="1">
                <a:buSzPct val="100000"/>
              </a:pPr>
              <a:t>1</a:t>
            </a:fld>
            <a:endParaRPr lang="ru-RU" altLang="ru-RU" sz="1200">
              <a:solidFill>
                <a:srgbClr val="000000"/>
              </a:solidFill>
            </a:endParaRPr>
          </a:p>
        </p:txBody>
      </p:sp>
      <p:sp>
        <p:nvSpPr>
          <p:cNvPr id="5125" name="Text Box 3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5126" name="Rectangle 4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208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9302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49B29AF-458D-4EA0-82D7-9FCB29A73C9E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 Box 1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 defTabSz="457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970E771-A522-4DF3-8BAB-70822A2196DD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Жан Эффель, "Сотворение мира" </a:t>
            </a:r>
            <a:r>
              <a:rPr sz="2000"/>
              <a:t/>
            </a:r>
            <a:br>
              <a:rPr sz="2000"/>
            </a:b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9160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C7E7D0-D680-4EBE-A19E-EC58CBF3631E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29,765 км/с. </a:t>
            </a:r>
          </a:p>
        </p:txBody>
      </p:sp>
    </p:spTree>
    <p:extLst>
      <p:ext uri="{BB962C8B-B14F-4D97-AF65-F5344CB8AC3E}">
        <p14:creationId xmlns:p14="http://schemas.microsoft.com/office/powerpoint/2010/main" val="1556406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3D17E00-6C8C-48C6-80CA-8C6B4A5C2990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457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61CC994-3092-47C0-A626-47FCEA11B010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37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1182C58-5F1D-46A8-AE4E-3D61700BD9CB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14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0,465 км/с </a:t>
            </a:r>
          </a:p>
        </p:txBody>
      </p:sp>
    </p:spTree>
    <p:extLst>
      <p:ext uri="{BB962C8B-B14F-4D97-AF65-F5344CB8AC3E}">
        <p14:creationId xmlns:p14="http://schemas.microsoft.com/office/powerpoint/2010/main" val="1258474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6365809-D207-4970-8EFF-FC00A2597A48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9819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910D199-C33B-4CA5-B1EA-69D54B05DD75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16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29,765 км/с. </a:t>
            </a:r>
          </a:p>
        </p:txBody>
      </p:sp>
    </p:spTree>
    <p:extLst>
      <p:ext uri="{BB962C8B-B14F-4D97-AF65-F5344CB8AC3E}">
        <p14:creationId xmlns:p14="http://schemas.microsoft.com/office/powerpoint/2010/main" val="2916087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9BBC54-0189-4605-8290-66F33D6CC47D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17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9182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869E279-BC8F-4AC2-8AFE-AFC626130013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18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Вокруг своей оси: Это вращение имеет </a:t>
            </a:r>
            <a:r>
              <a:rPr lang="ru-RU" sz="20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центробежное ускорение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в системе отсчёта на Земле, которое слегка компенсирует силу гравитации вблизи экватора. </a:t>
            </a:r>
          </a:p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Первый эффект</a:t>
            </a:r>
            <a:r>
              <a:rPr lang="ru-RU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состоит в том, что на экваторе вес объекта слегка меньше. </a:t>
            </a:r>
          </a:p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Второй эффект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заключается в том, что Земля слегка деформирована в форму сплюснутого у полюсов сфероида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Отклонение движущегося тела относительно поверхности Земли – </a:t>
            </a:r>
            <a:r>
              <a:rPr lang="ru-RU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«Ускорение Кориолиса»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8901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F8D83D4-6E96-4185-AD5F-93CFD47DB3C9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+mn-ea"/>
              </a:rPr>
              <a:t>23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514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88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09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61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76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8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83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72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27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37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84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467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6"/>
          </p:nvPr>
        </p:nvSpPr>
        <p:spPr>
          <a:xfrm>
            <a:off x="6285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3429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r>
              <a:rPr lang="ru-RU" smtClean="0"/>
              <a:t>&lt;дата/время&gt;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7"/>
          </p:nvPr>
        </p:nvSpPr>
        <p:spPr>
          <a:xfrm>
            <a:off x="3028860" y="6356520"/>
            <a:ext cx="308583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ru-RU" smtClean="0"/>
              <a:t>&lt;нижний колонтитул&gt;</a:t>
            </a:r>
            <a:endParaRPr lang="ru-RU"/>
          </a:p>
        </p:txBody>
      </p:sp>
      <p:sp>
        <p:nvSpPr>
          <p:cNvPr id="47" name="PlaceHolder 3"/>
          <p:cNvSpPr>
            <a:spLocks noGrp="1"/>
          </p:cNvSpPr>
          <p:nvPr>
            <p:ph type="sldNum" idx="28"/>
          </p:nvPr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342900">
              <a:lnSpc>
                <a:spcPct val="100000"/>
              </a:lnSpc>
              <a:buNone/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fld id="{6DC62D1B-06DF-4553-978B-220C82B4C7EC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324000" indent="-243000">
              <a:lnSpc>
                <a:spcPct val="9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648000" lvl="1" indent="-243000">
              <a:lnSpc>
                <a:spcPct val="90000"/>
              </a:lnSpc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972000" lvl="2" indent="-2160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296000" lvl="3" indent="-1620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1620000" lvl="4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1944000" lvl="5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2268000" lvl="6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8776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39598-AD85-4E28-923A-DD5772DA67A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C5A0C-02BA-4642-BCB1-A4716FF75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27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www.iers.org/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ChangeArrowheads="1"/>
          </p:cNvSpPr>
          <p:nvPr/>
        </p:nvSpPr>
        <p:spPr bwMode="auto">
          <a:xfrm>
            <a:off x="248194" y="1784094"/>
            <a:ext cx="8732520" cy="3572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buSzPct val="100000"/>
            </a:pPr>
            <a:endParaRPr lang="ru-RU" alt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SzPct val="100000"/>
            </a:pPr>
            <a:r>
              <a:rPr lang="ru-RU" altLang="ru-RU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«Введение в физическую</a:t>
            </a:r>
          </a:p>
          <a:p>
            <a:pPr algn="ctr" eaLnBrk="1" hangingPunct="1">
              <a:buSzPct val="100000"/>
            </a:pPr>
            <a:r>
              <a:rPr lang="ru-RU" altLang="ru-RU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географию» </a:t>
            </a:r>
          </a:p>
          <a:p>
            <a:pPr algn="ctr" eaLnBrk="1" hangingPunct="1">
              <a:buSzPct val="100000"/>
            </a:pPr>
            <a:endParaRPr lang="ru-RU" altLang="ru-RU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100000"/>
            </a:pPr>
            <a:r>
              <a:rPr lang="ru-RU" alt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Семинар </a:t>
            </a:r>
            <a:r>
              <a:rPr lang="ru-RU" altLang="ru-RU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 </a:t>
            </a:r>
            <a:r>
              <a:rPr lang="ru-RU" altLang="ru-RU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– Движения </a:t>
            </a:r>
            <a:r>
              <a:rPr lang="ru-RU" alt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Земли и их географические </a:t>
            </a:r>
            <a:r>
              <a:rPr lang="ru-RU" alt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следствия</a:t>
            </a:r>
            <a:endParaRPr lang="ru-RU" altLang="ru-RU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SzPct val="100000"/>
            </a:pPr>
            <a:r>
              <a:rPr lang="ru-RU" alt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altLang="ru-RU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октября 2026 года</a:t>
            </a:r>
            <a:endParaRPr lang="ru-RU" altLang="ru-RU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15888"/>
            <a:ext cx="1336675" cy="127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638" y="115888"/>
            <a:ext cx="1268412" cy="127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477838" y="0"/>
            <a:ext cx="8229600" cy="14700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ru-RU" altLang="ru-RU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ГОСУДАРСТВЕННЫЙ УНИВЕРСИТЕТ</a:t>
            </a:r>
          </a:p>
          <a:p>
            <a:pPr algn="ctr" eaLnBrk="1" hangingPunct="1">
              <a:buSzPct val="100000"/>
              <a:defRPr/>
            </a:pPr>
            <a:r>
              <a:rPr lang="ru-RU" altLang="ru-RU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имени М.В.ЛОМОНОСОВА</a:t>
            </a:r>
          </a:p>
          <a:p>
            <a:pPr algn="ctr" eaLnBrk="1" hangingPunct="1">
              <a:buSzPct val="100000"/>
              <a:defRPr/>
            </a:pPr>
            <a:endParaRPr lang="ru-RU" altLang="ru-RU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SzPct val="100000"/>
              <a:defRPr/>
            </a:pPr>
            <a:r>
              <a:rPr lang="ru-RU" altLang="ru-RU" sz="20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Географический факультет</a:t>
            </a:r>
          </a:p>
        </p:txBody>
      </p:sp>
    </p:spTree>
    <p:extLst>
      <p:ext uri="{BB962C8B-B14F-4D97-AF65-F5344CB8AC3E}">
        <p14:creationId xmlns:p14="http://schemas.microsoft.com/office/powerpoint/2010/main" val="99590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2/20/Galaxies_of_the_Infrared_Sky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74479"/>
            <a:ext cx="9144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46100" y="0"/>
            <a:ext cx="8229600" cy="849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ts val="5775"/>
              </a:lnSpc>
              <a:buSzPct val="100000"/>
              <a:defRPr/>
            </a:pPr>
            <a:r>
              <a:rPr lang="ru-RU" altLang="ru-RU" sz="40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Вселенная</a:t>
            </a:r>
            <a:endParaRPr lang="ru-RU" altLang="ru-RU" sz="40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520793"/>
            <a:ext cx="24455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Возраст?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Происхождение?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Состав?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45541" y="5382293"/>
            <a:ext cx="6698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13,8 млрд лет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Сингулярность – большой взрыв – инфляция – расширение и остывание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5 % обычное вещество + 27 % тёмная материя + 68 % тёмная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55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Новая карта представляет Млечный Путь среди суперкластера галакти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9" y="1131579"/>
            <a:ext cx="8982454" cy="401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88829" y="5306303"/>
            <a:ext cx="89552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Суперкластеры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или сверхскопления,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­-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крупнейшие структуры во Вселенной, состоящие из многих миллиардов галактик, подобных нашей. До сих пор астрономам не удавалось точно определить, где в космической паутине заканчивается один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суперкластер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начинается другой. Группа учёных из Гавайского университета недавно нашла решение этой задачи, очертила границы нашего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суперкластера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дала ему имя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Ланиакея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46100" y="0"/>
            <a:ext cx="8229600" cy="849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ts val="5775"/>
              </a:lnSpc>
              <a:buSzPct val="100000"/>
              <a:defRPr/>
            </a:pPr>
            <a:r>
              <a:rPr lang="ru-RU" altLang="ru-RU" sz="3200" b="1" dirty="0" err="1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Суперкластер</a:t>
            </a:r>
            <a:r>
              <a:rPr lang="ru-RU" altLang="ru-RU" sz="32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галактик </a:t>
            </a:r>
            <a:r>
              <a:rPr lang="ru-RU" altLang="ru-RU" sz="3200" b="1" dirty="0" err="1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Ланиакея</a:t>
            </a:r>
            <a:endParaRPr lang="ru-RU" altLang="ru-RU" sz="32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90658" y="2410097"/>
            <a:ext cx="1371600" cy="64633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Млечный путь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9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46100" y="0"/>
            <a:ext cx="8229600" cy="849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ts val="5775"/>
              </a:lnSpc>
              <a:buSzPct val="100000"/>
              <a:defRPr/>
            </a:pPr>
            <a:endParaRPr lang="ru-RU" altLang="ru-RU" sz="32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4" descr="Млечный Пут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0124"/>
            <a:ext cx="3810115" cy="394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840239" y="-252833"/>
            <a:ext cx="3361818" cy="7314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4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Галактика Млечный Путь</a:t>
            </a:r>
          </a:p>
        </p:txBody>
      </p:sp>
      <p:pic>
        <p:nvPicPr>
          <p:cNvPr id="1026" name="Picture 2" descr="Млечный Путь с Земли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8"/>
          <a:stretch/>
        </p:blipFill>
        <p:spPr bwMode="auto">
          <a:xfrm>
            <a:off x="3868057" y="550125"/>
            <a:ext cx="5275944" cy="394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9500" y="4583225"/>
            <a:ext cx="258758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Возраст?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Размеры?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Количество звезд и планет, что в центре?</a:t>
            </a: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Положение Солнечной системы?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Есть ли жизнь?</a:t>
            </a:r>
            <a:endParaRPr lang="ru-RU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782699" y="4583225"/>
            <a:ext cx="63613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около </a:t>
            </a:r>
            <a:r>
              <a:rPr lang="ru-RU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13,6 млрд </a:t>
            </a: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лет</a:t>
            </a:r>
            <a:endParaRPr lang="ru-RU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диаметр </a:t>
            </a:r>
            <a:r>
              <a:rPr lang="ru-RU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звездного диска </a:t>
            </a: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</a:t>
            </a: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ru-RU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000 световых лет</a:t>
            </a:r>
            <a:r>
              <a:rPr lang="ru-RU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Звёзд - </a:t>
            </a:r>
            <a:r>
              <a:rPr lang="ru-RU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100 до 400 </a:t>
            </a:r>
            <a:r>
              <a:rPr lang="ru-RU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миллиардов</a:t>
            </a: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планет – более 100 миллиардов, в центре – сверхмассивная черная дыра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Наша </a:t>
            </a:r>
            <a:r>
              <a:rPr lang="ru-RU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система находится на окраине Галактики — во внутреннем крае рукава Ориона. Мы удалены от центра Галактики примерно на 26 000 световых лет (8 килопарсек) и движемся вокруг него со скоростью около 220 км/с.</a:t>
            </a:r>
          </a:p>
        </p:txBody>
      </p:sp>
    </p:spTree>
    <p:extLst>
      <p:ext uri="{BB962C8B-B14F-4D97-AF65-F5344CB8AC3E}">
        <p14:creationId xmlns:p14="http://schemas.microsoft.com/office/powerpoint/2010/main" val="413738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21021" y="-202033"/>
            <a:ext cx="7847020" cy="836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4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Ближайшая соседняя галактика – «Туманность» Андромеды</a:t>
            </a:r>
            <a:endParaRPr lang="ru-RU" altLang="ru-RU" sz="24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50" name="Picture 2" descr="Туманность Андромеды (M31): где находится, когда видна на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84" y="634093"/>
            <a:ext cx="7400925" cy="415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Купить книгу «Туманность Андромеды», Иван Ефремов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9" y="4899219"/>
            <a:ext cx="1177131" cy="184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771650" y="5315352"/>
            <a:ext cx="7086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20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Расстояние - около </a:t>
            </a:r>
            <a:r>
              <a:rPr lang="ru-RU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2,5 миллиона световых </a:t>
            </a:r>
            <a:r>
              <a:rPr lang="ru-RU" sz="20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лет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Масштаб:</a:t>
            </a:r>
            <a:r>
              <a:rPr lang="ru-RU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диаметр </a:t>
            </a:r>
            <a:r>
              <a:rPr lang="ru-RU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превышает 150 тысяч световых лет, а звёздное население насчитывает около </a:t>
            </a:r>
            <a:r>
              <a:rPr lang="ru-RU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 триллиона звёзд</a:t>
            </a:r>
            <a:endParaRPr lang="ru-RU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91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Солнечная систем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1208"/>
            <a:ext cx="9144000" cy="573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021813" y="-212171"/>
            <a:ext cx="3454792" cy="758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32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Солнечная система</a:t>
            </a:r>
            <a:endParaRPr lang="ru-RU" altLang="ru-RU" sz="32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44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153482"/>
              </p:ext>
            </p:extLst>
          </p:nvPr>
        </p:nvGraphicFramePr>
        <p:xfrm>
          <a:off x="120552" y="559939"/>
          <a:ext cx="8902890" cy="4617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1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3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73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80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503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Планета</a:t>
                      </a:r>
                    </a:p>
                    <a:p>
                      <a:pPr algn="ctr"/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расстояние от Солнца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 </a:t>
                      </a:r>
                      <a:r>
                        <a:rPr lang="ru-RU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обраще-ния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 </a:t>
                      </a:r>
                      <a:r>
                        <a:rPr lang="ru-RU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враще-ния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диаметр, км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масса в массах Земли</a:t>
                      </a:r>
                      <a:endParaRPr lang="ru-RU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плотность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г/см3</a:t>
                      </a:r>
                    </a:p>
                    <a:p>
                      <a:pPr algn="ctr"/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число спутников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882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млн. км</a:t>
                      </a:r>
                      <a:endParaRPr lang="ru-RU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а.е.</a:t>
                      </a:r>
                      <a:endParaRPr lang="ru-RU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Меркурий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57,9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0,39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 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 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4878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Венера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227 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 с *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12104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0,805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ЗЕМЛЯ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149,6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365 с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ч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12756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5,25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Марс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227,9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687 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24,5 ч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6974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0,106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3,94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Юпитер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778,3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ru-RU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 ч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142600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314,03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  <a:endParaRPr lang="ru-RU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Сатурн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1427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л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ч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120200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94,01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193</a:t>
                      </a:r>
                      <a:endParaRPr lang="ru-RU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Уран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 л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ч *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53000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Нептун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4496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30,1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164 л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ч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49500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Плутон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5946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39,8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247 л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6,4 с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0,002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trike="sng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4818" name="Picture 2" descr="Solar System XX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5357592"/>
            <a:ext cx="9144000" cy="51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645" y="5909474"/>
            <a:ext cx="9062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Земной группы: высокая плотность, силикаты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металлического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железа</a:t>
            </a:r>
          </a:p>
          <a:p>
            <a:pPr marL="342900" indent="-34290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Планеты гиганты: низкая плотность, большие размеры и масса, газовый состав</a:t>
            </a:r>
          </a:p>
          <a:p>
            <a:pPr marL="342900" indent="-34290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Карликовые планеты: Церера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Плутон, Хаумеа, Макемаке, Эрида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692359" y="-181464"/>
            <a:ext cx="5905784" cy="758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32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ПЛАНЕТЫ СОЛНЕЧНОЙ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71096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0" t="3125" r="14568" b="7292"/>
          <a:stretch>
            <a:fillRect/>
          </a:stretch>
        </p:blipFill>
        <p:spPr bwMode="auto">
          <a:xfrm>
            <a:off x="73798" y="1022306"/>
            <a:ext cx="5332817" cy="5138409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144247"/>
              </p:ext>
            </p:extLst>
          </p:nvPr>
        </p:nvGraphicFramePr>
        <p:xfrm>
          <a:off x="5476876" y="118192"/>
          <a:ext cx="3507932" cy="6628778"/>
        </p:xfrm>
        <a:graphic>
          <a:graphicData uri="http://schemas.openxmlformats.org/drawingml/2006/table">
            <a:tbl>
              <a:tblPr/>
              <a:tblGrid>
                <a:gridCol w="1753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3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532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300" b="1" dirty="0" smtClean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ПАРАМЕТРЫ ОРБИТЫ</a:t>
                      </a:r>
                      <a:endParaRPr lang="ru-RU" sz="1300" b="1" dirty="0"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endParaRPr lang="ru-RU" sz="1200" dirty="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fontAlgn="t"/>
                      <a:r>
                        <a:rPr lang="ru-RU" sz="13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Перигелий</a:t>
                      </a:r>
                      <a:endParaRPr lang="ru-RU" sz="13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 b="1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147 098 074</a:t>
                      </a:r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км</a:t>
                      </a:r>
                      <a:b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0,9832898912 а. е.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fontAlgn="t"/>
                      <a:r>
                        <a:rPr lang="ru-RU" sz="13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Афелий</a:t>
                      </a:r>
                      <a:endParaRPr lang="ru-RU" sz="13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 b="1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152 097 701 </a:t>
                      </a:r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км</a:t>
                      </a:r>
                      <a:b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1300" dirty="0" smtClean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1,0167103335 а.е.</a:t>
                      </a:r>
                      <a:endParaRPr lang="ru-RU" sz="1300" dirty="0"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Эксцентриситет</a:t>
                      </a:r>
                      <a:r>
                        <a:rPr lang="ru-RU" sz="13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en-US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0,016710219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532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период </a:t>
                      </a:r>
                      <a:r>
                        <a:rPr lang="ru-RU" sz="13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обращения</a:t>
                      </a:r>
                      <a:endParaRPr lang="ru-RU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365,256366 </a:t>
                      </a:r>
                      <a:r>
                        <a:rPr lang="ru-RU" sz="1300" dirty="0" smtClean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дней</a:t>
                      </a:r>
                      <a:endParaRPr lang="ru-RU" sz="1300" dirty="0"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Орбитальная скорость</a:t>
                      </a:r>
                      <a:r>
                        <a:rPr lang="ru-RU" sz="13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en-US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29,783 км/c</a:t>
                      </a:r>
                      <a:b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107 218 км/ч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328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300" b="1" dirty="0" smtClean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ФИЗИЧЕСКИЕ ХАРАКТЕРИСТИКИ</a:t>
                      </a:r>
                      <a:endParaRPr lang="ru-RU" sz="1300" b="1" dirty="0"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Приплюснутость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0,0033528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Полярный</a:t>
                      </a:r>
                      <a:r>
                        <a:rPr lang="ru-RU" sz="13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 радиус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6 356,8 км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Средний радиус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6 371,0 км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Окружность большого круга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40009,88 км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Площадь</a:t>
                      </a:r>
                      <a:endParaRPr lang="en-US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510 072 000 км²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Объём (</a:t>
                      </a:r>
                      <a:r>
                        <a:rPr lang="en-US" sz="13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V)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10,832073·10</a:t>
                      </a:r>
                      <a:r>
                        <a:rPr lang="ru-RU" sz="1300" baseline="300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11</a:t>
                      </a:r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 км³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Масса (</a:t>
                      </a:r>
                      <a:r>
                        <a:rPr lang="en-US" sz="13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m)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5,9736·10</a:t>
                      </a:r>
                      <a:r>
                        <a:rPr lang="ru-RU" sz="1300" baseline="300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24</a:t>
                      </a:r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 кг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Средняя </a:t>
                      </a:r>
                      <a:r>
                        <a:rPr lang="ru-RU" sz="13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плотность</a:t>
                      </a:r>
                      <a:endParaRPr lang="ru-RU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5,5153 г/см³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Ускорение свободного </a:t>
                      </a:r>
                      <a:r>
                        <a:rPr lang="ru-RU" sz="13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падения</a:t>
                      </a:r>
                      <a:endParaRPr lang="ru-RU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9,780327 </a:t>
                      </a:r>
                      <a:r>
                        <a:rPr lang="ru-RU" sz="1300" dirty="0" smtClean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м/с² </a:t>
                      </a:r>
                    </a:p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 smtClean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(на экваторе)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Первая космическая </a:t>
                      </a:r>
                      <a:r>
                        <a:rPr lang="ru-RU" sz="13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скорость</a:t>
                      </a:r>
                      <a:endParaRPr lang="ru-RU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7,91 км/с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Вторая космическая </a:t>
                      </a:r>
                      <a:r>
                        <a:rPr lang="ru-RU" sz="13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скорость</a:t>
                      </a:r>
                      <a:endParaRPr lang="ru-RU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11,186 км/с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Наклон оси</a:t>
                      </a:r>
                      <a:endParaRPr lang="ru-RU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23,439281°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328">
                <a:tc>
                  <a:txBody>
                    <a:bodyPr/>
                    <a:lstStyle/>
                    <a:p>
                      <a:pPr fontAlgn="t"/>
                      <a:r>
                        <a:rPr lang="ru-RU" sz="13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Альбедо</a:t>
                      </a:r>
                      <a:endParaRPr lang="ru-RU" sz="13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300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0,367</a:t>
                      </a:r>
                    </a:p>
                  </a:txBody>
                  <a:tcPr marL="19315" marR="19315" marT="19315" marB="19315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2179173" y="-96555"/>
            <a:ext cx="1225015" cy="758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32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Земля</a:t>
            </a:r>
            <a:endParaRPr lang="ru-RU" altLang="ru-RU" sz="32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39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Прямоугольник 1"/>
          <p:cNvSpPr>
            <a:spLocks noChangeArrowheads="1"/>
          </p:cNvSpPr>
          <p:nvPr/>
        </p:nvSpPr>
        <p:spPr bwMode="auto">
          <a:xfrm>
            <a:off x="142875" y="5095875"/>
            <a:ext cx="8742363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altLang="ru-RU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Термин «землеведение» был введён заведующим кафедрой географии Берлинского университета КАРЛОМ РИТТЕРОМ в начале XIX века (многотомный труд «Землеведение в отношении к природе и истории человечества»), на русском языке </a:t>
            </a:r>
            <a:r>
              <a:rPr lang="ru-RU" altLang="ru-RU" sz="2000" dirty="0" smtClean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</a:t>
            </a:r>
            <a:r>
              <a:rPr lang="ru-RU" altLang="ru-RU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П. П. СЕМЁНОВЫМ-ТЯН-ШАНСКИМ, который слушал лекции К. Риттера и перевёл его</a:t>
            </a:r>
          </a:p>
        </p:txBody>
      </p:sp>
      <p:sp>
        <p:nvSpPr>
          <p:cNvPr id="14339" name="Прямоугольник 5"/>
          <p:cNvSpPr>
            <a:spLocks noChangeArrowheads="1"/>
          </p:cNvSpPr>
          <p:nvPr/>
        </p:nvSpPr>
        <p:spPr bwMode="auto">
          <a:xfrm>
            <a:off x="157163" y="955675"/>
            <a:ext cx="85455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altLang="ru-RU" sz="28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НАУКА О НАИБОЛЕЕ ОБЩИХ ЗАКОНОМЕРНОСТЯХ ГЕОГРАФИЧЕСКОЙ ОБОЛОЧКИ</a:t>
            </a:r>
            <a:r>
              <a:rPr lang="ru-RU" altLang="ru-RU" sz="28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(особенностях её состава, структуры и развития),</a:t>
            </a:r>
          </a:p>
        </p:txBody>
      </p:sp>
      <p:sp>
        <p:nvSpPr>
          <p:cNvPr id="14340" name="TextBox 6"/>
          <p:cNvSpPr txBox="1">
            <a:spLocks noChangeArrowheads="1"/>
          </p:cNvSpPr>
          <p:nvPr/>
        </p:nvSpPr>
        <p:spPr bwMode="auto">
          <a:xfrm>
            <a:off x="157163" y="2325688"/>
            <a:ext cx="79015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altLang="ru-RU" sz="24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ОБУСЛОВЛЕННЫХ ОСОБЕННОСТЯМИ ЗЕМЛИ КАК ПЛАНЕТЫ, </a:t>
            </a:r>
          </a:p>
          <a:p>
            <a:r>
              <a:rPr lang="ru-RU" altLang="ru-RU" sz="24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 т.ч.:</a:t>
            </a:r>
          </a:p>
        </p:txBody>
      </p:sp>
      <p:sp>
        <p:nvSpPr>
          <p:cNvPr id="14341" name="TextBox 7"/>
          <p:cNvSpPr txBox="1">
            <a:spLocks noChangeArrowheads="1"/>
          </p:cNvSpPr>
          <p:nvPr/>
        </p:nvSpPr>
        <p:spPr bwMode="auto">
          <a:xfrm>
            <a:off x="395288" y="3167063"/>
            <a:ext cx="4663456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sz="28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ФОРМОЙ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sz="28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РАЗМЕРОМ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sz="28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ПАРАМЕТРАМИ ДВИЖЕНИЯ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sz="28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СОСТАВОМ и СТРОЕНИЕМ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46100" y="0"/>
            <a:ext cx="8229600" cy="849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ts val="5775"/>
              </a:lnSpc>
              <a:buSzPct val="100000"/>
              <a:defRPr/>
            </a:pPr>
            <a:r>
              <a:rPr lang="ru-RU" altLang="ru-RU" sz="4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Землеведение</a:t>
            </a:r>
            <a:endParaRPr lang="ru-RU" altLang="ru-RU" sz="48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097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/>
          <p:nvPr/>
        </p:nvPicPr>
        <p:blipFill>
          <a:blip r:embed="rId3"/>
          <a:stretch/>
        </p:blipFill>
        <p:spPr>
          <a:xfrm>
            <a:off x="3502950" y="3653246"/>
            <a:ext cx="5503890" cy="309589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ectangle 3"/>
          <p:cNvSpPr/>
          <p:nvPr/>
        </p:nvSpPr>
        <p:spPr>
          <a:xfrm>
            <a:off x="1142910" y="2435940"/>
            <a:ext cx="6857730" cy="8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-32670" rIns="67500" bIns="-32670" anchor="ctr">
            <a:noAutofit/>
          </a:bodyPr>
          <a:lstStyle/>
          <a:p>
            <a:pPr defTabSz="342900"/>
            <a:endParaRPr lang="ru-RU" sz="135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Rectangle 5"/>
          <p:cNvSpPr/>
          <p:nvPr/>
        </p:nvSpPr>
        <p:spPr>
          <a:xfrm>
            <a:off x="0" y="4750253"/>
            <a:ext cx="3387037" cy="9018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5100" rIns="67500" bIns="35100" anchor="t">
            <a:spAutoFit/>
          </a:bodyPr>
          <a:lstStyle/>
          <a:p>
            <a:pPr lvl="1" algn="ctr" defTabSz="342900">
              <a:spcBef>
                <a:spcPts val="451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280 млн лет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(галактический год) </a:t>
            </a:r>
            <a:r>
              <a:rPr lang="ru-RU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u-RU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Эпохи горообразования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6"/>
          <p:cNvSpPr/>
          <p:nvPr/>
        </p:nvSpPr>
        <p:spPr>
          <a:xfrm>
            <a:off x="1249021" y="871560"/>
            <a:ext cx="376769" cy="3478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5100" rIns="67500" bIns="35100" anchor="t">
            <a:spAutoFit/>
          </a:bodyPr>
          <a:lstStyle/>
          <a:p>
            <a:pPr defTabSz="342900">
              <a:spcBef>
                <a:spcPts val="451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b="1" dirty="0">
                <a:solidFill>
                  <a:srgbClr val="FFFFFF"/>
                </a:solidFill>
                <a:latin typeface="Arial"/>
              </a:rPr>
              <a:t>1.</a:t>
            </a:r>
            <a:r>
              <a:rPr lang="ru-RU" sz="1350" dirty="0">
                <a:solidFill>
                  <a:srgbClr val="FFFFFF"/>
                </a:solidFill>
                <a:latin typeface="Arial"/>
              </a:rPr>
              <a:t> </a:t>
            </a:r>
            <a:endParaRPr lang="ru-RU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2"/>
          <p:cNvPicPr/>
          <p:nvPr/>
        </p:nvPicPr>
        <p:blipFill>
          <a:blip r:embed="rId4"/>
          <a:srcRect t="8958" b="12051"/>
          <a:stretch/>
        </p:blipFill>
        <p:spPr>
          <a:xfrm>
            <a:off x="84909" y="536937"/>
            <a:ext cx="5630284" cy="336309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Движение вокруг центра Галактики вместе с Солнечной системой</a:t>
            </a:r>
          </a:p>
        </p:txBody>
      </p:sp>
    </p:spTree>
    <p:extLst>
      <p:ext uri="{BB962C8B-B14F-4D97-AF65-F5344CB8AC3E}">
        <p14:creationId xmlns:p14="http://schemas.microsoft.com/office/powerpoint/2010/main" val="426091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4"/>
          <p:cNvSpPr/>
          <p:nvPr/>
        </p:nvSpPr>
        <p:spPr>
          <a:xfrm>
            <a:off x="1249020" y="871560"/>
            <a:ext cx="6751890" cy="3478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ctr" defTabSz="342900">
              <a:spcBef>
                <a:spcPts val="451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b="1">
                <a:solidFill>
                  <a:srgbClr val="FFFFFF"/>
                </a:solidFill>
                <a:latin typeface="Arial"/>
              </a:rPr>
              <a:t>2.</a:t>
            </a:r>
            <a:r>
              <a:rPr lang="ru-RU" sz="1350">
                <a:solidFill>
                  <a:srgbClr val="FFFFFF"/>
                </a:solidFill>
                <a:latin typeface="Arial"/>
              </a:rPr>
              <a:t> </a:t>
            </a:r>
            <a:r>
              <a:rPr lang="ru-RU" b="1">
                <a:solidFill>
                  <a:srgbClr val="FFFFFF"/>
                </a:solidFill>
                <a:latin typeface="Arial"/>
              </a:rPr>
              <a:t>Вокруг Солнца по орбите</a:t>
            </a:r>
            <a:endParaRPr lang="ru-RU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5"/>
          <p:cNvSpPr/>
          <p:nvPr/>
        </p:nvSpPr>
        <p:spPr>
          <a:xfrm>
            <a:off x="546100" y="6371616"/>
            <a:ext cx="2183953" cy="4863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5100" rIns="67500" bIns="35100" anchor="t">
            <a:spAutoFit/>
          </a:bodyPr>
          <a:lstStyle/>
          <a:p>
            <a:pPr algn="ctr" defTabSz="342900">
              <a:spcBef>
                <a:spcPts val="338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35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365,26 суток</a:t>
            </a:r>
            <a:r>
              <a:rPr lang="ru-RU" sz="135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135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sz="135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135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(звездный год)</a:t>
            </a:r>
          </a:p>
        </p:txBody>
      </p:sp>
      <p:sp>
        <p:nvSpPr>
          <p:cNvPr id="86" name="Text Box 7"/>
          <p:cNvSpPr/>
          <p:nvPr/>
        </p:nvSpPr>
        <p:spPr>
          <a:xfrm>
            <a:off x="1142910" y="1376461"/>
            <a:ext cx="2268000" cy="10044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defTabSz="342900">
              <a:spcBef>
                <a:spcPts val="338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US" sz="1350">
                <a:solidFill>
                  <a:srgbClr val="FFFFFF"/>
                </a:solidFill>
                <a:latin typeface="Arial"/>
              </a:rPr>
              <a:t>S </a:t>
            </a:r>
            <a:r>
              <a:rPr lang="ru-RU" sz="1350">
                <a:solidFill>
                  <a:srgbClr val="FFFFFF"/>
                </a:solidFill>
                <a:latin typeface="Arial"/>
              </a:rPr>
              <a:t>до Солнца=</a:t>
            </a:r>
            <a:r>
              <a:rPr lang="ru-RU" sz="1350" b="1">
                <a:solidFill>
                  <a:srgbClr val="FFFFFF"/>
                </a:solidFill>
                <a:latin typeface="Arial"/>
              </a:rPr>
              <a:t>149 млн км</a:t>
            </a:r>
            <a:r>
              <a:rPr sz="1350"/>
              <a:t/>
            </a:r>
            <a:br>
              <a:rPr sz="1350"/>
            </a:br>
            <a:r>
              <a:rPr lang="en-US" sz="1350">
                <a:solidFill>
                  <a:srgbClr val="FFFFFF"/>
                </a:solidFill>
                <a:latin typeface="Arial"/>
              </a:rPr>
              <a:t>V </a:t>
            </a:r>
            <a:r>
              <a:rPr lang="ru-RU" sz="1350">
                <a:solidFill>
                  <a:srgbClr val="FFFFFF"/>
                </a:solidFill>
                <a:latin typeface="Arial"/>
              </a:rPr>
              <a:t>Земли=</a:t>
            </a:r>
            <a:r>
              <a:rPr lang="ru-RU" sz="1350" b="1">
                <a:solidFill>
                  <a:srgbClr val="FFFFFF"/>
                </a:solidFill>
                <a:latin typeface="Arial"/>
              </a:rPr>
              <a:t>30 км</a:t>
            </a:r>
            <a:r>
              <a:rPr lang="en-US" sz="1350" b="1">
                <a:solidFill>
                  <a:srgbClr val="FFFFFF"/>
                </a:solidFill>
                <a:latin typeface="Arial"/>
              </a:rPr>
              <a:t>/c</a:t>
            </a:r>
            <a:r>
              <a:rPr sz="1350"/>
              <a:t/>
            </a:r>
            <a:br>
              <a:rPr sz="1350"/>
            </a:br>
            <a:r>
              <a:rPr lang="ru-RU" sz="1350">
                <a:solidFill>
                  <a:srgbClr val="FFFFFF"/>
                </a:solidFill>
                <a:latin typeface="Arial"/>
              </a:rPr>
              <a:t>Наклон оси=</a:t>
            </a:r>
            <a:r>
              <a:rPr lang="ru-RU" sz="1350" b="1">
                <a:solidFill>
                  <a:srgbClr val="FFFFFF"/>
                </a:solidFill>
                <a:latin typeface="Arial"/>
              </a:rPr>
              <a:t>66,5º</a:t>
            </a:r>
            <a:endParaRPr lang="ru-RU" sz="1350">
              <a:solidFill>
                <a:srgbClr val="000000"/>
              </a:solidFill>
              <a:latin typeface="Arial"/>
            </a:endParaRPr>
          </a:p>
          <a:p>
            <a:pPr defTabSz="342900">
              <a:spcBef>
                <a:spcPts val="844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endParaRPr lang="ru-RU" sz="135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2" descr="Орбита ` s земли эллиптическая"/>
          <p:cNvPicPr/>
          <p:nvPr/>
        </p:nvPicPr>
        <p:blipFill>
          <a:blip r:embed="rId3"/>
          <a:srcRect b="8000"/>
          <a:stretch/>
        </p:blipFill>
        <p:spPr>
          <a:xfrm>
            <a:off x="94343" y="577652"/>
            <a:ext cx="8913595" cy="579696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10164" y="-224036"/>
            <a:ext cx="8229600" cy="849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ts val="5775"/>
              </a:lnSpc>
              <a:buSzPct val="100000"/>
              <a:defRPr/>
            </a:pPr>
            <a:r>
              <a:rPr lang="ru-RU" altLang="ru-RU" sz="32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Вокруг Солнца по орбите </a:t>
            </a:r>
            <a:endParaRPr lang="ru-RU" altLang="ru-RU" sz="32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16001" y="6400645"/>
            <a:ext cx="2391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Афелий - Перигелий</a:t>
            </a:r>
            <a:endParaRPr lang="ru-RU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91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Box 2"/>
          <p:cNvSpPr/>
          <p:nvPr/>
        </p:nvSpPr>
        <p:spPr>
          <a:xfrm>
            <a:off x="1227420" y="886951"/>
            <a:ext cx="6857730" cy="4402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ctr" defTabSz="342900">
              <a:spcBef>
                <a:spcPts val="1312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24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ВРАЩЕНИЕ ЗЕМЛИ</a:t>
            </a:r>
            <a:endParaRPr lang="ru-RU" sz="24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0" name="Picture 3"/>
          <p:cNvPicPr/>
          <p:nvPr/>
        </p:nvPicPr>
        <p:blipFill>
          <a:blip r:embed="rId3"/>
          <a:stretch/>
        </p:blipFill>
        <p:spPr>
          <a:xfrm>
            <a:off x="302140" y="2852094"/>
            <a:ext cx="5535000" cy="22477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4"/>
          <p:cNvPicPr/>
          <p:nvPr/>
        </p:nvPicPr>
        <p:blipFill>
          <a:blip r:embed="rId4"/>
          <a:stretch/>
        </p:blipFill>
        <p:spPr>
          <a:xfrm>
            <a:off x="6845853" y="2957529"/>
            <a:ext cx="1561950" cy="20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5"/>
          <p:cNvSpPr/>
          <p:nvPr/>
        </p:nvSpPr>
        <p:spPr>
          <a:xfrm>
            <a:off x="196544" y="797500"/>
            <a:ext cx="5535000" cy="20406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just"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Исходя из наблюдений звёзд, </a:t>
            </a:r>
            <a:r>
              <a:rPr lang="ru-RU" sz="1600" b="1" u="sng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предварение равноденствий</a:t>
            </a:r>
            <a:r>
              <a:rPr lang="ru-RU" sz="16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(прецессия) 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было открыто выдающимся древнегреческим астрономом </a:t>
            </a:r>
            <a:r>
              <a:rPr lang="ru-RU" sz="1600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Гиппархом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во II веке до н. э.</a:t>
            </a:r>
          </a:p>
          <a:p>
            <a:pPr algn="just"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Гиппарх обнаружил, что все долготы звёзд увеличиваются примерно (по его оценке) на 1° каждые 100 лет. Во II веке н. э. существование прецессии подтвердил </a:t>
            </a:r>
            <a:r>
              <a:rPr lang="ru-RU" sz="1600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Клавдий Птолемей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причём скорость прецессии по его данным составляла всё те же 1° в 100 лет. (по современным данным,</a:t>
            </a:r>
            <a:r>
              <a:rPr lang="ru-RU" sz="1600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1° за </a:t>
            </a:r>
            <a:r>
              <a:rPr lang="ru-RU" sz="1600" dirty="0" smtClean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1,5 </a:t>
            </a:r>
            <a:r>
              <a:rPr lang="ru-RU" sz="1600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года</a:t>
            </a:r>
            <a:r>
              <a:rPr lang="ru-RU" sz="16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ru-RU" sz="1600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ru-RU" sz="16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3" name="Rectangle 6"/>
          <p:cNvSpPr/>
          <p:nvPr/>
        </p:nvSpPr>
        <p:spPr>
          <a:xfrm>
            <a:off x="382995" y="5297198"/>
            <a:ext cx="8574660" cy="11788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Орбита Земли слегка вытянута, и ближе всего Земля подходит к Солнцу в январе, когда в северном полушарии зима. Из-за этого климат северного полушария Земли </a:t>
            </a:r>
            <a:r>
              <a:rPr lang="ru-RU" dirty="0" smtClean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чуть-чуть</a:t>
            </a:r>
            <a:r>
              <a:rPr lang="ru-RU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мягче, чем южного (зима мягче, а лето несколько прохладнее). Через 10 000 лет сезоны из-за прецессии сдвинутся, и мягче станет климат южного полушария.</a:t>
            </a:r>
          </a:p>
        </p:txBody>
      </p:sp>
      <p:sp>
        <p:nvSpPr>
          <p:cNvPr id="94" name="Rectangle 7"/>
          <p:cNvSpPr/>
          <p:nvPr/>
        </p:nvSpPr>
        <p:spPr>
          <a:xfrm>
            <a:off x="6489360" y="886951"/>
            <a:ext cx="2654640" cy="20406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 астрономии </a:t>
            </a:r>
            <a:r>
              <a:rPr lang="ru-RU" sz="1600" b="1" u="sng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нутацией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называют небольшие колебания земной оси, </a:t>
            </a:r>
            <a:r>
              <a:rPr lang="ru-RU" sz="1600" dirty="0" err="1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накладывающиеся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на прецессионное движение. </a:t>
            </a:r>
            <a:r>
              <a:rPr lang="ru-RU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Период 18,5 лет.</a:t>
            </a:r>
          </a:p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6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Это 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явление открыто в 1728 году </a:t>
            </a:r>
            <a:r>
              <a:rPr lang="ru-RU" sz="1600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Джеймсом </a:t>
            </a:r>
            <a:r>
              <a:rPr lang="ru-RU" sz="1600" dirty="0" err="1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Бредли</a:t>
            </a:r>
            <a:endParaRPr lang="ru-RU" sz="16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850336" y="-190020"/>
            <a:ext cx="5251758" cy="836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</a:t>
            </a:r>
            <a:r>
              <a:rPr lang="ru-RU" altLang="ru-RU" sz="28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Вокруг </a:t>
            </a: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своей оси под наклоном</a:t>
            </a:r>
            <a:endParaRPr lang="ru-RU" altLang="ru-RU" sz="28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08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Box 2"/>
          <p:cNvSpPr/>
          <p:nvPr/>
        </p:nvSpPr>
        <p:spPr>
          <a:xfrm>
            <a:off x="0" y="755186"/>
            <a:ext cx="9018810" cy="4402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ctr" defTabSz="342900">
              <a:spcBef>
                <a:spcPts val="1312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2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ВРАЩЕНИЕ ЗЕМЛИ</a:t>
            </a:r>
            <a:endParaRPr lang="ru-RU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Picture 3"/>
          <p:cNvPicPr/>
          <p:nvPr/>
        </p:nvPicPr>
        <p:blipFill>
          <a:blip r:embed="rId3"/>
          <a:stretch/>
        </p:blipFill>
        <p:spPr>
          <a:xfrm>
            <a:off x="6603274" y="975294"/>
            <a:ext cx="1881604" cy="275651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4"/>
          <p:cNvPicPr/>
          <p:nvPr/>
        </p:nvPicPr>
        <p:blipFill>
          <a:blip r:embed="rId4"/>
          <a:stretch/>
        </p:blipFill>
        <p:spPr>
          <a:xfrm>
            <a:off x="176444" y="685358"/>
            <a:ext cx="5572467" cy="365804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Rectangle 5"/>
          <p:cNvSpPr/>
          <p:nvPr/>
        </p:nvSpPr>
        <p:spPr>
          <a:xfrm>
            <a:off x="1" y="4462094"/>
            <a:ext cx="9143999" cy="2163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700" b="1" u="sng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Циклы </a:t>
            </a:r>
            <a:r>
              <a:rPr lang="ru-RU" sz="1700" b="1" u="sng" dirty="0" err="1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Миланковича</a:t>
            </a:r>
            <a:r>
              <a:rPr lang="ru-RU" sz="1700" b="1" u="sng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описывают периодически возникающие отклонения инсоляции полушарий от средней за большой период времени в пределах от 5 до 10 процентов. Причиной этих отклонений являются три эффекта:</a:t>
            </a:r>
          </a:p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ru-RU" sz="17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ru-RU" sz="1700" dirty="0" smtClean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Прецессия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поворот земной оси с периодом около </a:t>
            </a:r>
            <a:r>
              <a:rPr lang="ru-RU" sz="17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25 750 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лет, в результате которого меняется сезонная амплитуда интенсивности солнечного потока на северном и южном полушариях Земли;</a:t>
            </a:r>
          </a:p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7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2) Изменение 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наклона земной оси, или </a:t>
            </a:r>
            <a:r>
              <a:rPr lang="ru-RU" sz="1700" dirty="0" err="1" smtClean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обликвитет</a:t>
            </a:r>
            <a:r>
              <a:rPr lang="ru-RU" sz="17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меняется 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примерно от 22,1° до 24,5° с периодом около </a:t>
            </a:r>
            <a:r>
              <a:rPr lang="ru-RU" sz="17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41 </a:t>
            </a:r>
            <a:r>
              <a:rPr lang="ru-RU" sz="1700" dirty="0" smtClean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000 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лет</a:t>
            </a:r>
            <a:r>
              <a:rPr lang="ru-RU" sz="17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7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3) Долгопериодические 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колебания </a:t>
            </a:r>
            <a:r>
              <a:rPr lang="ru-RU" sz="17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эксцентриситета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орбиты Земли с периодом около </a:t>
            </a:r>
            <a:r>
              <a:rPr lang="ru-RU" sz="17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93 000 </a:t>
            </a:r>
            <a:r>
              <a:rPr lang="ru-RU" sz="17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лет.</a:t>
            </a:r>
          </a:p>
        </p:txBody>
      </p:sp>
      <p:sp>
        <p:nvSpPr>
          <p:cNvPr id="101" name="Rectangle 6"/>
          <p:cNvSpPr/>
          <p:nvPr/>
        </p:nvSpPr>
        <p:spPr>
          <a:xfrm>
            <a:off x="6249285" y="3757936"/>
            <a:ext cx="2593080" cy="5017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ctr"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Милу́тин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Мила́нкович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28 мая </a:t>
            </a:r>
            <a:r>
              <a:rPr lang="ru-RU" sz="1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1879 ­- 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декабря 1958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64383" y="-80940"/>
            <a:ext cx="7619137" cy="836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28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Вокруг </a:t>
            </a: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своей оси под наклоном (следствия)</a:t>
            </a:r>
            <a:endParaRPr lang="ru-RU" altLang="ru-RU" sz="28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87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4"/>
          <p:cNvPicPr/>
          <p:nvPr/>
        </p:nvPicPr>
        <p:blipFill>
          <a:blip r:embed="rId3"/>
          <a:stretch/>
        </p:blipFill>
        <p:spPr>
          <a:xfrm>
            <a:off x="81397" y="898417"/>
            <a:ext cx="4174740" cy="32405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Box 5"/>
          <p:cNvSpPr/>
          <p:nvPr/>
        </p:nvSpPr>
        <p:spPr>
          <a:xfrm>
            <a:off x="563820" y="4557020"/>
            <a:ext cx="3241224" cy="6248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5100" rIns="67500" bIns="35100" anchor="t">
            <a:spAutoFit/>
          </a:bodyPr>
          <a:lstStyle/>
          <a:p>
            <a:pPr algn="ctr"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Наклон оси к плоскости эклиптики </a:t>
            </a:r>
            <a:r>
              <a:rPr lang="ru-RU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66,5 </a:t>
            </a:r>
            <a:r>
              <a:rPr lang="ru-RU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градусов</a:t>
            </a:r>
          </a:p>
        </p:txBody>
      </p:sp>
      <p:sp>
        <p:nvSpPr>
          <p:cNvPr id="106" name="Text Box 7"/>
          <p:cNvSpPr/>
          <p:nvPr/>
        </p:nvSpPr>
        <p:spPr>
          <a:xfrm>
            <a:off x="3773714" y="755186"/>
            <a:ext cx="5370285" cy="61546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5100" rIns="67500" bIns="35100" anchor="t">
            <a:spAutoFit/>
          </a:bodyPr>
          <a:lstStyle/>
          <a:p>
            <a:pPr defTabSz="342900">
              <a:spcAft>
                <a:spcPts val="451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2000" b="1" dirty="0">
                <a:solidFill>
                  <a:srgbClr val="00999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Следствия вращения вокруг своей </a:t>
            </a:r>
            <a:r>
              <a:rPr lang="ru-RU" sz="2000" b="1" dirty="0" smtClean="0">
                <a:solidFill>
                  <a:srgbClr val="00999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оси под наклоном: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Смена дня и ночи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формирование суточного ритма освещённости и поступления солнечной радиации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Суточный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ход температуры, давления и других метеорологических элементов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опосредованное следствие чередования освещения и охлаждения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Возникновение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силы Кориолиса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отклонение движущихся воздушных и водных масс: вправо в Северном полушарии и влево в Южном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Влияние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 общую циркуляцию атмосферы и океана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пассаты, западный перенос, крупномасштабные океанические течения испытывают действие силы Кориолиса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Возникновение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центробежного эффекта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он максимален на экваторе и отсутствует на полюсах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Полярное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сжатие Земли и экваториальное выпячивание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формирование близкой к эллипсоиду фигуры вращения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Широтные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различия ускорения свободного падения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 экваторе оно несколько меньше, чем у полюсов, вследствие формы Земли и центробежного эффекта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defTabSz="342900">
              <a:spcAft>
                <a:spcPts val="451"/>
              </a:spcAft>
              <a:buFont typeface="Wingdings" panose="05000000000000000000" pitchFamily="2" charset="2"/>
              <a:buChar char="Ø"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Суточная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периодичность наблюдаемых приливов </a:t>
            </a:r>
            <a:r>
              <a:rPr lang="ru-RU" sz="14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само </a:t>
            </a:r>
            <a:r>
              <a:rPr lang="ru-RU" sz="1400" dirty="0" err="1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приливообразование</a:t>
            </a:r>
            <a:r>
              <a:rPr lang="ru-RU" sz="14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вызывается главным образом гравитационным воздействием Луны и Солнца, однако вращение Земли определяет прохождение приливных выпуклостей относительно поверхности.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642243" y="-80940"/>
            <a:ext cx="5663409" cy="836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28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Вокруг </a:t>
            </a: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своей оси под наклоном</a:t>
            </a:r>
            <a:endParaRPr lang="ru-RU" altLang="ru-RU" sz="28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23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/>
          <p:cNvSpPr/>
          <p:nvPr/>
        </p:nvSpPr>
        <p:spPr>
          <a:xfrm>
            <a:off x="664383" y="-80940"/>
            <a:ext cx="7619137" cy="836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28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Вокруг </a:t>
            </a: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своей оси под наклоном (следствия)</a:t>
            </a:r>
            <a:endParaRPr lang="ru-RU" altLang="ru-RU" sz="28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63209" y="6465266"/>
            <a:ext cx="82563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атмосферная циркуляция → океанические течения → траектории крупных воздушных </a:t>
            </a:r>
            <a:r>
              <a:rPr lang="ru-RU" sz="16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вихрей</a:t>
            </a:r>
            <a:endParaRPr lang="ru-RU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6" name="Picture 2" descr="I moti della Terra | G.M.P.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2136158"/>
            <a:ext cx="3787322" cy="4006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534025" y="1051713"/>
            <a:ext cx="3543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42900">
              <a:spcAft>
                <a:spcPts val="451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dirty="0" smtClean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Маятник Фуко</a:t>
            </a:r>
            <a:r>
              <a:rPr lang="ru-RU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индикатор вращения Земли вокруг своей оси</a:t>
            </a:r>
            <a:endParaRPr lang="ru-RU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8" name="Picture 4" descr="Short Definition Equator at Stephanie Bauer blo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7" y="2554199"/>
            <a:ext cx="5544612" cy="358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Прямоугольник 43"/>
          <p:cNvSpPr/>
          <p:nvPr/>
        </p:nvSpPr>
        <p:spPr>
          <a:xfrm>
            <a:off x="664383" y="1008361"/>
            <a:ext cx="3543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42900">
              <a:spcAft>
                <a:spcPts val="451"/>
              </a:spcAft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dirty="0" smtClean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Сила Кориолиса </a:t>
            </a:r>
            <a:r>
              <a:rPr lang="ru-RU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ru-RU" dirty="0" err="1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Кориолисово</a:t>
            </a:r>
            <a:r>
              <a:rPr lang="ru-RU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ускорение) - инерционная (кажущаяся) </a:t>
            </a:r>
            <a:r>
              <a:rPr lang="ru-RU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сила, связанная с разницей линейный скоростей вращения</a:t>
            </a:r>
            <a:endParaRPr lang="ru-RU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66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4"/>
          <p:cNvSpPr/>
          <p:nvPr/>
        </p:nvSpPr>
        <p:spPr>
          <a:xfrm>
            <a:off x="1249020" y="871560"/>
            <a:ext cx="6751890" cy="3478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ctr" defTabSz="342900">
              <a:spcBef>
                <a:spcPts val="451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b="1">
                <a:solidFill>
                  <a:srgbClr val="FFFFFF"/>
                </a:solidFill>
                <a:latin typeface="Arial"/>
              </a:rPr>
              <a:t>4.</a:t>
            </a:r>
            <a:r>
              <a:rPr lang="ru-RU" sz="1350">
                <a:solidFill>
                  <a:srgbClr val="FFFFFF"/>
                </a:solidFill>
                <a:latin typeface="Arial"/>
              </a:rPr>
              <a:t> </a:t>
            </a:r>
            <a:r>
              <a:rPr lang="ru-RU" b="1">
                <a:solidFill>
                  <a:srgbClr val="FFFFFF"/>
                </a:solidFill>
                <a:latin typeface="Arial"/>
              </a:rPr>
              <a:t>Луна - Земля</a:t>
            </a:r>
            <a:endParaRPr lang="ru-RU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Box 6"/>
          <p:cNvSpPr/>
          <p:nvPr/>
        </p:nvSpPr>
        <p:spPr>
          <a:xfrm>
            <a:off x="5330340" y="5481540"/>
            <a:ext cx="2685671" cy="3478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US" b="1">
                <a:solidFill>
                  <a:srgbClr val="FFFFFF"/>
                </a:solidFill>
                <a:latin typeface="Arial"/>
              </a:rPr>
              <a:t>=&gt; </a:t>
            </a:r>
            <a:r>
              <a:rPr lang="ru-RU" b="1">
                <a:solidFill>
                  <a:srgbClr val="FFFFFF"/>
                </a:solidFill>
                <a:latin typeface="Arial"/>
              </a:rPr>
              <a:t>Смена времен года</a:t>
            </a:r>
            <a:endParaRPr lang="ru-RU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Box 7"/>
          <p:cNvSpPr/>
          <p:nvPr/>
        </p:nvSpPr>
        <p:spPr>
          <a:xfrm>
            <a:off x="1142910" y="1376461"/>
            <a:ext cx="2268000" cy="10044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defTabSz="342900">
              <a:spcBef>
                <a:spcPts val="338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US" sz="1350">
                <a:solidFill>
                  <a:srgbClr val="FFFFFF"/>
                </a:solidFill>
                <a:latin typeface="Arial"/>
              </a:rPr>
              <a:t>S </a:t>
            </a:r>
            <a:r>
              <a:rPr lang="ru-RU" sz="1350">
                <a:solidFill>
                  <a:srgbClr val="FFFFFF"/>
                </a:solidFill>
                <a:latin typeface="Arial"/>
              </a:rPr>
              <a:t>до Солнца=</a:t>
            </a:r>
            <a:r>
              <a:rPr lang="ru-RU" sz="1350" b="1">
                <a:solidFill>
                  <a:srgbClr val="FFFFFF"/>
                </a:solidFill>
                <a:latin typeface="Arial"/>
              </a:rPr>
              <a:t>149 млн км</a:t>
            </a:r>
            <a:r>
              <a:rPr sz="1350"/>
              <a:t/>
            </a:r>
            <a:br>
              <a:rPr sz="1350"/>
            </a:br>
            <a:r>
              <a:rPr lang="en-US" sz="1350">
                <a:solidFill>
                  <a:srgbClr val="FFFFFF"/>
                </a:solidFill>
                <a:latin typeface="Arial"/>
              </a:rPr>
              <a:t>V </a:t>
            </a:r>
            <a:r>
              <a:rPr lang="ru-RU" sz="1350">
                <a:solidFill>
                  <a:srgbClr val="FFFFFF"/>
                </a:solidFill>
                <a:latin typeface="Arial"/>
              </a:rPr>
              <a:t>Земли=</a:t>
            </a:r>
            <a:r>
              <a:rPr lang="ru-RU" sz="1350" b="1">
                <a:solidFill>
                  <a:srgbClr val="FFFFFF"/>
                </a:solidFill>
                <a:latin typeface="Arial"/>
              </a:rPr>
              <a:t>30 км</a:t>
            </a:r>
            <a:r>
              <a:rPr lang="en-US" sz="1350" b="1">
                <a:solidFill>
                  <a:srgbClr val="FFFFFF"/>
                </a:solidFill>
                <a:latin typeface="Arial"/>
              </a:rPr>
              <a:t>/c</a:t>
            </a:r>
            <a:r>
              <a:rPr sz="1350"/>
              <a:t/>
            </a:r>
            <a:br>
              <a:rPr sz="1350"/>
            </a:br>
            <a:r>
              <a:rPr lang="ru-RU" sz="1350">
                <a:solidFill>
                  <a:srgbClr val="FFFFFF"/>
                </a:solidFill>
                <a:latin typeface="Arial"/>
              </a:rPr>
              <a:t>Наклон оси=</a:t>
            </a:r>
            <a:r>
              <a:rPr lang="ru-RU" sz="1350" b="1">
                <a:solidFill>
                  <a:srgbClr val="FFFFFF"/>
                </a:solidFill>
                <a:latin typeface="Arial"/>
              </a:rPr>
              <a:t>66,5º</a:t>
            </a:r>
            <a:endParaRPr lang="ru-RU" sz="1350">
              <a:solidFill>
                <a:srgbClr val="000000"/>
              </a:solidFill>
              <a:latin typeface="Arial"/>
            </a:endParaRPr>
          </a:p>
          <a:p>
            <a:pPr defTabSz="342900">
              <a:spcBef>
                <a:spcPts val="844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endParaRPr lang="ru-RU" sz="135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Picture 2"/>
          <p:cNvPicPr/>
          <p:nvPr/>
        </p:nvPicPr>
        <p:blipFill>
          <a:blip r:embed="rId3"/>
          <a:stretch/>
        </p:blipFill>
        <p:spPr>
          <a:xfrm>
            <a:off x="464457" y="871560"/>
            <a:ext cx="8069943" cy="55036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Прямоугольник 6"/>
          <p:cNvSpPr/>
          <p:nvPr/>
        </p:nvSpPr>
        <p:spPr>
          <a:xfrm>
            <a:off x="1286925" y="-80940"/>
            <a:ext cx="6374053" cy="734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altLang="ru-RU" sz="28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Вокруг общего с Луной центра масс</a:t>
            </a:r>
          </a:p>
        </p:txBody>
      </p:sp>
    </p:spTree>
    <p:extLst>
      <p:ext uri="{BB962C8B-B14F-4D97-AF65-F5344CB8AC3E}">
        <p14:creationId xmlns:p14="http://schemas.microsoft.com/office/powerpoint/2010/main" val="281062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/>
          <p:cNvPicPr/>
          <p:nvPr/>
        </p:nvPicPr>
        <p:blipFill>
          <a:blip r:embed="rId3"/>
          <a:stretch/>
        </p:blipFill>
        <p:spPr>
          <a:xfrm>
            <a:off x="4982441" y="1757284"/>
            <a:ext cx="3713310" cy="19618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Box 3"/>
          <p:cNvSpPr/>
          <p:nvPr/>
        </p:nvSpPr>
        <p:spPr>
          <a:xfrm>
            <a:off x="1142910" y="865890"/>
            <a:ext cx="6857730" cy="378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ctr" defTabSz="342900">
              <a:spcBef>
                <a:spcPts val="112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2000" b="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Вокруг общего с Луной центра масс</a:t>
            </a:r>
            <a:endParaRPr lang="ru-RU" sz="200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91" name="Picture 5"/>
          <p:cNvPicPr/>
          <p:nvPr/>
        </p:nvPicPr>
        <p:blipFill>
          <a:blip r:embed="rId4"/>
          <a:stretch/>
        </p:blipFill>
        <p:spPr>
          <a:xfrm>
            <a:off x="438611" y="1553164"/>
            <a:ext cx="3981150" cy="226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Box 6"/>
          <p:cNvSpPr/>
          <p:nvPr/>
        </p:nvSpPr>
        <p:spPr>
          <a:xfrm>
            <a:off x="5353151" y="5177914"/>
            <a:ext cx="2250680" cy="378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2000" b="1">
                <a:solidFill>
                  <a:srgbClr val="00999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sz="2000" b="1">
                <a:solidFill>
                  <a:srgbClr val="00999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 </a:t>
            </a:r>
            <a:r>
              <a:rPr lang="ru-RU" sz="2000" b="1">
                <a:solidFill>
                  <a:srgbClr val="00999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Приливы-отливы</a:t>
            </a:r>
            <a:endParaRPr lang="ru-RU" sz="200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3" name="Rectangle 7"/>
          <p:cNvSpPr/>
          <p:nvPr/>
        </p:nvSpPr>
        <p:spPr>
          <a:xfrm>
            <a:off x="5116361" y="3877324"/>
            <a:ext cx="3579120" cy="13019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60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Хотя для земного шара сила тяготения Солнца почти в 200 раз больше, чем сила тяготения Луны, прили́вные силы, порождаемые Луной, почти вдвое сильнее порождаемых Солнцем</a:t>
            </a:r>
          </a:p>
        </p:txBody>
      </p:sp>
      <p:sp>
        <p:nvSpPr>
          <p:cNvPr id="194" name="Rectangle 8"/>
          <p:cNvSpPr/>
          <p:nvPr/>
        </p:nvSpPr>
        <p:spPr>
          <a:xfrm>
            <a:off x="456701" y="4022044"/>
            <a:ext cx="3944700" cy="17944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600" i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Квадратурный прилив </a:t>
            </a:r>
            <a:r>
              <a:rPr lang="ru-RU" sz="16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наименьший прилив, когда Луна и Солнце действуют под прямым углом друг к другу </a:t>
            </a:r>
          </a:p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600" i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Сизигийный прилив </a:t>
            </a:r>
            <a:r>
              <a:rPr lang="ru-RU" sz="1600" dirty="0" smtClean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­- </a:t>
            </a:r>
            <a:r>
              <a:rPr lang="ru-RU" sz="160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наибольший прилив, когда приливообразующие силы Луны и Солнца действуют вдоль одного направления.</a:t>
            </a:r>
          </a:p>
        </p:txBody>
      </p:sp>
      <p:sp>
        <p:nvSpPr>
          <p:cNvPr id="195" name="Text Box 9"/>
          <p:cNvSpPr/>
          <p:nvPr/>
        </p:nvSpPr>
        <p:spPr>
          <a:xfrm>
            <a:off x="5353151" y="1213774"/>
            <a:ext cx="3294000" cy="7172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b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Период 1 вращения 27 суток 8 ч</a:t>
            </a:r>
            <a:endParaRPr lang="ru-RU" sz="140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1400" b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Лунный месяц 29 суток 6-19 ч</a:t>
            </a:r>
            <a:endParaRPr lang="ru-RU" sz="140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defTabSz="34290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endParaRPr lang="ru-RU" sz="140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155575" y="-80940"/>
            <a:ext cx="6636753" cy="758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32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4. </a:t>
            </a:r>
            <a:r>
              <a:rPr lang="ru-RU" altLang="ru-RU" sz="32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Вокруг общего с Луной центра масс</a:t>
            </a:r>
          </a:p>
        </p:txBody>
      </p:sp>
    </p:spTree>
    <p:extLst>
      <p:ext uri="{BB962C8B-B14F-4D97-AF65-F5344CB8AC3E}">
        <p14:creationId xmlns:p14="http://schemas.microsoft.com/office/powerpoint/2010/main" val="319328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Group 1"/>
          <p:cNvGraphicFramePr/>
          <p:nvPr>
            <p:extLst>
              <p:ext uri="{D42A27DB-BD31-4B8C-83A1-F6EECF244321}">
                <p14:modId xmlns:p14="http://schemas.microsoft.com/office/powerpoint/2010/main" val="3052851048"/>
              </p:ext>
            </p:extLst>
          </p:nvPr>
        </p:nvGraphicFramePr>
        <p:xfrm>
          <a:off x="137887" y="625054"/>
          <a:ext cx="8889998" cy="6189283"/>
        </p:xfrm>
        <a:graphic>
          <a:graphicData uri="http://schemas.openxmlformats.org/drawingml/2006/table">
            <a:tbl>
              <a:tblPr/>
              <a:tblGrid>
                <a:gridCol w="337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379"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1" i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Тип движения</a:t>
                      </a: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 anchor="ctr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1" i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Период</a:t>
                      </a: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 anchor="ctr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1" i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Географические следствия</a:t>
                      </a: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 anchor="ctr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3">
                <a:tc>
                  <a:txBody>
                    <a:bodyPr/>
                    <a:lstStyle/>
                    <a:p>
                      <a:pPr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0" u="none" strike="noStrike" dirty="0">
                          <a:solidFill>
                            <a:srgbClr val="333399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1. Вокруг центра Галактики вместе с Солнечной системой</a:t>
                      </a: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1" u="none" strike="noStrike" dirty="0">
                          <a:solidFill>
                            <a:srgbClr val="FF33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280 млн лет</a:t>
                      </a:r>
                      <a: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(галактический год)</a:t>
                      </a:r>
                    </a:p>
                  </a:txBody>
                  <a:tcPr marL="67500" marR="67500" marT="34290" marB="34290" anchor="ctr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9249">
                <a:tc>
                  <a:txBody>
                    <a:bodyPr/>
                    <a:lstStyle/>
                    <a:p>
                      <a:pPr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0" u="none" strike="noStrike" dirty="0">
                          <a:solidFill>
                            <a:srgbClr val="333399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2. Вокруг Солнца по орбите</a:t>
                      </a: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 </a:t>
                      </a: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до Солнца=</a:t>
                      </a:r>
                      <a:r>
                        <a:rPr lang="ru-RU" sz="2400" b="1" u="none" strike="noStrike" dirty="0">
                          <a:solidFill>
                            <a:srgbClr val="008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149 млн км</a:t>
                      </a:r>
                      <a: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V </a:t>
                      </a: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Земли=</a:t>
                      </a:r>
                      <a:r>
                        <a:rPr lang="ru-RU" sz="2400" b="1" u="none" strike="noStrike" dirty="0">
                          <a:solidFill>
                            <a:srgbClr val="008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30 км</a:t>
                      </a:r>
                      <a:r>
                        <a:rPr lang="en-US" sz="2400" b="1" u="none" strike="noStrike" dirty="0">
                          <a:solidFill>
                            <a:srgbClr val="008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/c</a:t>
                      </a:r>
                      <a: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Наклон оси=</a:t>
                      </a:r>
                      <a:r>
                        <a:rPr lang="ru-RU" sz="2400" b="1" u="none" strike="noStrike" dirty="0">
                          <a:solidFill>
                            <a:srgbClr val="008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66,5º</a:t>
                      </a: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1" u="none" strike="noStrike" dirty="0">
                          <a:solidFill>
                            <a:srgbClr val="FF33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365,26 суток</a:t>
                      </a: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(звездный год)</a:t>
                      </a:r>
                    </a:p>
                  </a:txBody>
                  <a:tcPr marL="67500" marR="67500" marT="34290" marB="34290" anchor="ctr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2970">
                <a:tc>
                  <a:txBody>
                    <a:bodyPr/>
                    <a:lstStyle/>
                    <a:p>
                      <a:pPr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0" u="none" strike="noStrike">
                          <a:solidFill>
                            <a:srgbClr val="333399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3. Вокруг своей оси</a:t>
                      </a:r>
                      <a:r>
                        <a:rPr lang="ru-RU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sz="24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2400" b="1" u="none" strike="noStrike">
                          <a:solidFill>
                            <a:srgbClr val="FF33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с З на В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Центробежное ускорение </a:t>
                      </a: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1" u="none" strike="noStrike" dirty="0">
                          <a:solidFill>
                            <a:srgbClr val="FF33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23 ч 56 мин 4 сек</a:t>
                      </a:r>
                      <a: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(звездные сутки)</a:t>
                      </a:r>
                    </a:p>
                  </a:txBody>
                  <a:tcPr marL="67500" marR="67500" marT="34290" marB="34290" anchor="ctr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003">
                <a:tc>
                  <a:txBody>
                    <a:bodyPr/>
                    <a:lstStyle/>
                    <a:p>
                      <a:pPr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0" u="none" strike="noStrike" dirty="0">
                          <a:solidFill>
                            <a:srgbClr val="333399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4.</a:t>
                      </a: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ru-RU" sz="2400" b="0" u="none" strike="noStrike" dirty="0">
                          <a:solidFill>
                            <a:srgbClr val="333399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Вокруг общего с Луной центра масс</a:t>
                      </a:r>
                      <a: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/>
                      </a:r>
                      <a:br>
                        <a:rPr sz="24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ru-RU" sz="2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«двойная планета»</a:t>
                      </a: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r>
                        <a:rPr lang="ru-RU" sz="2400" b="1" u="none" strike="noStrike" dirty="0">
                          <a:solidFill>
                            <a:srgbClr val="FF3300"/>
                          </a:solidFill>
                          <a:effectLst/>
                          <a:uFillTx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27 суток 8 ч</a:t>
                      </a: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 anchor="ctr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49280">
                        <a:lnSpc>
                          <a:spcPct val="93000"/>
                        </a:lnSpc>
                        <a:spcBef>
                          <a:spcPts val="451"/>
                        </a:spcBef>
                        <a:tabLst>
                          <a:tab pos="0" algn="l"/>
                        </a:tabLst>
                      </a:pPr>
                      <a:endParaRPr lang="ru-RU" sz="2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7500" marR="67500" marT="34290" marB="34290">
                    <a:lnL w="11520">
                      <a:solidFill>
                        <a:srgbClr val="000000"/>
                      </a:solidFill>
                      <a:prstDash val="solid"/>
                    </a:lnL>
                    <a:lnR w="11520">
                      <a:solidFill>
                        <a:srgbClr val="000000"/>
                      </a:solidFill>
                      <a:prstDash val="solid"/>
                    </a:lnR>
                    <a:lnT w="11520">
                      <a:solidFill>
                        <a:srgbClr val="000000"/>
                      </a:solidFill>
                      <a:prstDash val="solid"/>
                    </a:lnT>
                    <a:lnB w="115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610665" y="-109250"/>
            <a:ext cx="1755610" cy="734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8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</a:t>
            </a:r>
            <a:endParaRPr lang="ru-RU" altLang="ru-RU" sz="28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3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25960" y="549079"/>
            <a:ext cx="7274084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Международная служба скорости вращения Земли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www.iers.org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Ежедневные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1962, многолетние – с 1650 г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hangingPunct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средние солнечные сутки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с.</a:t>
            </a:r>
          </a:p>
          <a:p>
            <a:pPr eaLnBrk="0" hangingPunct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LOD (length of day) –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актуальные сутки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&lt;&gt; 86 400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с.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50" y="2165711"/>
            <a:ext cx="8506691" cy="4528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 rot="16200000">
            <a:off x="-492220" y="3872974"/>
            <a:ext cx="143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86 400 – LOD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903197" y="48539"/>
            <a:ext cx="8019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КОЛЕБАНИЯ ПАРАМЕТРОВ ДВИЖЕНИЯ ЗЕМЛИ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67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www.landscape.edu.ru/images/edu/hd_crust_eq_c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91" y="614148"/>
            <a:ext cx="8661618" cy="41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0" y="4799984"/>
            <a:ext cx="1218455" cy="183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027" y="4799863"/>
            <a:ext cx="1138222" cy="183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6480" y="6590240"/>
            <a:ext cx="2561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 smtClean="0"/>
              <a:t>число землетрясений 1973-2011 </a:t>
            </a:r>
            <a:r>
              <a:rPr lang="ru-RU" sz="1200" b="1" dirty="0" err="1" smtClean="0"/>
              <a:t>гг</a:t>
            </a:r>
            <a:endParaRPr lang="ru-RU" sz="1200" b="1" dirty="0"/>
          </a:p>
        </p:txBody>
      </p:sp>
      <p:sp>
        <p:nvSpPr>
          <p:cNvPr id="16" name="Freeform 16"/>
          <p:cNvSpPr>
            <a:spLocks noEditPoints="1"/>
          </p:cNvSpPr>
          <p:nvPr/>
        </p:nvSpPr>
        <p:spPr bwMode="auto">
          <a:xfrm rot="21274985" flipH="1">
            <a:off x="8461529" y="5578700"/>
            <a:ext cx="693738" cy="1239838"/>
          </a:xfrm>
          <a:custGeom>
            <a:avLst/>
            <a:gdLst>
              <a:gd name="T0" fmla="*/ 727 w 1160"/>
              <a:gd name="T1" fmla="*/ 844 h 2306"/>
              <a:gd name="T2" fmla="*/ 811 w 1160"/>
              <a:gd name="T3" fmla="*/ 775 h 2306"/>
              <a:gd name="T4" fmla="*/ 942 w 1160"/>
              <a:gd name="T5" fmla="*/ 856 h 2306"/>
              <a:gd name="T6" fmla="*/ 892 w 1160"/>
              <a:gd name="T7" fmla="*/ 1028 h 2306"/>
              <a:gd name="T8" fmla="*/ 759 w 1160"/>
              <a:gd name="T9" fmla="*/ 1094 h 2306"/>
              <a:gd name="T10" fmla="*/ 145 w 1160"/>
              <a:gd name="T11" fmla="*/ 660 h 2306"/>
              <a:gd name="T12" fmla="*/ 412 w 1160"/>
              <a:gd name="T13" fmla="*/ 788 h 2306"/>
              <a:gd name="T14" fmla="*/ 504 w 1160"/>
              <a:gd name="T15" fmla="*/ 798 h 2306"/>
              <a:gd name="T16" fmla="*/ 508 w 1160"/>
              <a:gd name="T17" fmla="*/ 1212 h 2306"/>
              <a:gd name="T18" fmla="*/ 548 w 1160"/>
              <a:gd name="T19" fmla="*/ 1385 h 2306"/>
              <a:gd name="T20" fmla="*/ 443 w 1160"/>
              <a:gd name="T21" fmla="*/ 1802 h 2306"/>
              <a:gd name="T22" fmla="*/ 466 w 1160"/>
              <a:gd name="T23" fmla="*/ 2015 h 2306"/>
              <a:gd name="T24" fmla="*/ 431 w 1160"/>
              <a:gd name="T25" fmla="*/ 2222 h 2306"/>
              <a:gd name="T26" fmla="*/ 333 w 1160"/>
              <a:gd name="T27" fmla="*/ 2272 h 2306"/>
              <a:gd name="T28" fmla="*/ 579 w 1160"/>
              <a:gd name="T29" fmla="*/ 2247 h 2306"/>
              <a:gd name="T30" fmla="*/ 642 w 1160"/>
              <a:gd name="T31" fmla="*/ 2174 h 2306"/>
              <a:gd name="T32" fmla="*/ 545 w 1160"/>
              <a:gd name="T33" fmla="*/ 2049 h 2306"/>
              <a:gd name="T34" fmla="*/ 485 w 1160"/>
              <a:gd name="T35" fmla="*/ 1900 h 2306"/>
              <a:gd name="T36" fmla="*/ 552 w 1160"/>
              <a:gd name="T37" fmla="*/ 1704 h 2306"/>
              <a:gd name="T38" fmla="*/ 629 w 1160"/>
              <a:gd name="T39" fmla="*/ 1470 h 2306"/>
              <a:gd name="T40" fmla="*/ 713 w 1160"/>
              <a:gd name="T41" fmla="*/ 1477 h 2306"/>
              <a:gd name="T42" fmla="*/ 924 w 1160"/>
              <a:gd name="T43" fmla="*/ 1746 h 2306"/>
              <a:gd name="T44" fmla="*/ 951 w 1160"/>
              <a:gd name="T45" fmla="*/ 1919 h 2306"/>
              <a:gd name="T46" fmla="*/ 880 w 1160"/>
              <a:gd name="T47" fmla="*/ 2191 h 2306"/>
              <a:gd name="T48" fmla="*/ 1139 w 1160"/>
              <a:gd name="T49" fmla="*/ 2280 h 2306"/>
              <a:gd name="T50" fmla="*/ 990 w 1160"/>
              <a:gd name="T51" fmla="*/ 2207 h 2306"/>
              <a:gd name="T52" fmla="*/ 965 w 1160"/>
              <a:gd name="T53" fmla="*/ 2091 h 2306"/>
              <a:gd name="T54" fmla="*/ 1009 w 1160"/>
              <a:gd name="T55" fmla="*/ 1852 h 2306"/>
              <a:gd name="T56" fmla="*/ 917 w 1160"/>
              <a:gd name="T57" fmla="*/ 1604 h 2306"/>
              <a:gd name="T58" fmla="*/ 754 w 1160"/>
              <a:gd name="T59" fmla="*/ 1379 h 2306"/>
              <a:gd name="T60" fmla="*/ 898 w 1160"/>
              <a:gd name="T61" fmla="*/ 1278 h 2306"/>
              <a:gd name="T62" fmla="*/ 790 w 1160"/>
              <a:gd name="T63" fmla="*/ 1168 h 2306"/>
              <a:gd name="T64" fmla="*/ 769 w 1160"/>
              <a:gd name="T65" fmla="*/ 1122 h 2306"/>
              <a:gd name="T66" fmla="*/ 951 w 1160"/>
              <a:gd name="T67" fmla="*/ 1034 h 2306"/>
              <a:gd name="T68" fmla="*/ 1001 w 1160"/>
              <a:gd name="T69" fmla="*/ 840 h 2306"/>
              <a:gd name="T70" fmla="*/ 821 w 1160"/>
              <a:gd name="T71" fmla="*/ 721 h 2306"/>
              <a:gd name="T72" fmla="*/ 652 w 1160"/>
              <a:gd name="T73" fmla="*/ 692 h 2306"/>
              <a:gd name="T74" fmla="*/ 587 w 1160"/>
              <a:gd name="T75" fmla="*/ 669 h 2306"/>
              <a:gd name="T76" fmla="*/ 518 w 1160"/>
              <a:gd name="T77" fmla="*/ 700 h 2306"/>
              <a:gd name="T78" fmla="*/ 429 w 1160"/>
              <a:gd name="T79" fmla="*/ 687 h 2306"/>
              <a:gd name="T80" fmla="*/ 249 w 1160"/>
              <a:gd name="T81" fmla="*/ 635 h 2306"/>
              <a:gd name="T82" fmla="*/ 86 w 1160"/>
              <a:gd name="T83" fmla="*/ 525 h 2306"/>
              <a:gd name="T84" fmla="*/ 109 w 1160"/>
              <a:gd name="T85" fmla="*/ 372 h 2306"/>
              <a:gd name="T86" fmla="*/ 257 w 1160"/>
              <a:gd name="T87" fmla="*/ 136 h 2306"/>
              <a:gd name="T88" fmla="*/ 360 w 1160"/>
              <a:gd name="T89" fmla="*/ 84 h 2306"/>
              <a:gd name="T90" fmla="*/ 426 w 1160"/>
              <a:gd name="T91" fmla="*/ 49 h 2306"/>
              <a:gd name="T92" fmla="*/ 489 w 1160"/>
              <a:gd name="T93" fmla="*/ 96 h 2306"/>
              <a:gd name="T94" fmla="*/ 420 w 1160"/>
              <a:gd name="T95" fmla="*/ 2 h 2306"/>
              <a:gd name="T96" fmla="*/ 270 w 1160"/>
              <a:gd name="T97" fmla="*/ 46 h 2306"/>
              <a:gd name="T98" fmla="*/ 63 w 1160"/>
              <a:gd name="T99" fmla="*/ 366 h 2306"/>
              <a:gd name="T100" fmla="*/ 640 w 1160"/>
              <a:gd name="T101" fmla="*/ 619 h 2306"/>
              <a:gd name="T102" fmla="*/ 706 w 1160"/>
              <a:gd name="T103" fmla="*/ 483 h 2306"/>
              <a:gd name="T104" fmla="*/ 677 w 1160"/>
              <a:gd name="T105" fmla="*/ 328 h 2306"/>
              <a:gd name="T106" fmla="*/ 575 w 1160"/>
              <a:gd name="T107" fmla="*/ 184 h 2306"/>
              <a:gd name="T108" fmla="*/ 445 w 1160"/>
              <a:gd name="T109" fmla="*/ 132 h 2306"/>
              <a:gd name="T110" fmla="*/ 395 w 1160"/>
              <a:gd name="T111" fmla="*/ 220 h 2306"/>
              <a:gd name="T112" fmla="*/ 445 w 1160"/>
              <a:gd name="T113" fmla="*/ 502 h 2306"/>
              <a:gd name="T114" fmla="*/ 531 w 1160"/>
              <a:gd name="T115" fmla="*/ 631 h 2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60" h="2306">
                <a:moveTo>
                  <a:pt x="759" y="1094"/>
                </a:moveTo>
                <a:lnTo>
                  <a:pt x="759" y="1046"/>
                </a:lnTo>
                <a:lnTo>
                  <a:pt x="756" y="999"/>
                </a:lnTo>
                <a:lnTo>
                  <a:pt x="750" y="955"/>
                </a:lnTo>
                <a:lnTo>
                  <a:pt x="742" y="913"/>
                </a:lnTo>
                <a:lnTo>
                  <a:pt x="736" y="886"/>
                </a:lnTo>
                <a:lnTo>
                  <a:pt x="733" y="865"/>
                </a:lnTo>
                <a:lnTo>
                  <a:pt x="727" y="844"/>
                </a:lnTo>
                <a:lnTo>
                  <a:pt x="721" y="829"/>
                </a:lnTo>
                <a:lnTo>
                  <a:pt x="710" y="796"/>
                </a:lnTo>
                <a:lnTo>
                  <a:pt x="700" y="763"/>
                </a:lnTo>
                <a:lnTo>
                  <a:pt x="723" y="763"/>
                </a:lnTo>
                <a:lnTo>
                  <a:pt x="748" y="765"/>
                </a:lnTo>
                <a:lnTo>
                  <a:pt x="769" y="767"/>
                </a:lnTo>
                <a:lnTo>
                  <a:pt x="790" y="771"/>
                </a:lnTo>
                <a:lnTo>
                  <a:pt x="811" y="775"/>
                </a:lnTo>
                <a:lnTo>
                  <a:pt x="830" y="783"/>
                </a:lnTo>
                <a:lnTo>
                  <a:pt x="850" y="790"/>
                </a:lnTo>
                <a:lnTo>
                  <a:pt x="867" y="798"/>
                </a:lnTo>
                <a:lnTo>
                  <a:pt x="884" y="808"/>
                </a:lnTo>
                <a:lnTo>
                  <a:pt x="899" y="819"/>
                </a:lnTo>
                <a:lnTo>
                  <a:pt x="915" y="831"/>
                </a:lnTo>
                <a:lnTo>
                  <a:pt x="928" y="842"/>
                </a:lnTo>
                <a:lnTo>
                  <a:pt x="942" y="856"/>
                </a:lnTo>
                <a:lnTo>
                  <a:pt x="953" y="869"/>
                </a:lnTo>
                <a:lnTo>
                  <a:pt x="963" y="882"/>
                </a:lnTo>
                <a:lnTo>
                  <a:pt x="972" y="898"/>
                </a:lnTo>
                <a:lnTo>
                  <a:pt x="982" y="913"/>
                </a:lnTo>
                <a:lnTo>
                  <a:pt x="961" y="944"/>
                </a:lnTo>
                <a:lnTo>
                  <a:pt x="940" y="973"/>
                </a:lnTo>
                <a:lnTo>
                  <a:pt x="915" y="999"/>
                </a:lnTo>
                <a:lnTo>
                  <a:pt x="892" y="1028"/>
                </a:lnTo>
                <a:lnTo>
                  <a:pt x="882" y="1038"/>
                </a:lnTo>
                <a:lnTo>
                  <a:pt x="869" y="1049"/>
                </a:lnTo>
                <a:lnTo>
                  <a:pt x="851" y="1059"/>
                </a:lnTo>
                <a:lnTo>
                  <a:pt x="832" y="1069"/>
                </a:lnTo>
                <a:lnTo>
                  <a:pt x="813" y="1078"/>
                </a:lnTo>
                <a:lnTo>
                  <a:pt x="794" y="1084"/>
                </a:lnTo>
                <a:lnTo>
                  <a:pt x="775" y="1090"/>
                </a:lnTo>
                <a:lnTo>
                  <a:pt x="759" y="1094"/>
                </a:lnTo>
                <a:close/>
                <a:moveTo>
                  <a:pt x="0" y="489"/>
                </a:moveTo>
                <a:lnTo>
                  <a:pt x="0" y="525"/>
                </a:lnTo>
                <a:lnTo>
                  <a:pt x="5" y="560"/>
                </a:lnTo>
                <a:lnTo>
                  <a:pt x="32" y="579"/>
                </a:lnTo>
                <a:lnTo>
                  <a:pt x="59" y="600"/>
                </a:lnTo>
                <a:lnTo>
                  <a:pt x="86" y="621"/>
                </a:lnTo>
                <a:lnTo>
                  <a:pt x="113" y="644"/>
                </a:lnTo>
                <a:lnTo>
                  <a:pt x="145" y="660"/>
                </a:lnTo>
                <a:lnTo>
                  <a:pt x="178" y="675"/>
                </a:lnTo>
                <a:lnTo>
                  <a:pt x="213" y="689"/>
                </a:lnTo>
                <a:lnTo>
                  <a:pt x="245" y="704"/>
                </a:lnTo>
                <a:lnTo>
                  <a:pt x="278" y="717"/>
                </a:lnTo>
                <a:lnTo>
                  <a:pt x="310" y="733"/>
                </a:lnTo>
                <a:lnTo>
                  <a:pt x="343" y="748"/>
                </a:lnTo>
                <a:lnTo>
                  <a:pt x="376" y="763"/>
                </a:lnTo>
                <a:lnTo>
                  <a:pt x="412" y="788"/>
                </a:lnTo>
                <a:lnTo>
                  <a:pt x="439" y="802"/>
                </a:lnTo>
                <a:lnTo>
                  <a:pt x="447" y="804"/>
                </a:lnTo>
                <a:lnTo>
                  <a:pt x="452" y="804"/>
                </a:lnTo>
                <a:lnTo>
                  <a:pt x="460" y="804"/>
                </a:lnTo>
                <a:lnTo>
                  <a:pt x="468" y="802"/>
                </a:lnTo>
                <a:lnTo>
                  <a:pt x="485" y="794"/>
                </a:lnTo>
                <a:lnTo>
                  <a:pt x="508" y="783"/>
                </a:lnTo>
                <a:lnTo>
                  <a:pt x="504" y="798"/>
                </a:lnTo>
                <a:lnTo>
                  <a:pt x="500" y="813"/>
                </a:lnTo>
                <a:lnTo>
                  <a:pt x="497" y="829"/>
                </a:lnTo>
                <a:lnTo>
                  <a:pt x="497" y="848"/>
                </a:lnTo>
                <a:lnTo>
                  <a:pt x="497" y="950"/>
                </a:lnTo>
                <a:lnTo>
                  <a:pt x="497" y="1015"/>
                </a:lnTo>
                <a:lnTo>
                  <a:pt x="498" y="1084"/>
                </a:lnTo>
                <a:lnTo>
                  <a:pt x="500" y="1151"/>
                </a:lnTo>
                <a:lnTo>
                  <a:pt x="508" y="1212"/>
                </a:lnTo>
                <a:lnTo>
                  <a:pt x="512" y="1243"/>
                </a:lnTo>
                <a:lnTo>
                  <a:pt x="518" y="1270"/>
                </a:lnTo>
                <a:lnTo>
                  <a:pt x="523" y="1297"/>
                </a:lnTo>
                <a:lnTo>
                  <a:pt x="533" y="1326"/>
                </a:lnTo>
                <a:lnTo>
                  <a:pt x="539" y="1349"/>
                </a:lnTo>
                <a:lnTo>
                  <a:pt x="545" y="1366"/>
                </a:lnTo>
                <a:lnTo>
                  <a:pt x="546" y="1376"/>
                </a:lnTo>
                <a:lnTo>
                  <a:pt x="548" y="1385"/>
                </a:lnTo>
                <a:lnTo>
                  <a:pt x="543" y="1402"/>
                </a:lnTo>
                <a:lnTo>
                  <a:pt x="533" y="1433"/>
                </a:lnTo>
                <a:lnTo>
                  <a:pt x="523" y="1464"/>
                </a:lnTo>
                <a:lnTo>
                  <a:pt x="508" y="1516"/>
                </a:lnTo>
                <a:lnTo>
                  <a:pt x="493" y="1583"/>
                </a:lnTo>
                <a:lnTo>
                  <a:pt x="474" y="1658"/>
                </a:lnTo>
                <a:lnTo>
                  <a:pt x="458" y="1733"/>
                </a:lnTo>
                <a:lnTo>
                  <a:pt x="443" y="1802"/>
                </a:lnTo>
                <a:lnTo>
                  <a:pt x="433" y="1855"/>
                </a:lnTo>
                <a:lnTo>
                  <a:pt x="429" y="1888"/>
                </a:lnTo>
                <a:lnTo>
                  <a:pt x="429" y="1907"/>
                </a:lnTo>
                <a:lnTo>
                  <a:pt x="431" y="1924"/>
                </a:lnTo>
                <a:lnTo>
                  <a:pt x="435" y="1942"/>
                </a:lnTo>
                <a:lnTo>
                  <a:pt x="441" y="1959"/>
                </a:lnTo>
                <a:lnTo>
                  <a:pt x="449" y="1978"/>
                </a:lnTo>
                <a:lnTo>
                  <a:pt x="466" y="2015"/>
                </a:lnTo>
                <a:lnTo>
                  <a:pt x="489" y="2051"/>
                </a:lnTo>
                <a:lnTo>
                  <a:pt x="539" y="2124"/>
                </a:lnTo>
                <a:lnTo>
                  <a:pt x="581" y="2187"/>
                </a:lnTo>
                <a:lnTo>
                  <a:pt x="568" y="2212"/>
                </a:lnTo>
                <a:lnTo>
                  <a:pt x="533" y="2212"/>
                </a:lnTo>
                <a:lnTo>
                  <a:pt x="498" y="2214"/>
                </a:lnTo>
                <a:lnTo>
                  <a:pt x="464" y="2216"/>
                </a:lnTo>
                <a:lnTo>
                  <a:pt x="431" y="2222"/>
                </a:lnTo>
                <a:lnTo>
                  <a:pt x="416" y="2224"/>
                </a:lnTo>
                <a:lnTo>
                  <a:pt x="401" y="2230"/>
                </a:lnTo>
                <a:lnTo>
                  <a:pt x="387" y="2233"/>
                </a:lnTo>
                <a:lnTo>
                  <a:pt x="374" y="2239"/>
                </a:lnTo>
                <a:lnTo>
                  <a:pt x="362" y="2247"/>
                </a:lnTo>
                <a:lnTo>
                  <a:pt x="351" y="2253"/>
                </a:lnTo>
                <a:lnTo>
                  <a:pt x="341" y="2262"/>
                </a:lnTo>
                <a:lnTo>
                  <a:pt x="333" y="2272"/>
                </a:lnTo>
                <a:lnTo>
                  <a:pt x="364" y="2295"/>
                </a:lnTo>
                <a:lnTo>
                  <a:pt x="418" y="2306"/>
                </a:lnTo>
                <a:lnTo>
                  <a:pt x="443" y="2306"/>
                </a:lnTo>
                <a:lnTo>
                  <a:pt x="462" y="2295"/>
                </a:lnTo>
                <a:lnTo>
                  <a:pt x="485" y="2281"/>
                </a:lnTo>
                <a:lnTo>
                  <a:pt x="514" y="2268"/>
                </a:lnTo>
                <a:lnTo>
                  <a:pt x="546" y="2257"/>
                </a:lnTo>
                <a:lnTo>
                  <a:pt x="579" y="2247"/>
                </a:lnTo>
                <a:lnTo>
                  <a:pt x="612" y="2239"/>
                </a:lnTo>
                <a:lnTo>
                  <a:pt x="644" y="2233"/>
                </a:lnTo>
                <a:lnTo>
                  <a:pt x="675" y="2230"/>
                </a:lnTo>
                <a:lnTo>
                  <a:pt x="673" y="2218"/>
                </a:lnTo>
                <a:lnTo>
                  <a:pt x="669" y="2209"/>
                </a:lnTo>
                <a:lnTo>
                  <a:pt x="663" y="2199"/>
                </a:lnTo>
                <a:lnTo>
                  <a:pt x="658" y="2191"/>
                </a:lnTo>
                <a:lnTo>
                  <a:pt x="642" y="2174"/>
                </a:lnTo>
                <a:lnTo>
                  <a:pt x="627" y="2159"/>
                </a:lnTo>
                <a:lnTo>
                  <a:pt x="610" y="2141"/>
                </a:lnTo>
                <a:lnTo>
                  <a:pt x="592" y="2126"/>
                </a:lnTo>
                <a:lnTo>
                  <a:pt x="587" y="2116"/>
                </a:lnTo>
                <a:lnTo>
                  <a:pt x="579" y="2107"/>
                </a:lnTo>
                <a:lnTo>
                  <a:pt x="573" y="2097"/>
                </a:lnTo>
                <a:lnTo>
                  <a:pt x="568" y="2086"/>
                </a:lnTo>
                <a:lnTo>
                  <a:pt x="545" y="2049"/>
                </a:lnTo>
                <a:lnTo>
                  <a:pt x="518" y="2005"/>
                </a:lnTo>
                <a:lnTo>
                  <a:pt x="504" y="1982"/>
                </a:lnTo>
                <a:lnTo>
                  <a:pt x="495" y="1959"/>
                </a:lnTo>
                <a:lnTo>
                  <a:pt x="489" y="1948"/>
                </a:lnTo>
                <a:lnTo>
                  <a:pt x="487" y="1938"/>
                </a:lnTo>
                <a:lnTo>
                  <a:pt x="485" y="1928"/>
                </a:lnTo>
                <a:lnTo>
                  <a:pt x="485" y="1919"/>
                </a:lnTo>
                <a:lnTo>
                  <a:pt x="485" y="1900"/>
                </a:lnTo>
                <a:lnTo>
                  <a:pt x="487" y="1880"/>
                </a:lnTo>
                <a:lnTo>
                  <a:pt x="489" y="1863"/>
                </a:lnTo>
                <a:lnTo>
                  <a:pt x="493" y="1846"/>
                </a:lnTo>
                <a:lnTo>
                  <a:pt x="502" y="1815"/>
                </a:lnTo>
                <a:lnTo>
                  <a:pt x="514" y="1786"/>
                </a:lnTo>
                <a:lnTo>
                  <a:pt x="527" y="1759"/>
                </a:lnTo>
                <a:lnTo>
                  <a:pt x="541" y="1733"/>
                </a:lnTo>
                <a:lnTo>
                  <a:pt x="552" y="1704"/>
                </a:lnTo>
                <a:lnTo>
                  <a:pt x="562" y="1673"/>
                </a:lnTo>
                <a:lnTo>
                  <a:pt x="569" y="1642"/>
                </a:lnTo>
                <a:lnTo>
                  <a:pt x="577" y="1610"/>
                </a:lnTo>
                <a:lnTo>
                  <a:pt x="587" y="1579"/>
                </a:lnTo>
                <a:lnTo>
                  <a:pt x="598" y="1548"/>
                </a:lnTo>
                <a:lnTo>
                  <a:pt x="608" y="1518"/>
                </a:lnTo>
                <a:lnTo>
                  <a:pt x="621" y="1485"/>
                </a:lnTo>
                <a:lnTo>
                  <a:pt x="629" y="1470"/>
                </a:lnTo>
                <a:lnTo>
                  <a:pt x="635" y="1454"/>
                </a:lnTo>
                <a:lnTo>
                  <a:pt x="639" y="1441"/>
                </a:lnTo>
                <a:lnTo>
                  <a:pt x="640" y="1427"/>
                </a:lnTo>
                <a:lnTo>
                  <a:pt x="648" y="1429"/>
                </a:lnTo>
                <a:lnTo>
                  <a:pt x="660" y="1435"/>
                </a:lnTo>
                <a:lnTo>
                  <a:pt x="671" y="1443"/>
                </a:lnTo>
                <a:lnTo>
                  <a:pt x="685" y="1452"/>
                </a:lnTo>
                <a:lnTo>
                  <a:pt x="713" y="1477"/>
                </a:lnTo>
                <a:lnTo>
                  <a:pt x="744" y="1508"/>
                </a:lnTo>
                <a:lnTo>
                  <a:pt x="800" y="1569"/>
                </a:lnTo>
                <a:lnTo>
                  <a:pt x="838" y="1614"/>
                </a:lnTo>
                <a:lnTo>
                  <a:pt x="859" y="1639"/>
                </a:lnTo>
                <a:lnTo>
                  <a:pt x="880" y="1667"/>
                </a:lnTo>
                <a:lnTo>
                  <a:pt x="899" y="1696"/>
                </a:lnTo>
                <a:lnTo>
                  <a:pt x="917" y="1729"/>
                </a:lnTo>
                <a:lnTo>
                  <a:pt x="924" y="1746"/>
                </a:lnTo>
                <a:lnTo>
                  <a:pt x="932" y="1763"/>
                </a:lnTo>
                <a:lnTo>
                  <a:pt x="938" y="1782"/>
                </a:lnTo>
                <a:lnTo>
                  <a:pt x="942" y="1802"/>
                </a:lnTo>
                <a:lnTo>
                  <a:pt x="946" y="1823"/>
                </a:lnTo>
                <a:lnTo>
                  <a:pt x="949" y="1844"/>
                </a:lnTo>
                <a:lnTo>
                  <a:pt x="951" y="1865"/>
                </a:lnTo>
                <a:lnTo>
                  <a:pt x="951" y="1888"/>
                </a:lnTo>
                <a:lnTo>
                  <a:pt x="951" y="1919"/>
                </a:lnTo>
                <a:lnTo>
                  <a:pt x="951" y="1940"/>
                </a:lnTo>
                <a:lnTo>
                  <a:pt x="949" y="1963"/>
                </a:lnTo>
                <a:lnTo>
                  <a:pt x="946" y="1986"/>
                </a:lnTo>
                <a:lnTo>
                  <a:pt x="940" y="2009"/>
                </a:lnTo>
                <a:lnTo>
                  <a:pt x="928" y="2055"/>
                </a:lnTo>
                <a:lnTo>
                  <a:pt x="913" y="2101"/>
                </a:lnTo>
                <a:lnTo>
                  <a:pt x="896" y="2147"/>
                </a:lnTo>
                <a:lnTo>
                  <a:pt x="880" y="2191"/>
                </a:lnTo>
                <a:lnTo>
                  <a:pt x="867" y="2233"/>
                </a:lnTo>
                <a:lnTo>
                  <a:pt x="855" y="2272"/>
                </a:lnTo>
                <a:lnTo>
                  <a:pt x="855" y="2266"/>
                </a:lnTo>
                <a:lnTo>
                  <a:pt x="1114" y="2283"/>
                </a:lnTo>
                <a:lnTo>
                  <a:pt x="1114" y="2289"/>
                </a:lnTo>
                <a:lnTo>
                  <a:pt x="1124" y="2287"/>
                </a:lnTo>
                <a:lnTo>
                  <a:pt x="1132" y="2285"/>
                </a:lnTo>
                <a:lnTo>
                  <a:pt x="1139" y="2280"/>
                </a:lnTo>
                <a:lnTo>
                  <a:pt x="1145" y="2272"/>
                </a:lnTo>
                <a:lnTo>
                  <a:pt x="1153" y="2257"/>
                </a:lnTo>
                <a:lnTo>
                  <a:pt x="1160" y="2241"/>
                </a:lnTo>
                <a:lnTo>
                  <a:pt x="1160" y="2230"/>
                </a:lnTo>
                <a:lnTo>
                  <a:pt x="1143" y="2216"/>
                </a:lnTo>
                <a:lnTo>
                  <a:pt x="1126" y="2207"/>
                </a:lnTo>
                <a:lnTo>
                  <a:pt x="1005" y="2207"/>
                </a:lnTo>
                <a:lnTo>
                  <a:pt x="990" y="2207"/>
                </a:lnTo>
                <a:lnTo>
                  <a:pt x="976" y="2209"/>
                </a:lnTo>
                <a:lnTo>
                  <a:pt x="965" y="2212"/>
                </a:lnTo>
                <a:lnTo>
                  <a:pt x="957" y="2216"/>
                </a:lnTo>
                <a:lnTo>
                  <a:pt x="938" y="2224"/>
                </a:lnTo>
                <a:lnTo>
                  <a:pt x="915" y="2230"/>
                </a:lnTo>
                <a:lnTo>
                  <a:pt x="928" y="2187"/>
                </a:lnTo>
                <a:lnTo>
                  <a:pt x="953" y="2124"/>
                </a:lnTo>
                <a:lnTo>
                  <a:pt x="965" y="2091"/>
                </a:lnTo>
                <a:lnTo>
                  <a:pt x="976" y="2059"/>
                </a:lnTo>
                <a:lnTo>
                  <a:pt x="988" y="2028"/>
                </a:lnTo>
                <a:lnTo>
                  <a:pt x="993" y="2003"/>
                </a:lnTo>
                <a:lnTo>
                  <a:pt x="1005" y="1965"/>
                </a:lnTo>
                <a:lnTo>
                  <a:pt x="1011" y="1932"/>
                </a:lnTo>
                <a:lnTo>
                  <a:pt x="1013" y="1903"/>
                </a:lnTo>
                <a:lnTo>
                  <a:pt x="1013" y="1877"/>
                </a:lnTo>
                <a:lnTo>
                  <a:pt x="1009" y="1852"/>
                </a:lnTo>
                <a:lnTo>
                  <a:pt x="1001" y="1823"/>
                </a:lnTo>
                <a:lnTo>
                  <a:pt x="992" y="1792"/>
                </a:lnTo>
                <a:lnTo>
                  <a:pt x="982" y="1758"/>
                </a:lnTo>
                <a:lnTo>
                  <a:pt x="976" y="1736"/>
                </a:lnTo>
                <a:lnTo>
                  <a:pt x="969" y="1711"/>
                </a:lnTo>
                <a:lnTo>
                  <a:pt x="957" y="1687"/>
                </a:lnTo>
                <a:lnTo>
                  <a:pt x="946" y="1660"/>
                </a:lnTo>
                <a:lnTo>
                  <a:pt x="917" y="1604"/>
                </a:lnTo>
                <a:lnTo>
                  <a:pt x="882" y="1546"/>
                </a:lnTo>
                <a:lnTo>
                  <a:pt x="848" y="1493"/>
                </a:lnTo>
                <a:lnTo>
                  <a:pt x="811" y="1445"/>
                </a:lnTo>
                <a:lnTo>
                  <a:pt x="794" y="1424"/>
                </a:lnTo>
                <a:lnTo>
                  <a:pt x="777" y="1406"/>
                </a:lnTo>
                <a:lnTo>
                  <a:pt x="761" y="1391"/>
                </a:lnTo>
                <a:lnTo>
                  <a:pt x="748" y="1379"/>
                </a:lnTo>
                <a:lnTo>
                  <a:pt x="754" y="1379"/>
                </a:lnTo>
                <a:lnTo>
                  <a:pt x="765" y="1195"/>
                </a:lnTo>
                <a:lnTo>
                  <a:pt x="784" y="1203"/>
                </a:lnTo>
                <a:lnTo>
                  <a:pt x="802" y="1211"/>
                </a:lnTo>
                <a:lnTo>
                  <a:pt x="819" y="1216"/>
                </a:lnTo>
                <a:lnTo>
                  <a:pt x="838" y="1224"/>
                </a:lnTo>
                <a:lnTo>
                  <a:pt x="865" y="1249"/>
                </a:lnTo>
                <a:lnTo>
                  <a:pt x="892" y="1272"/>
                </a:lnTo>
                <a:lnTo>
                  <a:pt x="898" y="1278"/>
                </a:lnTo>
                <a:lnTo>
                  <a:pt x="951" y="1232"/>
                </a:lnTo>
                <a:lnTo>
                  <a:pt x="928" y="1224"/>
                </a:lnTo>
                <a:lnTo>
                  <a:pt x="907" y="1212"/>
                </a:lnTo>
                <a:lnTo>
                  <a:pt x="884" y="1199"/>
                </a:lnTo>
                <a:lnTo>
                  <a:pt x="861" y="1189"/>
                </a:lnTo>
                <a:lnTo>
                  <a:pt x="836" y="1184"/>
                </a:lnTo>
                <a:lnTo>
                  <a:pt x="805" y="1174"/>
                </a:lnTo>
                <a:lnTo>
                  <a:pt x="790" y="1168"/>
                </a:lnTo>
                <a:lnTo>
                  <a:pt x="777" y="1163"/>
                </a:lnTo>
                <a:lnTo>
                  <a:pt x="773" y="1159"/>
                </a:lnTo>
                <a:lnTo>
                  <a:pt x="769" y="1155"/>
                </a:lnTo>
                <a:lnTo>
                  <a:pt x="767" y="1151"/>
                </a:lnTo>
                <a:lnTo>
                  <a:pt x="765" y="1147"/>
                </a:lnTo>
                <a:lnTo>
                  <a:pt x="765" y="1136"/>
                </a:lnTo>
                <a:lnTo>
                  <a:pt x="767" y="1128"/>
                </a:lnTo>
                <a:lnTo>
                  <a:pt x="769" y="1122"/>
                </a:lnTo>
                <a:lnTo>
                  <a:pt x="775" y="1118"/>
                </a:lnTo>
                <a:lnTo>
                  <a:pt x="781" y="1117"/>
                </a:lnTo>
                <a:lnTo>
                  <a:pt x="796" y="1117"/>
                </a:lnTo>
                <a:lnTo>
                  <a:pt x="813" y="1117"/>
                </a:lnTo>
                <a:lnTo>
                  <a:pt x="848" y="1095"/>
                </a:lnTo>
                <a:lnTo>
                  <a:pt x="884" y="1074"/>
                </a:lnTo>
                <a:lnTo>
                  <a:pt x="921" y="1055"/>
                </a:lnTo>
                <a:lnTo>
                  <a:pt x="951" y="1034"/>
                </a:lnTo>
                <a:lnTo>
                  <a:pt x="974" y="1011"/>
                </a:lnTo>
                <a:lnTo>
                  <a:pt x="990" y="994"/>
                </a:lnTo>
                <a:lnTo>
                  <a:pt x="999" y="982"/>
                </a:lnTo>
                <a:lnTo>
                  <a:pt x="1005" y="971"/>
                </a:lnTo>
                <a:lnTo>
                  <a:pt x="1017" y="946"/>
                </a:lnTo>
                <a:lnTo>
                  <a:pt x="1041" y="896"/>
                </a:lnTo>
                <a:lnTo>
                  <a:pt x="1020" y="865"/>
                </a:lnTo>
                <a:lnTo>
                  <a:pt x="1001" y="840"/>
                </a:lnTo>
                <a:lnTo>
                  <a:pt x="984" y="819"/>
                </a:lnTo>
                <a:lnTo>
                  <a:pt x="965" y="802"/>
                </a:lnTo>
                <a:lnTo>
                  <a:pt x="944" y="786"/>
                </a:lnTo>
                <a:lnTo>
                  <a:pt x="919" y="773"/>
                </a:lnTo>
                <a:lnTo>
                  <a:pt x="890" y="758"/>
                </a:lnTo>
                <a:lnTo>
                  <a:pt x="855" y="740"/>
                </a:lnTo>
                <a:lnTo>
                  <a:pt x="836" y="729"/>
                </a:lnTo>
                <a:lnTo>
                  <a:pt x="821" y="721"/>
                </a:lnTo>
                <a:lnTo>
                  <a:pt x="809" y="715"/>
                </a:lnTo>
                <a:lnTo>
                  <a:pt x="798" y="714"/>
                </a:lnTo>
                <a:lnTo>
                  <a:pt x="771" y="708"/>
                </a:lnTo>
                <a:lnTo>
                  <a:pt x="731" y="698"/>
                </a:lnTo>
                <a:lnTo>
                  <a:pt x="706" y="694"/>
                </a:lnTo>
                <a:lnTo>
                  <a:pt x="690" y="692"/>
                </a:lnTo>
                <a:lnTo>
                  <a:pt x="675" y="692"/>
                </a:lnTo>
                <a:lnTo>
                  <a:pt x="652" y="692"/>
                </a:lnTo>
                <a:lnTo>
                  <a:pt x="640" y="690"/>
                </a:lnTo>
                <a:lnTo>
                  <a:pt x="631" y="689"/>
                </a:lnTo>
                <a:lnTo>
                  <a:pt x="625" y="685"/>
                </a:lnTo>
                <a:lnTo>
                  <a:pt x="619" y="681"/>
                </a:lnTo>
                <a:lnTo>
                  <a:pt x="614" y="677"/>
                </a:lnTo>
                <a:lnTo>
                  <a:pt x="606" y="673"/>
                </a:lnTo>
                <a:lnTo>
                  <a:pt x="598" y="669"/>
                </a:lnTo>
                <a:lnTo>
                  <a:pt x="587" y="669"/>
                </a:lnTo>
                <a:lnTo>
                  <a:pt x="573" y="669"/>
                </a:lnTo>
                <a:lnTo>
                  <a:pt x="564" y="671"/>
                </a:lnTo>
                <a:lnTo>
                  <a:pt x="556" y="673"/>
                </a:lnTo>
                <a:lnTo>
                  <a:pt x="548" y="675"/>
                </a:lnTo>
                <a:lnTo>
                  <a:pt x="535" y="681"/>
                </a:lnTo>
                <a:lnTo>
                  <a:pt x="520" y="687"/>
                </a:lnTo>
                <a:lnTo>
                  <a:pt x="520" y="694"/>
                </a:lnTo>
                <a:lnTo>
                  <a:pt x="518" y="700"/>
                </a:lnTo>
                <a:lnTo>
                  <a:pt x="516" y="706"/>
                </a:lnTo>
                <a:lnTo>
                  <a:pt x="512" y="708"/>
                </a:lnTo>
                <a:lnTo>
                  <a:pt x="508" y="710"/>
                </a:lnTo>
                <a:lnTo>
                  <a:pt x="502" y="712"/>
                </a:lnTo>
                <a:lnTo>
                  <a:pt x="497" y="710"/>
                </a:lnTo>
                <a:lnTo>
                  <a:pt x="491" y="710"/>
                </a:lnTo>
                <a:lnTo>
                  <a:pt x="462" y="698"/>
                </a:lnTo>
                <a:lnTo>
                  <a:pt x="429" y="687"/>
                </a:lnTo>
                <a:lnTo>
                  <a:pt x="410" y="677"/>
                </a:lnTo>
                <a:lnTo>
                  <a:pt x="393" y="671"/>
                </a:lnTo>
                <a:lnTo>
                  <a:pt x="379" y="667"/>
                </a:lnTo>
                <a:lnTo>
                  <a:pt x="368" y="666"/>
                </a:lnTo>
                <a:lnTo>
                  <a:pt x="341" y="662"/>
                </a:lnTo>
                <a:lnTo>
                  <a:pt x="305" y="656"/>
                </a:lnTo>
                <a:lnTo>
                  <a:pt x="278" y="646"/>
                </a:lnTo>
                <a:lnTo>
                  <a:pt x="249" y="635"/>
                </a:lnTo>
                <a:lnTo>
                  <a:pt x="220" y="625"/>
                </a:lnTo>
                <a:lnTo>
                  <a:pt x="190" y="616"/>
                </a:lnTo>
                <a:lnTo>
                  <a:pt x="151" y="602"/>
                </a:lnTo>
                <a:lnTo>
                  <a:pt x="134" y="593"/>
                </a:lnTo>
                <a:lnTo>
                  <a:pt x="122" y="579"/>
                </a:lnTo>
                <a:lnTo>
                  <a:pt x="101" y="548"/>
                </a:lnTo>
                <a:lnTo>
                  <a:pt x="92" y="539"/>
                </a:lnTo>
                <a:lnTo>
                  <a:pt x="86" y="525"/>
                </a:lnTo>
                <a:lnTo>
                  <a:pt x="82" y="512"/>
                </a:lnTo>
                <a:lnTo>
                  <a:pt x="78" y="499"/>
                </a:lnTo>
                <a:lnTo>
                  <a:pt x="78" y="483"/>
                </a:lnTo>
                <a:lnTo>
                  <a:pt x="80" y="468"/>
                </a:lnTo>
                <a:lnTo>
                  <a:pt x="82" y="451"/>
                </a:lnTo>
                <a:lnTo>
                  <a:pt x="86" y="435"/>
                </a:lnTo>
                <a:lnTo>
                  <a:pt x="96" y="403"/>
                </a:lnTo>
                <a:lnTo>
                  <a:pt x="109" y="372"/>
                </a:lnTo>
                <a:lnTo>
                  <a:pt x="120" y="345"/>
                </a:lnTo>
                <a:lnTo>
                  <a:pt x="130" y="322"/>
                </a:lnTo>
                <a:lnTo>
                  <a:pt x="157" y="270"/>
                </a:lnTo>
                <a:lnTo>
                  <a:pt x="184" y="220"/>
                </a:lnTo>
                <a:lnTo>
                  <a:pt x="199" y="195"/>
                </a:lnTo>
                <a:lnTo>
                  <a:pt x="216" y="174"/>
                </a:lnTo>
                <a:lnTo>
                  <a:pt x="236" y="153"/>
                </a:lnTo>
                <a:lnTo>
                  <a:pt x="257" y="136"/>
                </a:lnTo>
                <a:lnTo>
                  <a:pt x="262" y="167"/>
                </a:lnTo>
                <a:lnTo>
                  <a:pt x="364" y="155"/>
                </a:lnTo>
                <a:lnTo>
                  <a:pt x="368" y="138"/>
                </a:lnTo>
                <a:lnTo>
                  <a:pt x="370" y="124"/>
                </a:lnTo>
                <a:lnTo>
                  <a:pt x="370" y="113"/>
                </a:lnTo>
                <a:lnTo>
                  <a:pt x="368" y="103"/>
                </a:lnTo>
                <a:lnTo>
                  <a:pt x="364" y="94"/>
                </a:lnTo>
                <a:lnTo>
                  <a:pt x="360" y="84"/>
                </a:lnTo>
                <a:lnTo>
                  <a:pt x="353" y="65"/>
                </a:lnTo>
                <a:lnTo>
                  <a:pt x="347" y="46"/>
                </a:lnTo>
                <a:lnTo>
                  <a:pt x="368" y="44"/>
                </a:lnTo>
                <a:lnTo>
                  <a:pt x="389" y="40"/>
                </a:lnTo>
                <a:lnTo>
                  <a:pt x="395" y="40"/>
                </a:lnTo>
                <a:lnTo>
                  <a:pt x="406" y="42"/>
                </a:lnTo>
                <a:lnTo>
                  <a:pt x="418" y="44"/>
                </a:lnTo>
                <a:lnTo>
                  <a:pt x="426" y="49"/>
                </a:lnTo>
                <a:lnTo>
                  <a:pt x="433" y="55"/>
                </a:lnTo>
                <a:lnTo>
                  <a:pt x="445" y="71"/>
                </a:lnTo>
                <a:lnTo>
                  <a:pt x="454" y="88"/>
                </a:lnTo>
                <a:lnTo>
                  <a:pt x="443" y="119"/>
                </a:lnTo>
                <a:lnTo>
                  <a:pt x="485" y="119"/>
                </a:lnTo>
                <a:lnTo>
                  <a:pt x="485" y="105"/>
                </a:lnTo>
                <a:lnTo>
                  <a:pt x="487" y="99"/>
                </a:lnTo>
                <a:lnTo>
                  <a:pt x="489" y="96"/>
                </a:lnTo>
                <a:lnTo>
                  <a:pt x="491" y="82"/>
                </a:lnTo>
                <a:lnTo>
                  <a:pt x="489" y="71"/>
                </a:lnTo>
                <a:lnTo>
                  <a:pt x="481" y="57"/>
                </a:lnTo>
                <a:lnTo>
                  <a:pt x="474" y="42"/>
                </a:lnTo>
                <a:lnTo>
                  <a:pt x="462" y="28"/>
                </a:lnTo>
                <a:lnTo>
                  <a:pt x="449" y="17"/>
                </a:lnTo>
                <a:lnTo>
                  <a:pt x="435" y="7"/>
                </a:lnTo>
                <a:lnTo>
                  <a:pt x="420" y="2"/>
                </a:lnTo>
                <a:lnTo>
                  <a:pt x="406" y="0"/>
                </a:lnTo>
                <a:lnTo>
                  <a:pt x="364" y="0"/>
                </a:lnTo>
                <a:lnTo>
                  <a:pt x="351" y="0"/>
                </a:lnTo>
                <a:lnTo>
                  <a:pt x="335" y="5"/>
                </a:lnTo>
                <a:lnTo>
                  <a:pt x="320" y="11"/>
                </a:lnTo>
                <a:lnTo>
                  <a:pt x="303" y="21"/>
                </a:lnTo>
                <a:lnTo>
                  <a:pt x="287" y="32"/>
                </a:lnTo>
                <a:lnTo>
                  <a:pt x="270" y="46"/>
                </a:lnTo>
                <a:lnTo>
                  <a:pt x="253" y="61"/>
                </a:lnTo>
                <a:lnTo>
                  <a:pt x="236" y="78"/>
                </a:lnTo>
                <a:lnTo>
                  <a:pt x="205" y="113"/>
                </a:lnTo>
                <a:lnTo>
                  <a:pt x="174" y="149"/>
                </a:lnTo>
                <a:lnTo>
                  <a:pt x="149" y="186"/>
                </a:lnTo>
                <a:lnTo>
                  <a:pt x="130" y="220"/>
                </a:lnTo>
                <a:lnTo>
                  <a:pt x="105" y="276"/>
                </a:lnTo>
                <a:lnTo>
                  <a:pt x="63" y="366"/>
                </a:lnTo>
                <a:lnTo>
                  <a:pt x="21" y="449"/>
                </a:lnTo>
                <a:lnTo>
                  <a:pt x="0" y="489"/>
                </a:lnTo>
                <a:close/>
                <a:moveTo>
                  <a:pt x="543" y="633"/>
                </a:moveTo>
                <a:lnTo>
                  <a:pt x="591" y="633"/>
                </a:lnTo>
                <a:lnTo>
                  <a:pt x="604" y="633"/>
                </a:lnTo>
                <a:lnTo>
                  <a:pt x="617" y="629"/>
                </a:lnTo>
                <a:lnTo>
                  <a:pt x="629" y="625"/>
                </a:lnTo>
                <a:lnTo>
                  <a:pt x="640" y="619"/>
                </a:lnTo>
                <a:lnTo>
                  <a:pt x="650" y="612"/>
                </a:lnTo>
                <a:lnTo>
                  <a:pt x="660" y="604"/>
                </a:lnTo>
                <a:lnTo>
                  <a:pt x="667" y="595"/>
                </a:lnTo>
                <a:lnTo>
                  <a:pt x="675" y="585"/>
                </a:lnTo>
                <a:lnTo>
                  <a:pt x="683" y="564"/>
                </a:lnTo>
                <a:lnTo>
                  <a:pt x="692" y="535"/>
                </a:lnTo>
                <a:lnTo>
                  <a:pt x="702" y="506"/>
                </a:lnTo>
                <a:lnTo>
                  <a:pt x="706" y="483"/>
                </a:lnTo>
                <a:lnTo>
                  <a:pt x="698" y="401"/>
                </a:lnTo>
                <a:lnTo>
                  <a:pt x="759" y="401"/>
                </a:lnTo>
                <a:lnTo>
                  <a:pt x="836" y="406"/>
                </a:lnTo>
                <a:lnTo>
                  <a:pt x="842" y="364"/>
                </a:lnTo>
                <a:lnTo>
                  <a:pt x="754" y="358"/>
                </a:lnTo>
                <a:lnTo>
                  <a:pt x="686" y="358"/>
                </a:lnTo>
                <a:lnTo>
                  <a:pt x="683" y="345"/>
                </a:lnTo>
                <a:lnTo>
                  <a:pt x="677" y="328"/>
                </a:lnTo>
                <a:lnTo>
                  <a:pt x="667" y="310"/>
                </a:lnTo>
                <a:lnTo>
                  <a:pt x="658" y="293"/>
                </a:lnTo>
                <a:lnTo>
                  <a:pt x="646" y="274"/>
                </a:lnTo>
                <a:lnTo>
                  <a:pt x="635" y="255"/>
                </a:lnTo>
                <a:lnTo>
                  <a:pt x="621" y="236"/>
                </a:lnTo>
                <a:lnTo>
                  <a:pt x="606" y="218"/>
                </a:lnTo>
                <a:lnTo>
                  <a:pt x="591" y="201"/>
                </a:lnTo>
                <a:lnTo>
                  <a:pt x="575" y="184"/>
                </a:lnTo>
                <a:lnTo>
                  <a:pt x="560" y="170"/>
                </a:lnTo>
                <a:lnTo>
                  <a:pt x="543" y="157"/>
                </a:lnTo>
                <a:lnTo>
                  <a:pt x="525" y="145"/>
                </a:lnTo>
                <a:lnTo>
                  <a:pt x="510" y="138"/>
                </a:lnTo>
                <a:lnTo>
                  <a:pt x="493" y="134"/>
                </a:lnTo>
                <a:lnTo>
                  <a:pt x="477" y="132"/>
                </a:lnTo>
                <a:lnTo>
                  <a:pt x="452" y="132"/>
                </a:lnTo>
                <a:lnTo>
                  <a:pt x="445" y="132"/>
                </a:lnTo>
                <a:lnTo>
                  <a:pt x="439" y="134"/>
                </a:lnTo>
                <a:lnTo>
                  <a:pt x="431" y="136"/>
                </a:lnTo>
                <a:lnTo>
                  <a:pt x="426" y="140"/>
                </a:lnTo>
                <a:lnTo>
                  <a:pt x="416" y="151"/>
                </a:lnTo>
                <a:lnTo>
                  <a:pt x="408" y="165"/>
                </a:lnTo>
                <a:lnTo>
                  <a:pt x="403" y="180"/>
                </a:lnTo>
                <a:lnTo>
                  <a:pt x="399" y="199"/>
                </a:lnTo>
                <a:lnTo>
                  <a:pt x="395" y="220"/>
                </a:lnTo>
                <a:lnTo>
                  <a:pt x="395" y="241"/>
                </a:lnTo>
                <a:lnTo>
                  <a:pt x="395" y="286"/>
                </a:lnTo>
                <a:lnTo>
                  <a:pt x="399" y="330"/>
                </a:lnTo>
                <a:lnTo>
                  <a:pt x="404" y="370"/>
                </a:lnTo>
                <a:lnTo>
                  <a:pt x="410" y="401"/>
                </a:lnTo>
                <a:lnTo>
                  <a:pt x="420" y="429"/>
                </a:lnTo>
                <a:lnTo>
                  <a:pt x="431" y="464"/>
                </a:lnTo>
                <a:lnTo>
                  <a:pt x="445" y="502"/>
                </a:lnTo>
                <a:lnTo>
                  <a:pt x="462" y="541"/>
                </a:lnTo>
                <a:lnTo>
                  <a:pt x="470" y="560"/>
                </a:lnTo>
                <a:lnTo>
                  <a:pt x="479" y="577"/>
                </a:lnTo>
                <a:lnTo>
                  <a:pt x="489" y="593"/>
                </a:lnTo>
                <a:lnTo>
                  <a:pt x="500" y="606"/>
                </a:lnTo>
                <a:lnTo>
                  <a:pt x="510" y="618"/>
                </a:lnTo>
                <a:lnTo>
                  <a:pt x="521" y="627"/>
                </a:lnTo>
                <a:lnTo>
                  <a:pt x="531" y="631"/>
                </a:lnTo>
                <a:lnTo>
                  <a:pt x="543" y="63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 rot="21112483">
            <a:off x="8434541" y="5215162"/>
            <a:ext cx="414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Comic Sans MS" pitchFamily="66" charset="0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3258" y="4776662"/>
            <a:ext cx="6135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Землетрясений локализуются в сейсмические полосы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Чаще всего трясет на глубине 10-15 и 30-35 км</a:t>
            </a:r>
            <a:endParaRPr lang="ru-RU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226" name="Picture 10" descr="https://encrypted-tbn0.google.com/images?q=tbn:ANd9GcRV5U2u1O4yNeVrf6WriFUFY54pwiCkzO5m3A0onVEw1suprJVg5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184" y="5422993"/>
            <a:ext cx="2100618" cy="138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https://encrypted-tbn2.google.com/images?q=tbn:ANd9GcT95wmau9df4nwgm2xTcQOYpSaWDymg8x4-bQVVzd2b7PutVskbA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753" y="5412813"/>
            <a:ext cx="2119466" cy="141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/>
          <p:cNvSpPr/>
          <p:nvPr/>
        </p:nvSpPr>
        <p:spPr>
          <a:xfrm>
            <a:off x="562428" y="26753"/>
            <a:ext cx="8019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ЗЕМЛЕТРЯСЕНИЯ В ПРОСТРАНСТВЕ </a:t>
            </a:r>
            <a:r>
              <a:rPr lang="ru-RU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ВРЕМЕНИ?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24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226083"/>
            <a:ext cx="9144000" cy="1466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4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ru-RU" altLang="ru-RU" sz="24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2: Сопоставление LOD и интенсивности землетрясений</a:t>
            </a:r>
            <a:endParaRPr lang="ru-RU" altLang="ru-RU" sz="24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775"/>
              </a:lnSpc>
              <a:buSzPct val="100000"/>
              <a:defRPr/>
            </a:pPr>
            <a:endParaRPr lang="ru-RU" altLang="ru-RU" sz="24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2228" y="506970"/>
            <a:ext cx="8773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Ищем связь между колебанием скорости вращения Земли и интенсивностью землетрясений по месяцам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85058" y="5574442"/>
            <a:ext cx="87738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dirty="0" smtClean="0">
                <a:solidFill>
                  <a:srgbClr val="2C2D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пояснительная записка от каждого студента, </a:t>
            </a:r>
            <a:r>
              <a:rPr lang="ru-RU" dirty="0">
                <a:solidFill>
                  <a:srgbClr val="2C2D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построенная по принципу научной статьи - введение в проблематику, построение гипотезы, результаты расчетов с </a:t>
            </a:r>
            <a:r>
              <a:rPr lang="ru-RU" b="1" dirty="0" smtClean="0">
                <a:solidFill>
                  <a:srgbClr val="2C2D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оформленными</a:t>
            </a:r>
            <a:r>
              <a:rPr lang="ru-RU" dirty="0" smtClean="0">
                <a:solidFill>
                  <a:srgbClr val="2C2D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графиками</a:t>
            </a:r>
            <a:r>
              <a:rPr lang="ru-RU" dirty="0">
                <a:solidFill>
                  <a:srgbClr val="2C2D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объяснение полученных зависимостей (обязательно физическое обоснование) и </a:t>
            </a:r>
            <a:r>
              <a:rPr lang="ru-RU" dirty="0" smtClean="0">
                <a:solidFill>
                  <a:srgbClr val="2C2D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выводы, не более 3 страниц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341" y="1153301"/>
            <a:ext cx="3662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Чаасть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Тренировка – построение двух простых графиков: колебаний количества землетрясений и расстояния до солнца по месяцам, определение тренда (цикличности?)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6798" y="894191"/>
            <a:ext cx="3662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2.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Аналитические графики и расчеты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" y="2636126"/>
            <a:ext cx="3244487" cy="194755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87" y="1461424"/>
            <a:ext cx="4185391" cy="2627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57221" y="4075088"/>
            <a:ext cx="5084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графика сопоставления: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Землетрясения, Расстояние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 LOD,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Землетрясения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коэффициента корреляции (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между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массивами данных: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КОРРЕЛ(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B2:B13;C2:C13)^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показателей: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Землетрясения, Расстояние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LOD,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Землетрясения</a:t>
            </a:r>
          </a:p>
        </p:txBody>
      </p:sp>
    </p:spTree>
    <p:extLst>
      <p:ext uri="{BB962C8B-B14F-4D97-AF65-F5344CB8AC3E}">
        <p14:creationId xmlns:p14="http://schemas.microsoft.com/office/powerpoint/2010/main" val="427897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3199" y="935335"/>
            <a:ext cx="850537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Вопросы: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 </a:t>
            </a:r>
            <a:r>
              <a:rPr lang="ru-RU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каком параметре движения Земли свидетельствует периодическое изменение расстояния </a:t>
            </a: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Земля-Солнце?</a:t>
            </a:r>
          </a:p>
          <a:p>
            <a:pPr marL="342900" indent="-342900">
              <a:buAutoNum type="arabicPeriod"/>
            </a:pPr>
            <a:endParaRPr lang="ru-RU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AutoNum type="arabicPeriod"/>
            </a:pPr>
            <a:r>
              <a:rPr lang="ru-RU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Постоянна ли продолжительность суток</a:t>
            </a: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 </a:t>
            </a:r>
            <a:r>
              <a:rPr lang="ru-RU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какие месяцы вращение Земли относительно быстрее и медленнее</a:t>
            </a: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Как </a:t>
            </a:r>
            <a:r>
              <a:rPr lang="ru-RU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связаны LOD и угловая скорость</a:t>
            </a: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  <a:p>
            <a:pPr marL="342900" indent="-342900">
              <a:buAutoNum type="arabicPeriod"/>
            </a:pPr>
            <a:endParaRPr lang="ru-RU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Существует </a:t>
            </a:r>
            <a:r>
              <a:rPr lang="ru-RU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ли статистическая связь между сезонными вариациями параметров движения Земли и количеством </a:t>
            </a:r>
            <a:r>
              <a:rPr lang="ru-RU" sz="2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землетрясений</a:t>
            </a:r>
            <a:r>
              <a:rPr lang="ru-RU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 </a:t>
            </a:r>
            <a:r>
              <a:rPr lang="ru-RU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(Наличие корреляции ещё не означает наличие причинной </a:t>
            </a:r>
            <a:r>
              <a:rPr lang="ru-RU" i="1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связи)</a:t>
            </a:r>
            <a:endParaRPr lang="ru-RU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-226083"/>
            <a:ext cx="9144000" cy="722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775"/>
              </a:lnSpc>
              <a:buSzPct val="100000"/>
              <a:defRPr/>
            </a:pPr>
            <a:r>
              <a:rPr lang="ru-RU" altLang="ru-RU" sz="2400" b="1" dirty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ru-RU" altLang="ru-RU" sz="2400" b="1" dirty="0" smtClean="0">
                <a:solidFill>
                  <a:srgbClr val="2F589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2: Сопоставление LOD и интенсивности землетрясений</a:t>
            </a:r>
            <a:endParaRPr lang="ru-RU" altLang="ru-RU" sz="2400" b="1" dirty="0">
              <a:solidFill>
                <a:srgbClr val="2F589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68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icture 1"/>
          <p:cNvPicPr/>
          <p:nvPr/>
        </p:nvPicPr>
        <p:blipFill>
          <a:blip r:embed="rId3"/>
          <a:stretch/>
        </p:blipFill>
        <p:spPr>
          <a:xfrm>
            <a:off x="0" y="-50800"/>
            <a:ext cx="9143820" cy="69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Box 2"/>
          <p:cNvSpPr/>
          <p:nvPr/>
        </p:nvSpPr>
        <p:spPr>
          <a:xfrm>
            <a:off x="0" y="672159"/>
            <a:ext cx="8910810" cy="4863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5100" rIns="67500" bIns="35100" anchor="t">
            <a:spAutoFit/>
          </a:bodyPr>
          <a:lstStyle/>
          <a:p>
            <a:pPr algn="ctr" defTabSz="342900">
              <a:spcBef>
                <a:spcPts val="1688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ru-RU" sz="2700" b="1" dirty="0">
                <a:solidFill>
                  <a:srgbClr val="FFFFFF"/>
                </a:solidFill>
                <a:latin typeface="Calibri"/>
              </a:rPr>
              <a:t>До встречи на следующем семинаре!</a:t>
            </a:r>
            <a:endParaRPr lang="ru-RU" sz="27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77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9434</TotalTime>
  <Words>1551</Words>
  <Application>Microsoft Office PowerPoint</Application>
  <PresentationFormat>Экран (4:3)</PresentationFormat>
  <Paragraphs>293</Paragraphs>
  <Slides>23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Comic Sans MS</vt:lpstr>
      <vt:lpstr>Courier New</vt:lpstr>
      <vt:lpstr>Lucida Sans Unicode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Danilko</dc:creator>
  <cp:lastModifiedBy>Николай Лозбенев</cp:lastModifiedBy>
  <cp:revision>223</cp:revision>
  <dcterms:created xsi:type="dcterms:W3CDTF">2012-02-16T20:22:26Z</dcterms:created>
  <dcterms:modified xsi:type="dcterms:W3CDTF">2026-10-07T17:01:49Z</dcterms:modified>
</cp:coreProperties>
</file>