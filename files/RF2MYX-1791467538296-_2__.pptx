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502" r:id="rId2"/>
    <p:sldId id="549" r:id="rId3"/>
    <p:sldId id="570" r:id="rId4"/>
    <p:sldId id="572" r:id="rId5"/>
    <p:sldId id="573" r:id="rId6"/>
    <p:sldId id="574" r:id="rId7"/>
    <p:sldId id="602" r:id="rId8"/>
    <p:sldId id="576" r:id="rId9"/>
    <p:sldId id="577" r:id="rId10"/>
    <p:sldId id="578" r:id="rId11"/>
    <p:sldId id="604" r:id="rId12"/>
    <p:sldId id="579" r:id="rId13"/>
    <p:sldId id="580" r:id="rId14"/>
    <p:sldId id="581" r:id="rId15"/>
    <p:sldId id="582" r:id="rId16"/>
    <p:sldId id="583" r:id="rId17"/>
    <p:sldId id="584" r:id="rId18"/>
    <p:sldId id="585" r:id="rId19"/>
    <p:sldId id="586" r:id="rId20"/>
    <p:sldId id="587" r:id="rId21"/>
    <p:sldId id="588" r:id="rId22"/>
    <p:sldId id="589" r:id="rId23"/>
    <p:sldId id="590" r:id="rId24"/>
    <p:sldId id="591" r:id="rId25"/>
    <p:sldId id="592" r:id="rId26"/>
    <p:sldId id="593" r:id="rId27"/>
    <p:sldId id="594" r:id="rId28"/>
    <p:sldId id="571" r:id="rId29"/>
    <p:sldId id="603" r:id="rId30"/>
    <p:sldId id="595" r:id="rId31"/>
    <p:sldId id="596" r:id="rId32"/>
    <p:sldId id="597" r:id="rId33"/>
    <p:sldId id="598" r:id="rId34"/>
    <p:sldId id="599" r:id="rId35"/>
    <p:sldId id="600" r:id="rId36"/>
    <p:sldId id="601" r:id="rId37"/>
  </p:sldIdLst>
  <p:sldSz cx="12192000" cy="6858000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in" initials="k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B6BCF"/>
    <a:srgbClr val="465676"/>
    <a:srgbClr val="990033"/>
    <a:srgbClr val="FF3300"/>
    <a:srgbClr val="C9EAF9"/>
    <a:srgbClr val="B9EDFF"/>
    <a:srgbClr val="993300"/>
    <a:srgbClr val="800000"/>
    <a:srgbClr val="FFFFCC"/>
    <a:srgbClr val="FFEC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1" autoAdjust="0"/>
    <p:restoredTop sz="94756" autoAdjust="0"/>
  </p:normalViewPr>
  <p:slideViewPr>
    <p:cSldViewPr>
      <p:cViewPr varScale="1">
        <p:scale>
          <a:sx n="76" d="100"/>
          <a:sy n="76" d="100"/>
        </p:scale>
        <p:origin x="66" y="2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102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ommentAuthors" Target="commentAuthor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orto\Downloads\report_2022-10-08.xls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orto\Downloads\report_2022-10-08(1).xls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р. </a:t>
            </a:r>
            <a:r>
              <a:rPr lang="ru-RU" dirty="0" err="1"/>
              <a:t>Кудьма</a:t>
            </a:r>
            <a:r>
              <a:rPr lang="ru-RU" dirty="0"/>
              <a:t> - г. Кстово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2548381452318461"/>
          <c:y val="0.17171296296296296"/>
          <c:w val="0.84010914260717406"/>
          <c:h val="0.72088764946048411"/>
        </c:manualLayout>
      </c:layout>
      <c:barChart>
        <c:barDir val="col"/>
        <c:grouping val="clustered"/>
        <c:varyColors val="0"/>
        <c:ser>
          <c:idx val="0"/>
          <c:order val="0"/>
          <c:tx>
            <c:v>многоводный 2013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среднемесячные!$D$32:$O$32</c:f>
              <c:numCache>
                <c:formatCode>General</c:formatCode>
                <c:ptCount val="12"/>
                <c:pt idx="0">
                  <c:v>4.4800000000000004</c:v>
                </c:pt>
                <c:pt idx="1">
                  <c:v>4.79</c:v>
                </c:pt>
                <c:pt idx="2">
                  <c:v>4.62</c:v>
                </c:pt>
                <c:pt idx="3">
                  <c:v>40</c:v>
                </c:pt>
                <c:pt idx="4">
                  <c:v>17</c:v>
                </c:pt>
                <c:pt idx="5">
                  <c:v>4.34</c:v>
                </c:pt>
                <c:pt idx="6">
                  <c:v>3.99</c:v>
                </c:pt>
                <c:pt idx="7">
                  <c:v>4.13</c:v>
                </c:pt>
                <c:pt idx="8">
                  <c:v>8.8699999999999992</c:v>
                </c:pt>
                <c:pt idx="9">
                  <c:v>10.5</c:v>
                </c:pt>
                <c:pt idx="10">
                  <c:v>8.8800000000000008</c:v>
                </c:pt>
                <c:pt idx="11">
                  <c:v>7.18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6DA9-4A90-87E1-729FCB0E321B}"/>
            </c:ext>
          </c:extLst>
        </c:ser>
        <c:ser>
          <c:idx val="2"/>
          <c:order val="1"/>
          <c:tx>
            <c:v>средний по водности 2020</c:v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val>
            <c:numRef>
              <c:f>среднемесячные!$D$47:$O$47</c:f>
              <c:numCache>
                <c:formatCode>General</c:formatCode>
                <c:ptCount val="12"/>
                <c:pt idx="0">
                  <c:v>5.16</c:v>
                </c:pt>
                <c:pt idx="1">
                  <c:v>5.49</c:v>
                </c:pt>
                <c:pt idx="2">
                  <c:v>15.3</c:v>
                </c:pt>
                <c:pt idx="3">
                  <c:v>11.4</c:v>
                </c:pt>
                <c:pt idx="4">
                  <c:v>14.6</c:v>
                </c:pt>
                <c:pt idx="5">
                  <c:v>6.2</c:v>
                </c:pt>
                <c:pt idx="6">
                  <c:v>4.1399999999999997</c:v>
                </c:pt>
                <c:pt idx="7">
                  <c:v>4.3499999999999996</c:v>
                </c:pt>
                <c:pt idx="8">
                  <c:v>3.09</c:v>
                </c:pt>
                <c:pt idx="9">
                  <c:v>3.14</c:v>
                </c:pt>
                <c:pt idx="10">
                  <c:v>4.2300000000000004</c:v>
                </c:pt>
                <c:pt idx="11">
                  <c:v>3.62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6DA9-4A90-87E1-729FCB0E321B}"/>
            </c:ext>
          </c:extLst>
        </c:ser>
        <c:ser>
          <c:idx val="1"/>
          <c:order val="2"/>
          <c:tx>
            <c:v>маловодный 2019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val>
            <c:numRef>
              <c:f>среднемесячные!$D$44:$O$44</c:f>
              <c:numCache>
                <c:formatCode>General</c:formatCode>
                <c:ptCount val="12"/>
                <c:pt idx="0">
                  <c:v>3.82</c:v>
                </c:pt>
                <c:pt idx="1">
                  <c:v>4.22</c:v>
                </c:pt>
                <c:pt idx="2">
                  <c:v>6.12</c:v>
                </c:pt>
                <c:pt idx="3">
                  <c:v>11</c:v>
                </c:pt>
                <c:pt idx="4">
                  <c:v>5.64</c:v>
                </c:pt>
                <c:pt idx="5">
                  <c:v>3.18</c:v>
                </c:pt>
                <c:pt idx="6">
                  <c:v>2.86</c:v>
                </c:pt>
                <c:pt idx="7">
                  <c:v>3.09</c:v>
                </c:pt>
                <c:pt idx="8">
                  <c:v>3.61</c:v>
                </c:pt>
                <c:pt idx="9">
                  <c:v>5.81</c:v>
                </c:pt>
                <c:pt idx="10">
                  <c:v>4.8499999999999996</c:v>
                </c:pt>
                <c:pt idx="11">
                  <c:v>5.65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6DA9-4A90-87E1-729FCB0E321B}"/>
            </c:ext>
          </c:extLst>
        </c:ser>
        <c:ser>
          <c:idx val="3"/>
          <c:order val="3"/>
          <c:tx>
            <c:v>средний многолетний</c:v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val>
            <c:numRef>
              <c:f>среднемесячные!$D$51:$O$51</c:f>
              <c:numCache>
                <c:formatCode>0.00</c:formatCode>
                <c:ptCount val="12"/>
                <c:pt idx="0">
                  <c:v>4.5509090909090908</c:v>
                </c:pt>
                <c:pt idx="1">
                  <c:v>4.4718181818181817</c:v>
                </c:pt>
                <c:pt idx="2">
                  <c:v>7.623636363636364</c:v>
                </c:pt>
                <c:pt idx="3">
                  <c:v>23.727272727272727</c:v>
                </c:pt>
                <c:pt idx="4">
                  <c:v>10.926363636363638</c:v>
                </c:pt>
                <c:pt idx="5">
                  <c:v>4.5172727272727267</c:v>
                </c:pt>
                <c:pt idx="6">
                  <c:v>3.7527272727272729</c:v>
                </c:pt>
                <c:pt idx="7">
                  <c:v>3.1927272727272733</c:v>
                </c:pt>
                <c:pt idx="8">
                  <c:v>3.8154545454545454</c:v>
                </c:pt>
                <c:pt idx="9">
                  <c:v>4.6045454545454545</c:v>
                </c:pt>
                <c:pt idx="10">
                  <c:v>5.1345454545454547</c:v>
                </c:pt>
                <c:pt idx="11">
                  <c:v>5.129999999999999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6DA9-4A90-87E1-729FCB0E32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545284928"/>
        <c:axId val="-545280576"/>
      </c:barChart>
      <c:catAx>
        <c:axId val="-54528492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-545280576"/>
        <c:crosses val="autoZero"/>
        <c:auto val="1"/>
        <c:lblAlgn val="ctr"/>
        <c:lblOffset val="100"/>
        <c:noMultiLvlLbl val="0"/>
      </c:catAx>
      <c:valAx>
        <c:axId val="-545280576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Среднемесячный расход воды, м</a:t>
                </a:r>
                <a:r>
                  <a:rPr lang="ru-RU" baseline="30000" dirty="0"/>
                  <a:t>3</a:t>
                </a:r>
                <a:r>
                  <a:rPr lang="ru-RU" dirty="0"/>
                  <a:t>/с</a:t>
                </a:r>
              </a:p>
            </c:rich>
          </c:tx>
          <c:layout>
            <c:manualLayout>
              <c:xMode val="edge"/>
              <c:yMode val="edge"/>
              <c:x val="1.85717726188038E-2"/>
              <c:y val="0.1805961894831675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solidFill>
              <a:sysClr val="windowText" lastClr="000000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-5452849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49508408587721575"/>
          <c:y val="0.1558389749338536"/>
          <c:w val="0.48030865567481124"/>
          <c:h val="0.3218020541985352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>
          <a:solidFill>
            <a:sysClr val="windowText" lastClr="000000"/>
          </a:solidFill>
        </a:defRPr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060395983110806"/>
          <c:y val="8.719875924600333E-2"/>
          <c:w val="0.8494685039370079"/>
          <c:h val="0.70975024225867867"/>
        </c:manualLayout>
      </c:layout>
      <c:lineChart>
        <c:grouping val="standard"/>
        <c:varyColors val="0"/>
        <c:ser>
          <c:idx val="0"/>
          <c:order val="0"/>
          <c:tx>
            <c:v>многоводный 2013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Лист1!$A$3:$A$367</c:f>
              <c:numCache>
                <c:formatCode>d\-mmm</c:formatCode>
                <c:ptCount val="365"/>
                <c:pt idx="0">
                  <c:v>44562</c:v>
                </c:pt>
                <c:pt idx="1">
                  <c:v>44563</c:v>
                </c:pt>
                <c:pt idx="2">
                  <c:v>44564</c:v>
                </c:pt>
                <c:pt idx="3">
                  <c:v>44565</c:v>
                </c:pt>
                <c:pt idx="4">
                  <c:v>44566</c:v>
                </c:pt>
                <c:pt idx="5">
                  <c:v>44567</c:v>
                </c:pt>
                <c:pt idx="6">
                  <c:v>44568</c:v>
                </c:pt>
                <c:pt idx="7">
                  <c:v>44569</c:v>
                </c:pt>
                <c:pt idx="8">
                  <c:v>44570</c:v>
                </c:pt>
                <c:pt idx="9">
                  <c:v>44571</c:v>
                </c:pt>
                <c:pt idx="10">
                  <c:v>44572</c:v>
                </c:pt>
                <c:pt idx="11">
                  <c:v>44573</c:v>
                </c:pt>
                <c:pt idx="12">
                  <c:v>44574</c:v>
                </c:pt>
                <c:pt idx="13">
                  <c:v>44575</c:v>
                </c:pt>
                <c:pt idx="14">
                  <c:v>44576</c:v>
                </c:pt>
                <c:pt idx="15">
                  <c:v>44577</c:v>
                </c:pt>
                <c:pt idx="16">
                  <c:v>44578</c:v>
                </c:pt>
                <c:pt idx="17">
                  <c:v>44579</c:v>
                </c:pt>
                <c:pt idx="18">
                  <c:v>44580</c:v>
                </c:pt>
                <c:pt idx="19">
                  <c:v>44581</c:v>
                </c:pt>
                <c:pt idx="20">
                  <c:v>44582</c:v>
                </c:pt>
                <c:pt idx="21">
                  <c:v>44583</c:v>
                </c:pt>
                <c:pt idx="22">
                  <c:v>44584</c:v>
                </c:pt>
                <c:pt idx="23">
                  <c:v>44585</c:v>
                </c:pt>
                <c:pt idx="24">
                  <c:v>44586</c:v>
                </c:pt>
                <c:pt idx="25">
                  <c:v>44587</c:v>
                </c:pt>
                <c:pt idx="26">
                  <c:v>44588</c:v>
                </c:pt>
                <c:pt idx="27">
                  <c:v>44589</c:v>
                </c:pt>
                <c:pt idx="28">
                  <c:v>44590</c:v>
                </c:pt>
                <c:pt idx="29">
                  <c:v>44591</c:v>
                </c:pt>
                <c:pt idx="30">
                  <c:v>44592</c:v>
                </c:pt>
                <c:pt idx="31">
                  <c:v>44593</c:v>
                </c:pt>
                <c:pt idx="32">
                  <c:v>44594</c:v>
                </c:pt>
                <c:pt idx="33">
                  <c:v>44595</c:v>
                </c:pt>
                <c:pt idx="34">
                  <c:v>44596</c:v>
                </c:pt>
                <c:pt idx="35">
                  <c:v>44597</c:v>
                </c:pt>
                <c:pt idx="36">
                  <c:v>44598</c:v>
                </c:pt>
                <c:pt idx="37">
                  <c:v>44599</c:v>
                </c:pt>
                <c:pt idx="38">
                  <c:v>44600</c:v>
                </c:pt>
                <c:pt idx="39">
                  <c:v>44601</c:v>
                </c:pt>
                <c:pt idx="40">
                  <c:v>44602</c:v>
                </c:pt>
                <c:pt idx="41">
                  <c:v>44603</c:v>
                </c:pt>
                <c:pt idx="42">
                  <c:v>44604</c:v>
                </c:pt>
                <c:pt idx="43">
                  <c:v>44605</c:v>
                </c:pt>
                <c:pt idx="44">
                  <c:v>44606</c:v>
                </c:pt>
                <c:pt idx="45">
                  <c:v>44607</c:v>
                </c:pt>
                <c:pt idx="46">
                  <c:v>44608</c:v>
                </c:pt>
                <c:pt idx="47">
                  <c:v>44609</c:v>
                </c:pt>
                <c:pt idx="48">
                  <c:v>44610</c:v>
                </c:pt>
                <c:pt idx="49">
                  <c:v>44611</c:v>
                </c:pt>
                <c:pt idx="50">
                  <c:v>44612</c:v>
                </c:pt>
                <c:pt idx="51">
                  <c:v>44613</c:v>
                </c:pt>
                <c:pt idx="52">
                  <c:v>44614</c:v>
                </c:pt>
                <c:pt idx="53">
                  <c:v>44615</c:v>
                </c:pt>
                <c:pt idx="54">
                  <c:v>44616</c:v>
                </c:pt>
                <c:pt idx="55">
                  <c:v>44617</c:v>
                </c:pt>
                <c:pt idx="56">
                  <c:v>44618</c:v>
                </c:pt>
                <c:pt idx="57">
                  <c:v>44619</c:v>
                </c:pt>
                <c:pt idx="58">
                  <c:v>44620</c:v>
                </c:pt>
                <c:pt idx="59">
                  <c:v>44621</c:v>
                </c:pt>
                <c:pt idx="60">
                  <c:v>44622</c:v>
                </c:pt>
                <c:pt idx="61">
                  <c:v>44623</c:v>
                </c:pt>
                <c:pt idx="62">
                  <c:v>44624</c:v>
                </c:pt>
                <c:pt idx="63">
                  <c:v>44625</c:v>
                </c:pt>
                <c:pt idx="64">
                  <c:v>44626</c:v>
                </c:pt>
                <c:pt idx="65">
                  <c:v>44627</c:v>
                </c:pt>
                <c:pt idx="66">
                  <c:v>44628</c:v>
                </c:pt>
                <c:pt idx="67">
                  <c:v>44629</c:v>
                </c:pt>
                <c:pt idx="68">
                  <c:v>44630</c:v>
                </c:pt>
                <c:pt idx="69">
                  <c:v>44631</c:v>
                </c:pt>
                <c:pt idx="70">
                  <c:v>44632</c:v>
                </c:pt>
                <c:pt idx="71">
                  <c:v>44633</c:v>
                </c:pt>
                <c:pt idx="72">
                  <c:v>44634</c:v>
                </c:pt>
                <c:pt idx="73">
                  <c:v>44635</c:v>
                </c:pt>
                <c:pt idx="74">
                  <c:v>44636</c:v>
                </c:pt>
                <c:pt idx="75">
                  <c:v>44637</c:v>
                </c:pt>
                <c:pt idx="76">
                  <c:v>44638</c:v>
                </c:pt>
                <c:pt idx="77">
                  <c:v>44639</c:v>
                </c:pt>
                <c:pt idx="78">
                  <c:v>44640</c:v>
                </c:pt>
                <c:pt idx="79">
                  <c:v>44641</c:v>
                </c:pt>
                <c:pt idx="80">
                  <c:v>44642</c:v>
                </c:pt>
                <c:pt idx="81">
                  <c:v>44643</c:v>
                </c:pt>
                <c:pt idx="82">
                  <c:v>44644</c:v>
                </c:pt>
                <c:pt idx="83">
                  <c:v>44645</c:v>
                </c:pt>
                <c:pt idx="84">
                  <c:v>44646</c:v>
                </c:pt>
                <c:pt idx="85">
                  <c:v>44647</c:v>
                </c:pt>
                <c:pt idx="86">
                  <c:v>44648</c:v>
                </c:pt>
                <c:pt idx="87">
                  <c:v>44649</c:v>
                </c:pt>
                <c:pt idx="88">
                  <c:v>44650</c:v>
                </c:pt>
                <c:pt idx="89">
                  <c:v>44651</c:v>
                </c:pt>
                <c:pt idx="90">
                  <c:v>44652</c:v>
                </c:pt>
                <c:pt idx="91">
                  <c:v>44653</c:v>
                </c:pt>
                <c:pt idx="92">
                  <c:v>44654</c:v>
                </c:pt>
                <c:pt idx="93">
                  <c:v>44655</c:v>
                </c:pt>
                <c:pt idx="94">
                  <c:v>44656</c:v>
                </c:pt>
                <c:pt idx="95">
                  <c:v>44657</c:v>
                </c:pt>
                <c:pt idx="96">
                  <c:v>44658</c:v>
                </c:pt>
                <c:pt idx="97">
                  <c:v>44659</c:v>
                </c:pt>
                <c:pt idx="98">
                  <c:v>44660</c:v>
                </c:pt>
                <c:pt idx="99">
                  <c:v>44661</c:v>
                </c:pt>
                <c:pt idx="100">
                  <c:v>44662</c:v>
                </c:pt>
                <c:pt idx="101">
                  <c:v>44663</c:v>
                </c:pt>
                <c:pt idx="102">
                  <c:v>44664</c:v>
                </c:pt>
                <c:pt idx="103">
                  <c:v>44665</c:v>
                </c:pt>
                <c:pt idx="104">
                  <c:v>44666</c:v>
                </c:pt>
                <c:pt idx="105">
                  <c:v>44667</c:v>
                </c:pt>
                <c:pt idx="106">
                  <c:v>44668</c:v>
                </c:pt>
                <c:pt idx="107">
                  <c:v>44669</c:v>
                </c:pt>
                <c:pt idx="108">
                  <c:v>44670</c:v>
                </c:pt>
                <c:pt idx="109">
                  <c:v>44671</c:v>
                </c:pt>
                <c:pt idx="110">
                  <c:v>44672</c:v>
                </c:pt>
                <c:pt idx="111">
                  <c:v>44673</c:v>
                </c:pt>
                <c:pt idx="112">
                  <c:v>44674</c:v>
                </c:pt>
                <c:pt idx="113">
                  <c:v>44675</c:v>
                </c:pt>
                <c:pt idx="114">
                  <c:v>44676</c:v>
                </c:pt>
                <c:pt idx="115">
                  <c:v>44677</c:v>
                </c:pt>
                <c:pt idx="116">
                  <c:v>44678</c:v>
                </c:pt>
                <c:pt idx="117">
                  <c:v>44679</c:v>
                </c:pt>
                <c:pt idx="118">
                  <c:v>44680</c:v>
                </c:pt>
                <c:pt idx="119">
                  <c:v>44681</c:v>
                </c:pt>
                <c:pt idx="120">
                  <c:v>44682</c:v>
                </c:pt>
                <c:pt idx="121">
                  <c:v>44683</c:v>
                </c:pt>
                <c:pt idx="122">
                  <c:v>44684</c:v>
                </c:pt>
                <c:pt idx="123">
                  <c:v>44685</c:v>
                </c:pt>
                <c:pt idx="124">
                  <c:v>44686</c:v>
                </c:pt>
                <c:pt idx="125">
                  <c:v>44687</c:v>
                </c:pt>
                <c:pt idx="126">
                  <c:v>44688</c:v>
                </c:pt>
                <c:pt idx="127">
                  <c:v>44689</c:v>
                </c:pt>
                <c:pt idx="128">
                  <c:v>44690</c:v>
                </c:pt>
                <c:pt idx="129">
                  <c:v>44691</c:v>
                </c:pt>
                <c:pt idx="130">
                  <c:v>44692</c:v>
                </c:pt>
                <c:pt idx="131">
                  <c:v>44693</c:v>
                </c:pt>
                <c:pt idx="132">
                  <c:v>44694</c:v>
                </c:pt>
                <c:pt idx="133">
                  <c:v>44695</c:v>
                </c:pt>
                <c:pt idx="134">
                  <c:v>44696</c:v>
                </c:pt>
                <c:pt idx="135">
                  <c:v>44697</c:v>
                </c:pt>
                <c:pt idx="136">
                  <c:v>44698</c:v>
                </c:pt>
                <c:pt idx="137">
                  <c:v>44699</c:v>
                </c:pt>
                <c:pt idx="138">
                  <c:v>44700</c:v>
                </c:pt>
                <c:pt idx="139">
                  <c:v>44701</c:v>
                </c:pt>
                <c:pt idx="140">
                  <c:v>44702</c:v>
                </c:pt>
                <c:pt idx="141">
                  <c:v>44703</c:v>
                </c:pt>
                <c:pt idx="142">
                  <c:v>44704</c:v>
                </c:pt>
                <c:pt idx="143">
                  <c:v>44705</c:v>
                </c:pt>
                <c:pt idx="144">
                  <c:v>44706</c:v>
                </c:pt>
                <c:pt idx="145">
                  <c:v>44707</c:v>
                </c:pt>
                <c:pt idx="146">
                  <c:v>44708</c:v>
                </c:pt>
                <c:pt idx="147">
                  <c:v>44709</c:v>
                </c:pt>
                <c:pt idx="148">
                  <c:v>44710</c:v>
                </c:pt>
                <c:pt idx="149">
                  <c:v>44711</c:v>
                </c:pt>
                <c:pt idx="150">
                  <c:v>44712</c:v>
                </c:pt>
                <c:pt idx="151">
                  <c:v>44713</c:v>
                </c:pt>
                <c:pt idx="152">
                  <c:v>44714</c:v>
                </c:pt>
                <c:pt idx="153">
                  <c:v>44715</c:v>
                </c:pt>
                <c:pt idx="154">
                  <c:v>44716</c:v>
                </c:pt>
                <c:pt idx="155">
                  <c:v>44717</c:v>
                </c:pt>
                <c:pt idx="156">
                  <c:v>44718</c:v>
                </c:pt>
                <c:pt idx="157">
                  <c:v>44719</c:v>
                </c:pt>
                <c:pt idx="158">
                  <c:v>44720</c:v>
                </c:pt>
                <c:pt idx="159">
                  <c:v>44721</c:v>
                </c:pt>
                <c:pt idx="160">
                  <c:v>44722</c:v>
                </c:pt>
                <c:pt idx="161">
                  <c:v>44723</c:v>
                </c:pt>
                <c:pt idx="162">
                  <c:v>44724</c:v>
                </c:pt>
                <c:pt idx="163">
                  <c:v>44725</c:v>
                </c:pt>
                <c:pt idx="164">
                  <c:v>44726</c:v>
                </c:pt>
                <c:pt idx="165">
                  <c:v>44727</c:v>
                </c:pt>
                <c:pt idx="166">
                  <c:v>44728</c:v>
                </c:pt>
                <c:pt idx="167">
                  <c:v>44729</c:v>
                </c:pt>
                <c:pt idx="168">
                  <c:v>44730</c:v>
                </c:pt>
                <c:pt idx="169">
                  <c:v>44731</c:v>
                </c:pt>
                <c:pt idx="170">
                  <c:v>44732</c:v>
                </c:pt>
                <c:pt idx="171">
                  <c:v>44733</c:v>
                </c:pt>
                <c:pt idx="172">
                  <c:v>44734</c:v>
                </c:pt>
                <c:pt idx="173">
                  <c:v>44735</c:v>
                </c:pt>
                <c:pt idx="174">
                  <c:v>44736</c:v>
                </c:pt>
                <c:pt idx="175">
                  <c:v>44737</c:v>
                </c:pt>
                <c:pt idx="176">
                  <c:v>44738</c:v>
                </c:pt>
                <c:pt idx="177">
                  <c:v>44739</c:v>
                </c:pt>
                <c:pt idx="178">
                  <c:v>44740</c:v>
                </c:pt>
                <c:pt idx="179">
                  <c:v>44741</c:v>
                </c:pt>
                <c:pt idx="180">
                  <c:v>44742</c:v>
                </c:pt>
                <c:pt idx="181">
                  <c:v>44743</c:v>
                </c:pt>
                <c:pt idx="182">
                  <c:v>44744</c:v>
                </c:pt>
                <c:pt idx="183">
                  <c:v>44745</c:v>
                </c:pt>
                <c:pt idx="184">
                  <c:v>44746</c:v>
                </c:pt>
                <c:pt idx="185">
                  <c:v>44747</c:v>
                </c:pt>
                <c:pt idx="186">
                  <c:v>44748</c:v>
                </c:pt>
                <c:pt idx="187">
                  <c:v>44749</c:v>
                </c:pt>
                <c:pt idx="188">
                  <c:v>44750</c:v>
                </c:pt>
                <c:pt idx="189">
                  <c:v>44751</c:v>
                </c:pt>
                <c:pt idx="190">
                  <c:v>44752</c:v>
                </c:pt>
                <c:pt idx="191">
                  <c:v>44753</c:v>
                </c:pt>
                <c:pt idx="192">
                  <c:v>44754</c:v>
                </c:pt>
                <c:pt idx="193">
                  <c:v>44755</c:v>
                </c:pt>
                <c:pt idx="194">
                  <c:v>44756</c:v>
                </c:pt>
                <c:pt idx="195">
                  <c:v>44757</c:v>
                </c:pt>
                <c:pt idx="196">
                  <c:v>44758</c:v>
                </c:pt>
                <c:pt idx="197">
                  <c:v>44759</c:v>
                </c:pt>
                <c:pt idx="198">
                  <c:v>44760</c:v>
                </c:pt>
                <c:pt idx="199">
                  <c:v>44761</c:v>
                </c:pt>
                <c:pt idx="200">
                  <c:v>44762</c:v>
                </c:pt>
                <c:pt idx="201">
                  <c:v>44763</c:v>
                </c:pt>
                <c:pt idx="202">
                  <c:v>44764</c:v>
                </c:pt>
                <c:pt idx="203">
                  <c:v>44765</c:v>
                </c:pt>
                <c:pt idx="204">
                  <c:v>44766</c:v>
                </c:pt>
                <c:pt idx="205">
                  <c:v>44767</c:v>
                </c:pt>
                <c:pt idx="206">
                  <c:v>44768</c:v>
                </c:pt>
                <c:pt idx="207">
                  <c:v>44769</c:v>
                </c:pt>
                <c:pt idx="208">
                  <c:v>44770</c:v>
                </c:pt>
                <c:pt idx="209">
                  <c:v>44771</c:v>
                </c:pt>
                <c:pt idx="210">
                  <c:v>44772</c:v>
                </c:pt>
                <c:pt idx="211">
                  <c:v>44773</c:v>
                </c:pt>
                <c:pt idx="212">
                  <c:v>44774</c:v>
                </c:pt>
                <c:pt idx="213">
                  <c:v>44775</c:v>
                </c:pt>
                <c:pt idx="214">
                  <c:v>44776</c:v>
                </c:pt>
                <c:pt idx="215">
                  <c:v>44777</c:v>
                </c:pt>
                <c:pt idx="216">
                  <c:v>44778</c:v>
                </c:pt>
                <c:pt idx="217">
                  <c:v>44779</c:v>
                </c:pt>
                <c:pt idx="218">
                  <c:v>44780</c:v>
                </c:pt>
                <c:pt idx="219">
                  <c:v>44781</c:v>
                </c:pt>
                <c:pt idx="220">
                  <c:v>44782</c:v>
                </c:pt>
                <c:pt idx="221">
                  <c:v>44783</c:v>
                </c:pt>
                <c:pt idx="222">
                  <c:v>44784</c:v>
                </c:pt>
                <c:pt idx="223">
                  <c:v>44785</c:v>
                </c:pt>
                <c:pt idx="224">
                  <c:v>44786</c:v>
                </c:pt>
                <c:pt idx="225">
                  <c:v>44787</c:v>
                </c:pt>
                <c:pt idx="226">
                  <c:v>44788</c:v>
                </c:pt>
                <c:pt idx="227">
                  <c:v>44789</c:v>
                </c:pt>
                <c:pt idx="228">
                  <c:v>44790</c:v>
                </c:pt>
                <c:pt idx="229">
                  <c:v>44791</c:v>
                </c:pt>
                <c:pt idx="230">
                  <c:v>44792</c:v>
                </c:pt>
                <c:pt idx="231">
                  <c:v>44793</c:v>
                </c:pt>
                <c:pt idx="232">
                  <c:v>44794</c:v>
                </c:pt>
                <c:pt idx="233">
                  <c:v>44795</c:v>
                </c:pt>
                <c:pt idx="234">
                  <c:v>44796</c:v>
                </c:pt>
                <c:pt idx="235">
                  <c:v>44797</c:v>
                </c:pt>
                <c:pt idx="236">
                  <c:v>44798</c:v>
                </c:pt>
                <c:pt idx="237">
                  <c:v>44799</c:v>
                </c:pt>
                <c:pt idx="238">
                  <c:v>44800</c:v>
                </c:pt>
                <c:pt idx="239">
                  <c:v>44801</c:v>
                </c:pt>
                <c:pt idx="240">
                  <c:v>44802</c:v>
                </c:pt>
                <c:pt idx="241">
                  <c:v>44803</c:v>
                </c:pt>
                <c:pt idx="242">
                  <c:v>44804</c:v>
                </c:pt>
                <c:pt idx="243">
                  <c:v>44805</c:v>
                </c:pt>
                <c:pt idx="244">
                  <c:v>44806</c:v>
                </c:pt>
                <c:pt idx="245">
                  <c:v>44807</c:v>
                </c:pt>
                <c:pt idx="246">
                  <c:v>44808</c:v>
                </c:pt>
                <c:pt idx="247">
                  <c:v>44809</c:v>
                </c:pt>
                <c:pt idx="248">
                  <c:v>44810</c:v>
                </c:pt>
                <c:pt idx="249">
                  <c:v>44811</c:v>
                </c:pt>
                <c:pt idx="250">
                  <c:v>44812</c:v>
                </c:pt>
                <c:pt idx="251">
                  <c:v>44813</c:v>
                </c:pt>
                <c:pt idx="252">
                  <c:v>44814</c:v>
                </c:pt>
                <c:pt idx="253">
                  <c:v>44815</c:v>
                </c:pt>
                <c:pt idx="254">
                  <c:v>44816</c:v>
                </c:pt>
                <c:pt idx="255">
                  <c:v>44817</c:v>
                </c:pt>
                <c:pt idx="256">
                  <c:v>44818</c:v>
                </c:pt>
                <c:pt idx="257">
                  <c:v>44819</c:v>
                </c:pt>
                <c:pt idx="258">
                  <c:v>44820</c:v>
                </c:pt>
                <c:pt idx="259">
                  <c:v>44821</c:v>
                </c:pt>
                <c:pt idx="260">
                  <c:v>44822</c:v>
                </c:pt>
                <c:pt idx="261">
                  <c:v>44823</c:v>
                </c:pt>
                <c:pt idx="262">
                  <c:v>44824</c:v>
                </c:pt>
                <c:pt idx="263">
                  <c:v>44825</c:v>
                </c:pt>
                <c:pt idx="264">
                  <c:v>44826</c:v>
                </c:pt>
                <c:pt idx="265">
                  <c:v>44827</c:v>
                </c:pt>
                <c:pt idx="266">
                  <c:v>44828</c:v>
                </c:pt>
                <c:pt idx="267">
                  <c:v>44829</c:v>
                </c:pt>
                <c:pt idx="268">
                  <c:v>44830</c:v>
                </c:pt>
                <c:pt idx="269">
                  <c:v>44831</c:v>
                </c:pt>
                <c:pt idx="270">
                  <c:v>44832</c:v>
                </c:pt>
                <c:pt idx="271">
                  <c:v>44833</c:v>
                </c:pt>
                <c:pt idx="272">
                  <c:v>44834</c:v>
                </c:pt>
                <c:pt idx="273">
                  <c:v>44835</c:v>
                </c:pt>
                <c:pt idx="274">
                  <c:v>44836</c:v>
                </c:pt>
                <c:pt idx="275">
                  <c:v>44837</c:v>
                </c:pt>
                <c:pt idx="276">
                  <c:v>44838</c:v>
                </c:pt>
                <c:pt idx="277">
                  <c:v>44839</c:v>
                </c:pt>
                <c:pt idx="278">
                  <c:v>44840</c:v>
                </c:pt>
                <c:pt idx="279">
                  <c:v>44841</c:v>
                </c:pt>
                <c:pt idx="280">
                  <c:v>44842</c:v>
                </c:pt>
                <c:pt idx="281">
                  <c:v>44843</c:v>
                </c:pt>
                <c:pt idx="282">
                  <c:v>44844</c:v>
                </c:pt>
                <c:pt idx="283">
                  <c:v>44845</c:v>
                </c:pt>
                <c:pt idx="284">
                  <c:v>44846</c:v>
                </c:pt>
                <c:pt idx="285">
                  <c:v>44847</c:v>
                </c:pt>
                <c:pt idx="286">
                  <c:v>44848</c:v>
                </c:pt>
                <c:pt idx="287">
                  <c:v>44849</c:v>
                </c:pt>
                <c:pt idx="288">
                  <c:v>44850</c:v>
                </c:pt>
                <c:pt idx="289">
                  <c:v>44851</c:v>
                </c:pt>
                <c:pt idx="290">
                  <c:v>44852</c:v>
                </c:pt>
                <c:pt idx="291">
                  <c:v>44853</c:v>
                </c:pt>
                <c:pt idx="292">
                  <c:v>44854</c:v>
                </c:pt>
                <c:pt idx="293">
                  <c:v>44855</c:v>
                </c:pt>
                <c:pt idx="294">
                  <c:v>44856</c:v>
                </c:pt>
                <c:pt idx="295">
                  <c:v>44857</c:v>
                </c:pt>
                <c:pt idx="296">
                  <c:v>44858</c:v>
                </c:pt>
                <c:pt idx="297">
                  <c:v>44859</c:v>
                </c:pt>
                <c:pt idx="298">
                  <c:v>44860</c:v>
                </c:pt>
                <c:pt idx="299">
                  <c:v>44861</c:v>
                </c:pt>
                <c:pt idx="300">
                  <c:v>44862</c:v>
                </c:pt>
                <c:pt idx="301">
                  <c:v>44863</c:v>
                </c:pt>
                <c:pt idx="302">
                  <c:v>44864</c:v>
                </c:pt>
                <c:pt idx="303">
                  <c:v>44865</c:v>
                </c:pt>
                <c:pt idx="304">
                  <c:v>44866</c:v>
                </c:pt>
                <c:pt idx="305">
                  <c:v>44867</c:v>
                </c:pt>
                <c:pt idx="306">
                  <c:v>44868</c:v>
                </c:pt>
                <c:pt idx="307">
                  <c:v>44869</c:v>
                </c:pt>
                <c:pt idx="308">
                  <c:v>44870</c:v>
                </c:pt>
                <c:pt idx="309">
                  <c:v>44871</c:v>
                </c:pt>
                <c:pt idx="310">
                  <c:v>44872</c:v>
                </c:pt>
                <c:pt idx="311">
                  <c:v>44873</c:v>
                </c:pt>
                <c:pt idx="312">
                  <c:v>44874</c:v>
                </c:pt>
                <c:pt idx="313">
                  <c:v>44875</c:v>
                </c:pt>
                <c:pt idx="314">
                  <c:v>44876</c:v>
                </c:pt>
                <c:pt idx="315">
                  <c:v>44877</c:v>
                </c:pt>
                <c:pt idx="316">
                  <c:v>44878</c:v>
                </c:pt>
                <c:pt idx="317">
                  <c:v>44879</c:v>
                </c:pt>
                <c:pt idx="318">
                  <c:v>44880</c:v>
                </c:pt>
                <c:pt idx="319">
                  <c:v>44881</c:v>
                </c:pt>
                <c:pt idx="320">
                  <c:v>44882</c:v>
                </c:pt>
                <c:pt idx="321">
                  <c:v>44883</c:v>
                </c:pt>
                <c:pt idx="322">
                  <c:v>44884</c:v>
                </c:pt>
                <c:pt idx="323">
                  <c:v>44885</c:v>
                </c:pt>
                <c:pt idx="324">
                  <c:v>44886</c:v>
                </c:pt>
                <c:pt idx="325">
                  <c:v>44887</c:v>
                </c:pt>
                <c:pt idx="326">
                  <c:v>44888</c:v>
                </c:pt>
                <c:pt idx="327">
                  <c:v>44889</c:v>
                </c:pt>
                <c:pt idx="328">
                  <c:v>44890</c:v>
                </c:pt>
                <c:pt idx="329">
                  <c:v>44891</c:v>
                </c:pt>
                <c:pt idx="330">
                  <c:v>44892</c:v>
                </c:pt>
                <c:pt idx="331">
                  <c:v>44893</c:v>
                </c:pt>
                <c:pt idx="332">
                  <c:v>44894</c:v>
                </c:pt>
                <c:pt idx="333">
                  <c:v>44895</c:v>
                </c:pt>
                <c:pt idx="334">
                  <c:v>44896</c:v>
                </c:pt>
                <c:pt idx="335">
                  <c:v>44897</c:v>
                </c:pt>
                <c:pt idx="336">
                  <c:v>44898</c:v>
                </c:pt>
                <c:pt idx="337">
                  <c:v>44899</c:v>
                </c:pt>
                <c:pt idx="338">
                  <c:v>44900</c:v>
                </c:pt>
                <c:pt idx="339">
                  <c:v>44901</c:v>
                </c:pt>
                <c:pt idx="340">
                  <c:v>44902</c:v>
                </c:pt>
                <c:pt idx="341">
                  <c:v>44903</c:v>
                </c:pt>
                <c:pt idx="342">
                  <c:v>44904</c:v>
                </c:pt>
                <c:pt idx="343">
                  <c:v>44905</c:v>
                </c:pt>
                <c:pt idx="344">
                  <c:v>44906</c:v>
                </c:pt>
                <c:pt idx="345">
                  <c:v>44907</c:v>
                </c:pt>
                <c:pt idx="346">
                  <c:v>44908</c:v>
                </c:pt>
                <c:pt idx="347">
                  <c:v>44909</c:v>
                </c:pt>
                <c:pt idx="348">
                  <c:v>44910</c:v>
                </c:pt>
                <c:pt idx="349">
                  <c:v>44911</c:v>
                </c:pt>
                <c:pt idx="350">
                  <c:v>44912</c:v>
                </c:pt>
                <c:pt idx="351">
                  <c:v>44913</c:v>
                </c:pt>
                <c:pt idx="352">
                  <c:v>44914</c:v>
                </c:pt>
                <c:pt idx="353">
                  <c:v>44915</c:v>
                </c:pt>
                <c:pt idx="354">
                  <c:v>44916</c:v>
                </c:pt>
                <c:pt idx="355">
                  <c:v>44917</c:v>
                </c:pt>
                <c:pt idx="356">
                  <c:v>44918</c:v>
                </c:pt>
                <c:pt idx="357">
                  <c:v>44919</c:v>
                </c:pt>
                <c:pt idx="358">
                  <c:v>44920</c:v>
                </c:pt>
                <c:pt idx="359">
                  <c:v>44921</c:v>
                </c:pt>
                <c:pt idx="360">
                  <c:v>44922</c:v>
                </c:pt>
                <c:pt idx="361">
                  <c:v>44923</c:v>
                </c:pt>
                <c:pt idx="362">
                  <c:v>44924</c:v>
                </c:pt>
                <c:pt idx="363">
                  <c:v>44925</c:v>
                </c:pt>
                <c:pt idx="364">
                  <c:v>44926</c:v>
                </c:pt>
              </c:numCache>
            </c:numRef>
          </c:cat>
          <c:val>
            <c:numRef>
              <c:f>Лист1!$F$3:$F$367</c:f>
              <c:numCache>
                <c:formatCode>General</c:formatCode>
                <c:ptCount val="365"/>
                <c:pt idx="0">
                  <c:v>4.51</c:v>
                </c:pt>
                <c:pt idx="1">
                  <c:v>4.51</c:v>
                </c:pt>
                <c:pt idx="2">
                  <c:v>4.51</c:v>
                </c:pt>
                <c:pt idx="3">
                  <c:v>4.59</c:v>
                </c:pt>
                <c:pt idx="4">
                  <c:v>4.59</c:v>
                </c:pt>
                <c:pt idx="5">
                  <c:v>4.59</c:v>
                </c:pt>
                <c:pt idx="6">
                  <c:v>4.51</c:v>
                </c:pt>
                <c:pt idx="7">
                  <c:v>4.51</c:v>
                </c:pt>
                <c:pt idx="8">
                  <c:v>4.51</c:v>
                </c:pt>
                <c:pt idx="9">
                  <c:v>4.51</c:v>
                </c:pt>
                <c:pt idx="10">
                  <c:v>4.51</c:v>
                </c:pt>
                <c:pt idx="11">
                  <c:v>4.51</c:v>
                </c:pt>
                <c:pt idx="12">
                  <c:v>4.51</c:v>
                </c:pt>
                <c:pt idx="13">
                  <c:v>4.43</c:v>
                </c:pt>
                <c:pt idx="14">
                  <c:v>4.58</c:v>
                </c:pt>
                <c:pt idx="15">
                  <c:v>4.5</c:v>
                </c:pt>
                <c:pt idx="16">
                  <c:v>4.34</c:v>
                </c:pt>
                <c:pt idx="17">
                  <c:v>4.26</c:v>
                </c:pt>
                <c:pt idx="18">
                  <c:v>4.34</c:v>
                </c:pt>
                <c:pt idx="19">
                  <c:v>4.42</c:v>
                </c:pt>
                <c:pt idx="20">
                  <c:v>4.42</c:v>
                </c:pt>
                <c:pt idx="21">
                  <c:v>4.42</c:v>
                </c:pt>
                <c:pt idx="22">
                  <c:v>4.5</c:v>
                </c:pt>
                <c:pt idx="23">
                  <c:v>4.42</c:v>
                </c:pt>
                <c:pt idx="24">
                  <c:v>4.42</c:v>
                </c:pt>
                <c:pt idx="25">
                  <c:v>4.42</c:v>
                </c:pt>
                <c:pt idx="26">
                  <c:v>4.34</c:v>
                </c:pt>
                <c:pt idx="27">
                  <c:v>4.42</c:v>
                </c:pt>
                <c:pt idx="28">
                  <c:v>4.57</c:v>
                </c:pt>
                <c:pt idx="29">
                  <c:v>4.6500000000000004</c:v>
                </c:pt>
                <c:pt idx="30">
                  <c:v>4.6500000000000004</c:v>
                </c:pt>
                <c:pt idx="31">
                  <c:v>4.6500000000000004</c:v>
                </c:pt>
                <c:pt idx="32">
                  <c:v>4.57</c:v>
                </c:pt>
                <c:pt idx="33">
                  <c:v>4.58</c:v>
                </c:pt>
                <c:pt idx="34">
                  <c:v>4.66</c:v>
                </c:pt>
                <c:pt idx="35">
                  <c:v>4.74</c:v>
                </c:pt>
                <c:pt idx="36">
                  <c:v>4.74</c:v>
                </c:pt>
                <c:pt idx="37">
                  <c:v>4.82</c:v>
                </c:pt>
                <c:pt idx="38">
                  <c:v>4.83</c:v>
                </c:pt>
                <c:pt idx="39">
                  <c:v>4.91</c:v>
                </c:pt>
                <c:pt idx="40">
                  <c:v>4.91</c:v>
                </c:pt>
                <c:pt idx="41">
                  <c:v>4.91</c:v>
                </c:pt>
                <c:pt idx="42">
                  <c:v>4.92</c:v>
                </c:pt>
                <c:pt idx="43">
                  <c:v>5</c:v>
                </c:pt>
                <c:pt idx="44">
                  <c:v>5.17</c:v>
                </c:pt>
                <c:pt idx="45">
                  <c:v>5.25</c:v>
                </c:pt>
                <c:pt idx="46">
                  <c:v>5.25</c:v>
                </c:pt>
                <c:pt idx="47">
                  <c:v>5.25</c:v>
                </c:pt>
                <c:pt idx="48">
                  <c:v>4.92</c:v>
                </c:pt>
                <c:pt idx="49">
                  <c:v>4.76</c:v>
                </c:pt>
                <c:pt idx="50">
                  <c:v>4.67</c:v>
                </c:pt>
                <c:pt idx="51">
                  <c:v>4.67</c:v>
                </c:pt>
                <c:pt idx="52">
                  <c:v>4.5999999999999996</c:v>
                </c:pt>
                <c:pt idx="53">
                  <c:v>4.67</c:v>
                </c:pt>
                <c:pt idx="54">
                  <c:v>4.59</c:v>
                </c:pt>
                <c:pt idx="55">
                  <c:v>4.59</c:v>
                </c:pt>
                <c:pt idx="56">
                  <c:v>4.59</c:v>
                </c:pt>
                <c:pt idx="57">
                  <c:v>4.5199999999999996</c:v>
                </c:pt>
                <c:pt idx="58">
                  <c:v>4.5199999999999996</c:v>
                </c:pt>
                <c:pt idx="59">
                  <c:v>4.5999999999999996</c:v>
                </c:pt>
                <c:pt idx="60">
                  <c:v>4.5999999999999996</c:v>
                </c:pt>
                <c:pt idx="61">
                  <c:v>4.45</c:v>
                </c:pt>
                <c:pt idx="62">
                  <c:v>4.45</c:v>
                </c:pt>
                <c:pt idx="63">
                  <c:v>4.45</c:v>
                </c:pt>
                <c:pt idx="64">
                  <c:v>4.38</c:v>
                </c:pt>
                <c:pt idx="65">
                  <c:v>4.3</c:v>
                </c:pt>
                <c:pt idx="66">
                  <c:v>4.38</c:v>
                </c:pt>
                <c:pt idx="67">
                  <c:v>4.38</c:v>
                </c:pt>
                <c:pt idx="68">
                  <c:v>4.38</c:v>
                </c:pt>
                <c:pt idx="69">
                  <c:v>4.3</c:v>
                </c:pt>
                <c:pt idx="70">
                  <c:v>4.2300000000000004</c:v>
                </c:pt>
                <c:pt idx="71">
                  <c:v>4.16</c:v>
                </c:pt>
                <c:pt idx="72">
                  <c:v>4.2300000000000004</c:v>
                </c:pt>
                <c:pt idx="73">
                  <c:v>4.24</c:v>
                </c:pt>
                <c:pt idx="74">
                  <c:v>4.38</c:v>
                </c:pt>
                <c:pt idx="75">
                  <c:v>4.53</c:v>
                </c:pt>
                <c:pt idx="76">
                  <c:v>4.6100000000000003</c:v>
                </c:pt>
                <c:pt idx="77">
                  <c:v>4.6900000000000004</c:v>
                </c:pt>
                <c:pt idx="78">
                  <c:v>4.7699999999999996</c:v>
                </c:pt>
                <c:pt idx="79">
                  <c:v>4.8499999999999996</c:v>
                </c:pt>
                <c:pt idx="80">
                  <c:v>4.93</c:v>
                </c:pt>
                <c:pt idx="81">
                  <c:v>5.01</c:v>
                </c:pt>
                <c:pt idx="82">
                  <c:v>5.01</c:v>
                </c:pt>
                <c:pt idx="83">
                  <c:v>4.93</c:v>
                </c:pt>
                <c:pt idx="84">
                  <c:v>4.6900000000000004</c:v>
                </c:pt>
                <c:pt idx="85">
                  <c:v>4.6900000000000004</c:v>
                </c:pt>
                <c:pt idx="86">
                  <c:v>4.8499999999999996</c:v>
                </c:pt>
                <c:pt idx="87">
                  <c:v>5.09</c:v>
                </c:pt>
                <c:pt idx="88">
                  <c:v>5.25</c:v>
                </c:pt>
                <c:pt idx="89">
                  <c:v>5.51</c:v>
                </c:pt>
                <c:pt idx="90">
                  <c:v>5.95</c:v>
                </c:pt>
                <c:pt idx="91">
                  <c:v>6.8</c:v>
                </c:pt>
                <c:pt idx="92">
                  <c:v>6.9</c:v>
                </c:pt>
                <c:pt idx="93">
                  <c:v>7.47</c:v>
                </c:pt>
                <c:pt idx="94">
                  <c:v>9.32</c:v>
                </c:pt>
                <c:pt idx="95">
                  <c:v>10.9</c:v>
                </c:pt>
                <c:pt idx="96">
                  <c:v>14.6</c:v>
                </c:pt>
                <c:pt idx="97">
                  <c:v>18.2</c:v>
                </c:pt>
                <c:pt idx="98">
                  <c:v>22.3</c:v>
                </c:pt>
                <c:pt idx="99">
                  <c:v>28.1</c:v>
                </c:pt>
                <c:pt idx="100">
                  <c:v>32.6</c:v>
                </c:pt>
                <c:pt idx="101">
                  <c:v>36</c:v>
                </c:pt>
                <c:pt idx="102">
                  <c:v>37.6</c:v>
                </c:pt>
                <c:pt idx="103">
                  <c:v>40</c:v>
                </c:pt>
                <c:pt idx="104">
                  <c:v>43.2</c:v>
                </c:pt>
                <c:pt idx="105">
                  <c:v>47.5</c:v>
                </c:pt>
                <c:pt idx="106">
                  <c:v>51.8</c:v>
                </c:pt>
                <c:pt idx="107">
                  <c:v>55.6</c:v>
                </c:pt>
                <c:pt idx="108">
                  <c:v>57.6</c:v>
                </c:pt>
                <c:pt idx="109">
                  <c:v>58.6</c:v>
                </c:pt>
                <c:pt idx="110">
                  <c:v>58.6</c:v>
                </c:pt>
                <c:pt idx="111">
                  <c:v>57.9</c:v>
                </c:pt>
                <c:pt idx="112">
                  <c:v>57.2</c:v>
                </c:pt>
                <c:pt idx="113">
                  <c:v>57.6</c:v>
                </c:pt>
                <c:pt idx="114">
                  <c:v>59.7</c:v>
                </c:pt>
                <c:pt idx="115">
                  <c:v>63.2</c:v>
                </c:pt>
                <c:pt idx="116">
                  <c:v>67</c:v>
                </c:pt>
                <c:pt idx="117">
                  <c:v>67.3</c:v>
                </c:pt>
                <c:pt idx="118">
                  <c:v>63.2</c:v>
                </c:pt>
                <c:pt idx="119">
                  <c:v>55.9</c:v>
                </c:pt>
                <c:pt idx="120">
                  <c:v>49.3</c:v>
                </c:pt>
                <c:pt idx="121">
                  <c:v>42.9</c:v>
                </c:pt>
                <c:pt idx="122">
                  <c:v>37.6</c:v>
                </c:pt>
                <c:pt idx="123">
                  <c:v>32.6</c:v>
                </c:pt>
                <c:pt idx="124">
                  <c:v>28.5</c:v>
                </c:pt>
                <c:pt idx="125">
                  <c:v>26.2</c:v>
                </c:pt>
                <c:pt idx="126">
                  <c:v>23.8</c:v>
                </c:pt>
                <c:pt idx="127">
                  <c:v>21.6</c:v>
                </c:pt>
                <c:pt idx="128">
                  <c:v>19.5</c:v>
                </c:pt>
                <c:pt idx="129">
                  <c:v>17.7</c:v>
                </c:pt>
                <c:pt idx="130">
                  <c:v>16.5</c:v>
                </c:pt>
                <c:pt idx="131">
                  <c:v>15.9</c:v>
                </c:pt>
                <c:pt idx="132">
                  <c:v>14.7</c:v>
                </c:pt>
                <c:pt idx="133">
                  <c:v>14.1</c:v>
                </c:pt>
                <c:pt idx="134">
                  <c:v>13.2</c:v>
                </c:pt>
                <c:pt idx="135">
                  <c:v>12.7</c:v>
                </c:pt>
                <c:pt idx="136">
                  <c:v>12</c:v>
                </c:pt>
                <c:pt idx="137">
                  <c:v>11.5</c:v>
                </c:pt>
                <c:pt idx="138">
                  <c:v>11.1</c:v>
                </c:pt>
                <c:pt idx="139">
                  <c:v>10.6</c:v>
                </c:pt>
                <c:pt idx="140">
                  <c:v>10.4</c:v>
                </c:pt>
                <c:pt idx="141">
                  <c:v>10.1</c:v>
                </c:pt>
                <c:pt idx="142">
                  <c:v>10</c:v>
                </c:pt>
                <c:pt idx="143">
                  <c:v>10</c:v>
                </c:pt>
                <c:pt idx="144">
                  <c:v>10.1</c:v>
                </c:pt>
                <c:pt idx="145">
                  <c:v>8.9</c:v>
                </c:pt>
                <c:pt idx="146">
                  <c:v>8.1999999999999993</c:v>
                </c:pt>
                <c:pt idx="147">
                  <c:v>7.28</c:v>
                </c:pt>
                <c:pt idx="148">
                  <c:v>6.71</c:v>
                </c:pt>
                <c:pt idx="149">
                  <c:v>6.61</c:v>
                </c:pt>
                <c:pt idx="150">
                  <c:v>6.51</c:v>
                </c:pt>
                <c:pt idx="151">
                  <c:v>6.31</c:v>
                </c:pt>
                <c:pt idx="152">
                  <c:v>6.47</c:v>
                </c:pt>
                <c:pt idx="153">
                  <c:v>6.55</c:v>
                </c:pt>
                <c:pt idx="154">
                  <c:v>6.27</c:v>
                </c:pt>
                <c:pt idx="155">
                  <c:v>5.72</c:v>
                </c:pt>
                <c:pt idx="156">
                  <c:v>5.14</c:v>
                </c:pt>
                <c:pt idx="157">
                  <c:v>4.74</c:v>
                </c:pt>
                <c:pt idx="158">
                  <c:v>4.4400000000000004</c:v>
                </c:pt>
                <c:pt idx="159">
                  <c:v>4.45</c:v>
                </c:pt>
                <c:pt idx="160">
                  <c:v>4.24</c:v>
                </c:pt>
                <c:pt idx="161">
                  <c:v>3.96</c:v>
                </c:pt>
                <c:pt idx="162">
                  <c:v>3.78</c:v>
                </c:pt>
                <c:pt idx="163">
                  <c:v>3.77</c:v>
                </c:pt>
                <c:pt idx="164">
                  <c:v>3.74</c:v>
                </c:pt>
                <c:pt idx="165">
                  <c:v>3.75</c:v>
                </c:pt>
                <c:pt idx="166">
                  <c:v>3.63</c:v>
                </c:pt>
                <c:pt idx="167">
                  <c:v>3.42</c:v>
                </c:pt>
                <c:pt idx="168">
                  <c:v>3.42</c:v>
                </c:pt>
                <c:pt idx="169">
                  <c:v>3.22</c:v>
                </c:pt>
                <c:pt idx="170">
                  <c:v>3.19</c:v>
                </c:pt>
                <c:pt idx="171">
                  <c:v>3.11</c:v>
                </c:pt>
                <c:pt idx="172">
                  <c:v>3.05</c:v>
                </c:pt>
                <c:pt idx="173">
                  <c:v>3.16</c:v>
                </c:pt>
                <c:pt idx="174">
                  <c:v>3.48</c:v>
                </c:pt>
                <c:pt idx="175">
                  <c:v>4.05</c:v>
                </c:pt>
                <c:pt idx="176">
                  <c:v>4.5999999999999996</c:v>
                </c:pt>
                <c:pt idx="177">
                  <c:v>4.68</c:v>
                </c:pt>
                <c:pt idx="178">
                  <c:v>4.68</c:v>
                </c:pt>
                <c:pt idx="179">
                  <c:v>4.53</c:v>
                </c:pt>
                <c:pt idx="180">
                  <c:v>4.68</c:v>
                </c:pt>
                <c:pt idx="181">
                  <c:v>5.28</c:v>
                </c:pt>
                <c:pt idx="182">
                  <c:v>5.14</c:v>
                </c:pt>
                <c:pt idx="183">
                  <c:v>4.78</c:v>
                </c:pt>
                <c:pt idx="184">
                  <c:v>4.32</c:v>
                </c:pt>
                <c:pt idx="185">
                  <c:v>3.91</c:v>
                </c:pt>
                <c:pt idx="186">
                  <c:v>3.47</c:v>
                </c:pt>
                <c:pt idx="187">
                  <c:v>3.52</c:v>
                </c:pt>
                <c:pt idx="188">
                  <c:v>3.73</c:v>
                </c:pt>
                <c:pt idx="189">
                  <c:v>3.96</c:v>
                </c:pt>
                <c:pt idx="190">
                  <c:v>4.09</c:v>
                </c:pt>
                <c:pt idx="191">
                  <c:v>3.92</c:v>
                </c:pt>
                <c:pt idx="192">
                  <c:v>3.85</c:v>
                </c:pt>
                <c:pt idx="193">
                  <c:v>3.78</c:v>
                </c:pt>
                <c:pt idx="194">
                  <c:v>3.78</c:v>
                </c:pt>
                <c:pt idx="195">
                  <c:v>3.68</c:v>
                </c:pt>
                <c:pt idx="196">
                  <c:v>3.84</c:v>
                </c:pt>
                <c:pt idx="197">
                  <c:v>3.99</c:v>
                </c:pt>
                <c:pt idx="198">
                  <c:v>3.99</c:v>
                </c:pt>
                <c:pt idx="199">
                  <c:v>3.97</c:v>
                </c:pt>
                <c:pt idx="200">
                  <c:v>3.8</c:v>
                </c:pt>
                <c:pt idx="201">
                  <c:v>3.74</c:v>
                </c:pt>
                <c:pt idx="202">
                  <c:v>3.68</c:v>
                </c:pt>
                <c:pt idx="203">
                  <c:v>3.68</c:v>
                </c:pt>
                <c:pt idx="204">
                  <c:v>3.65</c:v>
                </c:pt>
                <c:pt idx="205">
                  <c:v>3.74</c:v>
                </c:pt>
                <c:pt idx="206">
                  <c:v>3.84</c:v>
                </c:pt>
                <c:pt idx="207">
                  <c:v>3.93</c:v>
                </c:pt>
                <c:pt idx="208">
                  <c:v>4.03</c:v>
                </c:pt>
                <c:pt idx="209">
                  <c:v>4.16</c:v>
                </c:pt>
                <c:pt idx="210">
                  <c:v>4.22</c:v>
                </c:pt>
                <c:pt idx="211">
                  <c:v>4.3099999999999996</c:v>
                </c:pt>
                <c:pt idx="212">
                  <c:v>4.43</c:v>
                </c:pt>
                <c:pt idx="213">
                  <c:v>4.49</c:v>
                </c:pt>
                <c:pt idx="214">
                  <c:v>4.5599999999999996</c:v>
                </c:pt>
                <c:pt idx="215">
                  <c:v>4.5599999999999996</c:v>
                </c:pt>
                <c:pt idx="216">
                  <c:v>4.5599999999999996</c:v>
                </c:pt>
                <c:pt idx="217">
                  <c:v>4.5599999999999996</c:v>
                </c:pt>
                <c:pt idx="218">
                  <c:v>4.49</c:v>
                </c:pt>
                <c:pt idx="219">
                  <c:v>4.49</c:v>
                </c:pt>
                <c:pt idx="220">
                  <c:v>4.49</c:v>
                </c:pt>
                <c:pt idx="221">
                  <c:v>4.43</c:v>
                </c:pt>
                <c:pt idx="222">
                  <c:v>4.3499999999999996</c:v>
                </c:pt>
                <c:pt idx="223">
                  <c:v>4.24</c:v>
                </c:pt>
                <c:pt idx="224">
                  <c:v>4.16</c:v>
                </c:pt>
                <c:pt idx="225">
                  <c:v>3.99</c:v>
                </c:pt>
                <c:pt idx="226">
                  <c:v>3.91</c:v>
                </c:pt>
                <c:pt idx="227">
                  <c:v>3.84</c:v>
                </c:pt>
                <c:pt idx="228">
                  <c:v>3.8</c:v>
                </c:pt>
                <c:pt idx="229">
                  <c:v>3.74</c:v>
                </c:pt>
                <c:pt idx="230">
                  <c:v>3.72</c:v>
                </c:pt>
                <c:pt idx="231">
                  <c:v>3.68</c:v>
                </c:pt>
                <c:pt idx="232">
                  <c:v>3.68</c:v>
                </c:pt>
                <c:pt idx="233">
                  <c:v>3.65</c:v>
                </c:pt>
                <c:pt idx="234">
                  <c:v>3.68</c:v>
                </c:pt>
                <c:pt idx="235">
                  <c:v>3.89</c:v>
                </c:pt>
                <c:pt idx="236">
                  <c:v>3.89</c:v>
                </c:pt>
                <c:pt idx="237">
                  <c:v>4.03</c:v>
                </c:pt>
                <c:pt idx="238">
                  <c:v>4</c:v>
                </c:pt>
                <c:pt idx="239">
                  <c:v>4.13</c:v>
                </c:pt>
                <c:pt idx="240">
                  <c:v>4.0999999999999996</c:v>
                </c:pt>
                <c:pt idx="241">
                  <c:v>4.0999999999999996</c:v>
                </c:pt>
                <c:pt idx="242">
                  <c:v>4.3</c:v>
                </c:pt>
                <c:pt idx="243">
                  <c:v>4.55</c:v>
                </c:pt>
                <c:pt idx="244">
                  <c:v>4.78</c:v>
                </c:pt>
                <c:pt idx="245">
                  <c:v>4.9800000000000004</c:v>
                </c:pt>
                <c:pt idx="246">
                  <c:v>5.7</c:v>
                </c:pt>
                <c:pt idx="247">
                  <c:v>6.14</c:v>
                </c:pt>
                <c:pt idx="248">
                  <c:v>6.57</c:v>
                </c:pt>
                <c:pt idx="249">
                  <c:v>7.7</c:v>
                </c:pt>
                <c:pt idx="250">
                  <c:v>8.1</c:v>
                </c:pt>
                <c:pt idx="251">
                  <c:v>8.4700000000000006</c:v>
                </c:pt>
                <c:pt idx="252">
                  <c:v>8.8800000000000008</c:v>
                </c:pt>
                <c:pt idx="253">
                  <c:v>9.1</c:v>
                </c:pt>
                <c:pt idx="254">
                  <c:v>10.3</c:v>
                </c:pt>
                <c:pt idx="255">
                  <c:v>10.3</c:v>
                </c:pt>
                <c:pt idx="256">
                  <c:v>10.3</c:v>
                </c:pt>
                <c:pt idx="257">
                  <c:v>10.6</c:v>
                </c:pt>
                <c:pt idx="258">
                  <c:v>10.6</c:v>
                </c:pt>
                <c:pt idx="259">
                  <c:v>10.8</c:v>
                </c:pt>
                <c:pt idx="260">
                  <c:v>11</c:v>
                </c:pt>
                <c:pt idx="261">
                  <c:v>11</c:v>
                </c:pt>
                <c:pt idx="262">
                  <c:v>11.1</c:v>
                </c:pt>
                <c:pt idx="263">
                  <c:v>11</c:v>
                </c:pt>
                <c:pt idx="264">
                  <c:v>10.6</c:v>
                </c:pt>
                <c:pt idx="265">
                  <c:v>9.9499999999999993</c:v>
                </c:pt>
                <c:pt idx="266">
                  <c:v>9.32</c:v>
                </c:pt>
                <c:pt idx="267">
                  <c:v>8.86</c:v>
                </c:pt>
                <c:pt idx="268">
                  <c:v>8.74</c:v>
                </c:pt>
                <c:pt idx="269">
                  <c:v>9.11</c:v>
                </c:pt>
                <c:pt idx="270">
                  <c:v>9.32</c:v>
                </c:pt>
                <c:pt idx="271">
                  <c:v>9.11</c:v>
                </c:pt>
                <c:pt idx="272">
                  <c:v>8.99</c:v>
                </c:pt>
                <c:pt idx="273">
                  <c:v>8.99</c:v>
                </c:pt>
                <c:pt idx="274">
                  <c:v>8.86</c:v>
                </c:pt>
                <c:pt idx="275">
                  <c:v>8.94</c:v>
                </c:pt>
                <c:pt idx="276">
                  <c:v>8.77</c:v>
                </c:pt>
                <c:pt idx="277">
                  <c:v>8.56</c:v>
                </c:pt>
                <c:pt idx="278">
                  <c:v>8.23</c:v>
                </c:pt>
                <c:pt idx="279">
                  <c:v>7.92</c:v>
                </c:pt>
                <c:pt idx="280">
                  <c:v>8.1</c:v>
                </c:pt>
                <c:pt idx="281">
                  <c:v>7.73</c:v>
                </c:pt>
                <c:pt idx="282">
                  <c:v>7.38</c:v>
                </c:pt>
                <c:pt idx="283">
                  <c:v>7.2</c:v>
                </c:pt>
                <c:pt idx="284">
                  <c:v>7.11</c:v>
                </c:pt>
                <c:pt idx="285">
                  <c:v>7.5</c:v>
                </c:pt>
                <c:pt idx="286">
                  <c:v>7.33</c:v>
                </c:pt>
                <c:pt idx="287">
                  <c:v>7.67</c:v>
                </c:pt>
                <c:pt idx="288">
                  <c:v>8.27</c:v>
                </c:pt>
                <c:pt idx="289">
                  <c:v>8.56</c:v>
                </c:pt>
                <c:pt idx="290">
                  <c:v>8.9700000000000006</c:v>
                </c:pt>
                <c:pt idx="291">
                  <c:v>9.26</c:v>
                </c:pt>
                <c:pt idx="292">
                  <c:v>12.2</c:v>
                </c:pt>
                <c:pt idx="293">
                  <c:v>14.1</c:v>
                </c:pt>
                <c:pt idx="294">
                  <c:v>14.9</c:v>
                </c:pt>
                <c:pt idx="295">
                  <c:v>14.5</c:v>
                </c:pt>
                <c:pt idx="296">
                  <c:v>14.1</c:v>
                </c:pt>
                <c:pt idx="297">
                  <c:v>13.7</c:v>
                </c:pt>
                <c:pt idx="298">
                  <c:v>14.1</c:v>
                </c:pt>
                <c:pt idx="299">
                  <c:v>14.3</c:v>
                </c:pt>
                <c:pt idx="300">
                  <c:v>14.6</c:v>
                </c:pt>
                <c:pt idx="301">
                  <c:v>14.8</c:v>
                </c:pt>
                <c:pt idx="302">
                  <c:v>14.1</c:v>
                </c:pt>
                <c:pt idx="303">
                  <c:v>13.5</c:v>
                </c:pt>
                <c:pt idx="304">
                  <c:v>12.7</c:v>
                </c:pt>
                <c:pt idx="305">
                  <c:v>12.3</c:v>
                </c:pt>
                <c:pt idx="306">
                  <c:v>11.9</c:v>
                </c:pt>
                <c:pt idx="307">
                  <c:v>11.4</c:v>
                </c:pt>
                <c:pt idx="308">
                  <c:v>11.1</c:v>
                </c:pt>
                <c:pt idx="309">
                  <c:v>10.7</c:v>
                </c:pt>
                <c:pt idx="310">
                  <c:v>9.75</c:v>
                </c:pt>
                <c:pt idx="311">
                  <c:v>8.9700000000000006</c:v>
                </c:pt>
                <c:pt idx="312">
                  <c:v>9.0399999999999991</c:v>
                </c:pt>
                <c:pt idx="313">
                  <c:v>9.0399999999999991</c:v>
                </c:pt>
                <c:pt idx="314">
                  <c:v>9.02</c:v>
                </c:pt>
                <c:pt idx="315">
                  <c:v>9.02</c:v>
                </c:pt>
                <c:pt idx="316">
                  <c:v>9.09</c:v>
                </c:pt>
                <c:pt idx="317">
                  <c:v>9.09</c:v>
                </c:pt>
                <c:pt idx="318">
                  <c:v>8.9</c:v>
                </c:pt>
                <c:pt idx="319">
                  <c:v>8.6999999999999993</c:v>
                </c:pt>
                <c:pt idx="320">
                  <c:v>8.58</c:v>
                </c:pt>
                <c:pt idx="321">
                  <c:v>8.3800000000000008</c:v>
                </c:pt>
                <c:pt idx="322">
                  <c:v>8.1300000000000008</c:v>
                </c:pt>
                <c:pt idx="323">
                  <c:v>8</c:v>
                </c:pt>
                <c:pt idx="324">
                  <c:v>7.81</c:v>
                </c:pt>
                <c:pt idx="325">
                  <c:v>7.62</c:v>
                </c:pt>
                <c:pt idx="326">
                  <c:v>7.43</c:v>
                </c:pt>
                <c:pt idx="327">
                  <c:v>7.18</c:v>
                </c:pt>
                <c:pt idx="328">
                  <c:v>6.99</c:v>
                </c:pt>
                <c:pt idx="329">
                  <c:v>7.12</c:v>
                </c:pt>
                <c:pt idx="330">
                  <c:v>7.18</c:v>
                </c:pt>
                <c:pt idx="331">
                  <c:v>7.12</c:v>
                </c:pt>
                <c:pt idx="332">
                  <c:v>7.12</c:v>
                </c:pt>
                <c:pt idx="333">
                  <c:v>6.99</c:v>
                </c:pt>
                <c:pt idx="334">
                  <c:v>6.93</c:v>
                </c:pt>
                <c:pt idx="335">
                  <c:v>6.93</c:v>
                </c:pt>
                <c:pt idx="336">
                  <c:v>6.8</c:v>
                </c:pt>
                <c:pt idx="337">
                  <c:v>6.93</c:v>
                </c:pt>
                <c:pt idx="338">
                  <c:v>6.93</c:v>
                </c:pt>
                <c:pt idx="339">
                  <c:v>6.99</c:v>
                </c:pt>
                <c:pt idx="340">
                  <c:v>6.99</c:v>
                </c:pt>
                <c:pt idx="341">
                  <c:v>6.93</c:v>
                </c:pt>
                <c:pt idx="342">
                  <c:v>6.93</c:v>
                </c:pt>
                <c:pt idx="343">
                  <c:v>6.8</c:v>
                </c:pt>
                <c:pt idx="344">
                  <c:v>6.93</c:v>
                </c:pt>
                <c:pt idx="345">
                  <c:v>6.93</c:v>
                </c:pt>
                <c:pt idx="346">
                  <c:v>6.99</c:v>
                </c:pt>
                <c:pt idx="347">
                  <c:v>6.8</c:v>
                </c:pt>
                <c:pt idx="348">
                  <c:v>6.74</c:v>
                </c:pt>
                <c:pt idx="349">
                  <c:v>6.55</c:v>
                </c:pt>
                <c:pt idx="350">
                  <c:v>6.36</c:v>
                </c:pt>
                <c:pt idx="351">
                  <c:v>6.49</c:v>
                </c:pt>
                <c:pt idx="352">
                  <c:v>6.55</c:v>
                </c:pt>
                <c:pt idx="353">
                  <c:v>6.66</c:v>
                </c:pt>
                <c:pt idx="354">
                  <c:v>6.78</c:v>
                </c:pt>
                <c:pt idx="355">
                  <c:v>6.96</c:v>
                </c:pt>
                <c:pt idx="356">
                  <c:v>7.24</c:v>
                </c:pt>
                <c:pt idx="357">
                  <c:v>7.48</c:v>
                </c:pt>
                <c:pt idx="358">
                  <c:v>7.66</c:v>
                </c:pt>
                <c:pt idx="359">
                  <c:v>7.91</c:v>
                </c:pt>
                <c:pt idx="360">
                  <c:v>8.02</c:v>
                </c:pt>
                <c:pt idx="361">
                  <c:v>8.32</c:v>
                </c:pt>
                <c:pt idx="362">
                  <c:v>8.51</c:v>
                </c:pt>
                <c:pt idx="363">
                  <c:v>8.66</c:v>
                </c:pt>
                <c:pt idx="364">
                  <c:v>8.7799999999999994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0-CF00-4BC4-94D0-E118354B0F71}"/>
            </c:ext>
          </c:extLst>
        </c:ser>
        <c:ser>
          <c:idx val="1"/>
          <c:order val="1"/>
          <c:tx>
            <c:v>средний по водности 2020</c:v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Ref>
              <c:f>Лист1!$G$3:$G$367</c:f>
              <c:numCache>
                <c:formatCode>General</c:formatCode>
                <c:ptCount val="365"/>
                <c:pt idx="0">
                  <c:v>6.08</c:v>
                </c:pt>
                <c:pt idx="1">
                  <c:v>5.83</c:v>
                </c:pt>
                <c:pt idx="2">
                  <c:v>5.67</c:v>
                </c:pt>
                <c:pt idx="3">
                  <c:v>5.59</c:v>
                </c:pt>
                <c:pt idx="4">
                  <c:v>5.44</c:v>
                </c:pt>
                <c:pt idx="5">
                  <c:v>5.13</c:v>
                </c:pt>
                <c:pt idx="6">
                  <c:v>5.0599999999999996</c:v>
                </c:pt>
                <c:pt idx="7">
                  <c:v>4.91</c:v>
                </c:pt>
                <c:pt idx="8">
                  <c:v>4.84</c:v>
                </c:pt>
                <c:pt idx="9">
                  <c:v>4.83</c:v>
                </c:pt>
                <c:pt idx="10">
                  <c:v>4.9000000000000004</c:v>
                </c:pt>
                <c:pt idx="11">
                  <c:v>4.6900000000000004</c:v>
                </c:pt>
                <c:pt idx="12">
                  <c:v>4.6900000000000004</c:v>
                </c:pt>
                <c:pt idx="13">
                  <c:v>4.62</c:v>
                </c:pt>
                <c:pt idx="14">
                  <c:v>4.62</c:v>
                </c:pt>
                <c:pt idx="15">
                  <c:v>4.6900000000000004</c:v>
                </c:pt>
                <c:pt idx="16">
                  <c:v>4.83</c:v>
                </c:pt>
                <c:pt idx="17">
                  <c:v>5.24</c:v>
                </c:pt>
                <c:pt idx="18">
                  <c:v>5.59</c:v>
                </c:pt>
                <c:pt idx="19">
                  <c:v>5.59</c:v>
                </c:pt>
                <c:pt idx="20">
                  <c:v>5.38</c:v>
                </c:pt>
                <c:pt idx="21">
                  <c:v>5.45</c:v>
                </c:pt>
                <c:pt idx="22">
                  <c:v>5.59</c:v>
                </c:pt>
                <c:pt idx="23">
                  <c:v>5.0999999999999996</c:v>
                </c:pt>
                <c:pt idx="24">
                  <c:v>5.24</c:v>
                </c:pt>
                <c:pt idx="25">
                  <c:v>5.36</c:v>
                </c:pt>
                <c:pt idx="26">
                  <c:v>5.16</c:v>
                </c:pt>
                <c:pt idx="27">
                  <c:v>5.43</c:v>
                </c:pt>
                <c:pt idx="28">
                  <c:v>4.41</c:v>
                </c:pt>
                <c:pt idx="29">
                  <c:v>4.95</c:v>
                </c:pt>
                <c:pt idx="30">
                  <c:v>5.01</c:v>
                </c:pt>
                <c:pt idx="31">
                  <c:v>4.9400000000000004</c:v>
                </c:pt>
                <c:pt idx="32">
                  <c:v>4.8099999999999996</c:v>
                </c:pt>
                <c:pt idx="33">
                  <c:v>4.7300000000000004</c:v>
                </c:pt>
                <c:pt idx="34">
                  <c:v>4.79</c:v>
                </c:pt>
                <c:pt idx="35">
                  <c:v>4.79</c:v>
                </c:pt>
                <c:pt idx="36">
                  <c:v>4.79</c:v>
                </c:pt>
                <c:pt idx="37">
                  <c:v>4.2</c:v>
                </c:pt>
                <c:pt idx="38">
                  <c:v>4.54</c:v>
                </c:pt>
                <c:pt idx="39">
                  <c:v>4.54</c:v>
                </c:pt>
                <c:pt idx="40">
                  <c:v>4.4000000000000004</c:v>
                </c:pt>
                <c:pt idx="41">
                  <c:v>4.68</c:v>
                </c:pt>
                <c:pt idx="42">
                  <c:v>4.75</c:v>
                </c:pt>
                <c:pt idx="43">
                  <c:v>4.6900000000000004</c:v>
                </c:pt>
                <c:pt idx="44">
                  <c:v>4.55</c:v>
                </c:pt>
                <c:pt idx="45">
                  <c:v>4.55</c:v>
                </c:pt>
                <c:pt idx="46">
                  <c:v>4.62</c:v>
                </c:pt>
                <c:pt idx="47">
                  <c:v>4.76</c:v>
                </c:pt>
                <c:pt idx="48">
                  <c:v>5.05</c:v>
                </c:pt>
                <c:pt idx="49">
                  <c:v>5.36</c:v>
                </c:pt>
                <c:pt idx="50">
                  <c:v>6.31</c:v>
                </c:pt>
                <c:pt idx="51">
                  <c:v>7.04</c:v>
                </c:pt>
                <c:pt idx="52">
                  <c:v>7.05</c:v>
                </c:pt>
                <c:pt idx="53">
                  <c:v>6.74</c:v>
                </c:pt>
                <c:pt idx="54">
                  <c:v>6.66</c:v>
                </c:pt>
                <c:pt idx="55">
                  <c:v>6.41</c:v>
                </c:pt>
                <c:pt idx="56">
                  <c:v>6.49</c:v>
                </c:pt>
                <c:pt idx="57">
                  <c:v>6.64</c:v>
                </c:pt>
                <c:pt idx="58">
                  <c:v>7.24</c:v>
                </c:pt>
                <c:pt idx="59">
                  <c:v>9.9</c:v>
                </c:pt>
                <c:pt idx="60">
                  <c:v>9.18</c:v>
                </c:pt>
                <c:pt idx="61">
                  <c:v>9.9</c:v>
                </c:pt>
                <c:pt idx="62">
                  <c:v>12</c:v>
                </c:pt>
                <c:pt idx="63">
                  <c:v>12.2</c:v>
                </c:pt>
                <c:pt idx="64">
                  <c:v>11.4</c:v>
                </c:pt>
                <c:pt idx="65">
                  <c:v>11.9</c:v>
                </c:pt>
                <c:pt idx="66">
                  <c:v>15</c:v>
                </c:pt>
                <c:pt idx="67">
                  <c:v>18.100000000000001</c:v>
                </c:pt>
                <c:pt idx="68">
                  <c:v>19.399999999999999</c:v>
                </c:pt>
                <c:pt idx="69">
                  <c:v>19.7</c:v>
                </c:pt>
                <c:pt idx="70">
                  <c:v>20</c:v>
                </c:pt>
                <c:pt idx="71">
                  <c:v>20</c:v>
                </c:pt>
                <c:pt idx="72">
                  <c:v>20.5</c:v>
                </c:pt>
                <c:pt idx="73">
                  <c:v>20.5</c:v>
                </c:pt>
                <c:pt idx="74">
                  <c:v>19.8</c:v>
                </c:pt>
                <c:pt idx="75">
                  <c:v>19</c:v>
                </c:pt>
                <c:pt idx="76">
                  <c:v>18.899999999999999</c:v>
                </c:pt>
                <c:pt idx="77">
                  <c:v>19.2</c:v>
                </c:pt>
                <c:pt idx="78">
                  <c:v>19</c:v>
                </c:pt>
                <c:pt idx="79">
                  <c:v>19.2</c:v>
                </c:pt>
                <c:pt idx="80">
                  <c:v>18.100000000000001</c:v>
                </c:pt>
                <c:pt idx="81">
                  <c:v>15.8</c:v>
                </c:pt>
                <c:pt idx="82">
                  <c:v>14.2</c:v>
                </c:pt>
                <c:pt idx="83">
                  <c:v>13.3</c:v>
                </c:pt>
                <c:pt idx="84">
                  <c:v>12.5</c:v>
                </c:pt>
                <c:pt idx="85">
                  <c:v>11.3</c:v>
                </c:pt>
                <c:pt idx="86">
                  <c:v>11.1</c:v>
                </c:pt>
                <c:pt idx="87">
                  <c:v>11</c:v>
                </c:pt>
                <c:pt idx="88">
                  <c:v>10.7</c:v>
                </c:pt>
                <c:pt idx="89">
                  <c:v>10.7</c:v>
                </c:pt>
                <c:pt idx="90">
                  <c:v>10.8</c:v>
                </c:pt>
                <c:pt idx="91">
                  <c:v>10.5</c:v>
                </c:pt>
                <c:pt idx="92">
                  <c:v>10.4</c:v>
                </c:pt>
                <c:pt idx="93">
                  <c:v>10.3</c:v>
                </c:pt>
                <c:pt idx="94">
                  <c:v>9.9</c:v>
                </c:pt>
                <c:pt idx="95">
                  <c:v>9.66</c:v>
                </c:pt>
                <c:pt idx="96">
                  <c:v>9.42</c:v>
                </c:pt>
                <c:pt idx="97">
                  <c:v>9.06</c:v>
                </c:pt>
                <c:pt idx="98">
                  <c:v>9.18</c:v>
                </c:pt>
                <c:pt idx="99">
                  <c:v>8.82</c:v>
                </c:pt>
                <c:pt idx="100">
                  <c:v>8.82</c:v>
                </c:pt>
                <c:pt idx="101">
                  <c:v>8.94</c:v>
                </c:pt>
                <c:pt idx="102">
                  <c:v>8.82</c:v>
                </c:pt>
                <c:pt idx="103">
                  <c:v>8.34</c:v>
                </c:pt>
                <c:pt idx="104">
                  <c:v>8.2200000000000006</c:v>
                </c:pt>
                <c:pt idx="105">
                  <c:v>8.58</c:v>
                </c:pt>
                <c:pt idx="106">
                  <c:v>8.6999999999999993</c:v>
                </c:pt>
                <c:pt idx="107">
                  <c:v>9.42</c:v>
                </c:pt>
                <c:pt idx="108">
                  <c:v>9.42</c:v>
                </c:pt>
                <c:pt idx="109">
                  <c:v>9.5399999999999991</c:v>
                </c:pt>
                <c:pt idx="110">
                  <c:v>9.5399999999999991</c:v>
                </c:pt>
                <c:pt idx="111">
                  <c:v>10.1</c:v>
                </c:pt>
                <c:pt idx="112">
                  <c:v>11.4</c:v>
                </c:pt>
                <c:pt idx="113">
                  <c:v>12.5</c:v>
                </c:pt>
                <c:pt idx="114">
                  <c:v>12.8</c:v>
                </c:pt>
                <c:pt idx="115">
                  <c:v>14.2</c:v>
                </c:pt>
                <c:pt idx="116">
                  <c:v>17.100000000000001</c:v>
                </c:pt>
                <c:pt idx="117">
                  <c:v>20.6</c:v>
                </c:pt>
                <c:pt idx="118">
                  <c:v>22.6</c:v>
                </c:pt>
                <c:pt idx="119">
                  <c:v>24.5</c:v>
                </c:pt>
                <c:pt idx="120">
                  <c:v>26.2</c:v>
                </c:pt>
                <c:pt idx="121">
                  <c:v>26.4</c:v>
                </c:pt>
                <c:pt idx="122">
                  <c:v>26.7</c:v>
                </c:pt>
                <c:pt idx="123">
                  <c:v>25.8</c:v>
                </c:pt>
                <c:pt idx="124">
                  <c:v>25</c:v>
                </c:pt>
                <c:pt idx="125">
                  <c:v>24</c:v>
                </c:pt>
                <c:pt idx="126">
                  <c:v>23.8</c:v>
                </c:pt>
                <c:pt idx="127">
                  <c:v>20.5</c:v>
                </c:pt>
                <c:pt idx="128">
                  <c:v>18.7</c:v>
                </c:pt>
                <c:pt idx="129">
                  <c:v>17.3</c:v>
                </c:pt>
                <c:pt idx="130">
                  <c:v>15.2</c:v>
                </c:pt>
                <c:pt idx="131">
                  <c:v>12.9</c:v>
                </c:pt>
                <c:pt idx="132">
                  <c:v>12.1</c:v>
                </c:pt>
                <c:pt idx="133">
                  <c:v>11</c:v>
                </c:pt>
                <c:pt idx="134">
                  <c:v>10.8</c:v>
                </c:pt>
                <c:pt idx="135">
                  <c:v>10.3</c:v>
                </c:pt>
                <c:pt idx="136">
                  <c:v>9.4600000000000009</c:v>
                </c:pt>
                <c:pt idx="137">
                  <c:v>9.19</c:v>
                </c:pt>
                <c:pt idx="138">
                  <c:v>9.4499999999999993</c:v>
                </c:pt>
                <c:pt idx="139">
                  <c:v>9.7200000000000006</c:v>
                </c:pt>
                <c:pt idx="140">
                  <c:v>8.69</c:v>
                </c:pt>
                <c:pt idx="141">
                  <c:v>8.99</c:v>
                </c:pt>
                <c:pt idx="142">
                  <c:v>8.7100000000000009</c:v>
                </c:pt>
                <c:pt idx="143">
                  <c:v>9.24</c:v>
                </c:pt>
                <c:pt idx="144">
                  <c:v>10.5</c:v>
                </c:pt>
                <c:pt idx="145">
                  <c:v>10.5</c:v>
                </c:pt>
                <c:pt idx="146">
                  <c:v>11</c:v>
                </c:pt>
                <c:pt idx="147">
                  <c:v>10.9</c:v>
                </c:pt>
                <c:pt idx="148">
                  <c:v>10.4</c:v>
                </c:pt>
                <c:pt idx="149">
                  <c:v>10.1</c:v>
                </c:pt>
                <c:pt idx="150">
                  <c:v>8.84</c:v>
                </c:pt>
                <c:pt idx="151">
                  <c:v>8.6300000000000008</c:v>
                </c:pt>
                <c:pt idx="152">
                  <c:v>8.1199999999999992</c:v>
                </c:pt>
                <c:pt idx="153">
                  <c:v>8.02</c:v>
                </c:pt>
                <c:pt idx="154">
                  <c:v>7.82</c:v>
                </c:pt>
                <c:pt idx="155">
                  <c:v>7.73</c:v>
                </c:pt>
                <c:pt idx="156">
                  <c:v>8.42</c:v>
                </c:pt>
                <c:pt idx="157">
                  <c:v>8.44</c:v>
                </c:pt>
                <c:pt idx="158">
                  <c:v>7.8</c:v>
                </c:pt>
                <c:pt idx="159">
                  <c:v>7.4</c:v>
                </c:pt>
                <c:pt idx="160">
                  <c:v>7.27</c:v>
                </c:pt>
                <c:pt idx="161">
                  <c:v>6.34</c:v>
                </c:pt>
                <c:pt idx="162">
                  <c:v>6.25</c:v>
                </c:pt>
                <c:pt idx="163">
                  <c:v>6.49</c:v>
                </c:pt>
                <c:pt idx="164">
                  <c:v>6.6</c:v>
                </c:pt>
                <c:pt idx="165">
                  <c:v>6.18</c:v>
                </c:pt>
                <c:pt idx="166">
                  <c:v>5.32</c:v>
                </c:pt>
                <c:pt idx="167">
                  <c:v>5.6</c:v>
                </c:pt>
                <c:pt idx="168">
                  <c:v>5.9</c:v>
                </c:pt>
                <c:pt idx="169">
                  <c:v>5.57</c:v>
                </c:pt>
                <c:pt idx="170">
                  <c:v>5.25</c:v>
                </c:pt>
                <c:pt idx="171">
                  <c:v>5.4</c:v>
                </c:pt>
                <c:pt idx="172">
                  <c:v>5.36</c:v>
                </c:pt>
                <c:pt idx="173">
                  <c:v>4.87</c:v>
                </c:pt>
                <c:pt idx="174">
                  <c:v>5</c:v>
                </c:pt>
                <c:pt idx="175">
                  <c:v>4.75</c:v>
                </c:pt>
                <c:pt idx="176">
                  <c:v>4.3899999999999997</c:v>
                </c:pt>
                <c:pt idx="177">
                  <c:v>4.46</c:v>
                </c:pt>
                <c:pt idx="178">
                  <c:v>4.3</c:v>
                </c:pt>
                <c:pt idx="179">
                  <c:v>4.33</c:v>
                </c:pt>
                <c:pt idx="180">
                  <c:v>4.04</c:v>
                </c:pt>
                <c:pt idx="181">
                  <c:v>3.67</c:v>
                </c:pt>
                <c:pt idx="182">
                  <c:v>3.53</c:v>
                </c:pt>
                <c:pt idx="183">
                  <c:v>3.48</c:v>
                </c:pt>
                <c:pt idx="184">
                  <c:v>3.42</c:v>
                </c:pt>
                <c:pt idx="185">
                  <c:v>3.36</c:v>
                </c:pt>
                <c:pt idx="186">
                  <c:v>3.5</c:v>
                </c:pt>
                <c:pt idx="187">
                  <c:v>3.57</c:v>
                </c:pt>
                <c:pt idx="188">
                  <c:v>3.45</c:v>
                </c:pt>
                <c:pt idx="189">
                  <c:v>3.31</c:v>
                </c:pt>
                <c:pt idx="190">
                  <c:v>3.28</c:v>
                </c:pt>
                <c:pt idx="191">
                  <c:v>3.19</c:v>
                </c:pt>
                <c:pt idx="192">
                  <c:v>3.19</c:v>
                </c:pt>
                <c:pt idx="193">
                  <c:v>3.19</c:v>
                </c:pt>
                <c:pt idx="194">
                  <c:v>3.28</c:v>
                </c:pt>
                <c:pt idx="195">
                  <c:v>3.42</c:v>
                </c:pt>
                <c:pt idx="196">
                  <c:v>3.44</c:v>
                </c:pt>
                <c:pt idx="197">
                  <c:v>3.63</c:v>
                </c:pt>
                <c:pt idx="198">
                  <c:v>3.65</c:v>
                </c:pt>
                <c:pt idx="199">
                  <c:v>3.84</c:v>
                </c:pt>
                <c:pt idx="200">
                  <c:v>4.16</c:v>
                </c:pt>
                <c:pt idx="201">
                  <c:v>4.9000000000000004</c:v>
                </c:pt>
                <c:pt idx="202">
                  <c:v>5.81</c:v>
                </c:pt>
                <c:pt idx="203">
                  <c:v>6.55</c:v>
                </c:pt>
                <c:pt idx="204">
                  <c:v>6.9</c:v>
                </c:pt>
                <c:pt idx="205">
                  <c:v>6.4</c:v>
                </c:pt>
                <c:pt idx="206">
                  <c:v>5.77</c:v>
                </c:pt>
                <c:pt idx="207">
                  <c:v>5.01</c:v>
                </c:pt>
                <c:pt idx="208">
                  <c:v>4.75</c:v>
                </c:pt>
                <c:pt idx="209">
                  <c:v>4.42</c:v>
                </c:pt>
                <c:pt idx="210">
                  <c:v>4.1500000000000004</c:v>
                </c:pt>
                <c:pt idx="211">
                  <c:v>4.13</c:v>
                </c:pt>
                <c:pt idx="212">
                  <c:v>4</c:v>
                </c:pt>
                <c:pt idx="213">
                  <c:v>4.29</c:v>
                </c:pt>
                <c:pt idx="214">
                  <c:v>4.96</c:v>
                </c:pt>
                <c:pt idx="215">
                  <c:v>5.46</c:v>
                </c:pt>
                <c:pt idx="216">
                  <c:v>5.43</c:v>
                </c:pt>
                <c:pt idx="217">
                  <c:v>4.96</c:v>
                </c:pt>
                <c:pt idx="218">
                  <c:v>4.5599999999999996</c:v>
                </c:pt>
                <c:pt idx="219">
                  <c:v>4.32</c:v>
                </c:pt>
                <c:pt idx="220">
                  <c:v>4.1100000000000003</c:v>
                </c:pt>
                <c:pt idx="221">
                  <c:v>3.93</c:v>
                </c:pt>
                <c:pt idx="222">
                  <c:v>3.72</c:v>
                </c:pt>
                <c:pt idx="223">
                  <c:v>3.5</c:v>
                </c:pt>
                <c:pt idx="224">
                  <c:v>3.3</c:v>
                </c:pt>
                <c:pt idx="225">
                  <c:v>3.45</c:v>
                </c:pt>
                <c:pt idx="226">
                  <c:v>3.8</c:v>
                </c:pt>
                <c:pt idx="227">
                  <c:v>3.93</c:v>
                </c:pt>
                <c:pt idx="228">
                  <c:v>4.1500000000000004</c:v>
                </c:pt>
                <c:pt idx="229">
                  <c:v>4.5</c:v>
                </c:pt>
                <c:pt idx="230">
                  <c:v>4.67</c:v>
                </c:pt>
                <c:pt idx="231">
                  <c:v>4.9800000000000004</c:v>
                </c:pt>
                <c:pt idx="232">
                  <c:v>5.25</c:v>
                </c:pt>
                <c:pt idx="233">
                  <c:v>5.46</c:v>
                </c:pt>
                <c:pt idx="234">
                  <c:v>5.19</c:v>
                </c:pt>
                <c:pt idx="235">
                  <c:v>4.84</c:v>
                </c:pt>
                <c:pt idx="236">
                  <c:v>4.7</c:v>
                </c:pt>
                <c:pt idx="237">
                  <c:v>4.32</c:v>
                </c:pt>
                <c:pt idx="238">
                  <c:v>4.0999999999999996</c:v>
                </c:pt>
                <c:pt idx="239">
                  <c:v>3.94</c:v>
                </c:pt>
                <c:pt idx="240">
                  <c:v>3.81</c:v>
                </c:pt>
                <c:pt idx="241">
                  <c:v>3.73</c:v>
                </c:pt>
                <c:pt idx="242">
                  <c:v>3.62</c:v>
                </c:pt>
                <c:pt idx="243">
                  <c:v>3.51</c:v>
                </c:pt>
                <c:pt idx="244">
                  <c:v>3.4</c:v>
                </c:pt>
                <c:pt idx="245">
                  <c:v>3.32</c:v>
                </c:pt>
                <c:pt idx="246">
                  <c:v>3.24</c:v>
                </c:pt>
                <c:pt idx="247">
                  <c:v>3.21</c:v>
                </c:pt>
                <c:pt idx="248">
                  <c:v>3.16</c:v>
                </c:pt>
                <c:pt idx="249">
                  <c:v>3.16</c:v>
                </c:pt>
                <c:pt idx="250">
                  <c:v>3.13</c:v>
                </c:pt>
                <c:pt idx="251">
                  <c:v>3.08</c:v>
                </c:pt>
                <c:pt idx="252">
                  <c:v>3.08</c:v>
                </c:pt>
                <c:pt idx="253">
                  <c:v>3.08</c:v>
                </c:pt>
                <c:pt idx="254">
                  <c:v>3.08</c:v>
                </c:pt>
                <c:pt idx="255">
                  <c:v>3.13</c:v>
                </c:pt>
                <c:pt idx="256">
                  <c:v>3.21</c:v>
                </c:pt>
                <c:pt idx="257">
                  <c:v>3.24</c:v>
                </c:pt>
                <c:pt idx="258">
                  <c:v>3.24</c:v>
                </c:pt>
                <c:pt idx="259">
                  <c:v>3.24</c:v>
                </c:pt>
                <c:pt idx="260">
                  <c:v>3.24</c:v>
                </c:pt>
                <c:pt idx="261">
                  <c:v>3.16</c:v>
                </c:pt>
                <c:pt idx="262">
                  <c:v>3.13</c:v>
                </c:pt>
                <c:pt idx="263">
                  <c:v>3.08</c:v>
                </c:pt>
                <c:pt idx="264">
                  <c:v>3.05</c:v>
                </c:pt>
                <c:pt idx="265">
                  <c:v>3</c:v>
                </c:pt>
                <c:pt idx="266">
                  <c:v>2.92</c:v>
                </c:pt>
                <c:pt idx="267">
                  <c:v>2.89</c:v>
                </c:pt>
                <c:pt idx="268">
                  <c:v>2.84</c:v>
                </c:pt>
                <c:pt idx="269">
                  <c:v>2.78</c:v>
                </c:pt>
                <c:pt idx="270">
                  <c:v>2.73</c:v>
                </c:pt>
                <c:pt idx="271">
                  <c:v>2.67</c:v>
                </c:pt>
                <c:pt idx="272">
                  <c:v>2.64</c:v>
                </c:pt>
                <c:pt idx="273">
                  <c:v>2.61</c:v>
                </c:pt>
                <c:pt idx="274">
                  <c:v>2.58</c:v>
                </c:pt>
                <c:pt idx="275">
                  <c:v>2.54</c:v>
                </c:pt>
                <c:pt idx="276">
                  <c:v>2.54</c:v>
                </c:pt>
                <c:pt idx="277">
                  <c:v>2.58</c:v>
                </c:pt>
                <c:pt idx="278">
                  <c:v>2.5099999999999998</c:v>
                </c:pt>
                <c:pt idx="279">
                  <c:v>2.57</c:v>
                </c:pt>
                <c:pt idx="280">
                  <c:v>2.57</c:v>
                </c:pt>
                <c:pt idx="281">
                  <c:v>2.63</c:v>
                </c:pt>
                <c:pt idx="282">
                  <c:v>2.68</c:v>
                </c:pt>
                <c:pt idx="283">
                  <c:v>2.73</c:v>
                </c:pt>
                <c:pt idx="284">
                  <c:v>2.78</c:v>
                </c:pt>
                <c:pt idx="285">
                  <c:v>2.87</c:v>
                </c:pt>
                <c:pt idx="286">
                  <c:v>3</c:v>
                </c:pt>
                <c:pt idx="287">
                  <c:v>3.04</c:v>
                </c:pt>
                <c:pt idx="288">
                  <c:v>3.05</c:v>
                </c:pt>
                <c:pt idx="289">
                  <c:v>3.09</c:v>
                </c:pt>
                <c:pt idx="290">
                  <c:v>3.17</c:v>
                </c:pt>
                <c:pt idx="291">
                  <c:v>3.35</c:v>
                </c:pt>
                <c:pt idx="292">
                  <c:v>3.44</c:v>
                </c:pt>
                <c:pt idx="293">
                  <c:v>3.49</c:v>
                </c:pt>
                <c:pt idx="294">
                  <c:v>3.43</c:v>
                </c:pt>
                <c:pt idx="295">
                  <c:v>3.42</c:v>
                </c:pt>
                <c:pt idx="296">
                  <c:v>3.55</c:v>
                </c:pt>
                <c:pt idx="297">
                  <c:v>3.64</c:v>
                </c:pt>
                <c:pt idx="298">
                  <c:v>3.72</c:v>
                </c:pt>
                <c:pt idx="299">
                  <c:v>3.78</c:v>
                </c:pt>
                <c:pt idx="300">
                  <c:v>3.86</c:v>
                </c:pt>
                <c:pt idx="301">
                  <c:v>4</c:v>
                </c:pt>
                <c:pt idx="302">
                  <c:v>4.09</c:v>
                </c:pt>
                <c:pt idx="303">
                  <c:v>4.1100000000000003</c:v>
                </c:pt>
                <c:pt idx="304">
                  <c:v>4.1900000000000004</c:v>
                </c:pt>
                <c:pt idx="305">
                  <c:v>4.21</c:v>
                </c:pt>
                <c:pt idx="306">
                  <c:v>4.2300000000000004</c:v>
                </c:pt>
                <c:pt idx="307">
                  <c:v>4.3099999999999996</c:v>
                </c:pt>
                <c:pt idx="308">
                  <c:v>4.26</c:v>
                </c:pt>
                <c:pt idx="309">
                  <c:v>4.3899999999999997</c:v>
                </c:pt>
                <c:pt idx="310">
                  <c:v>4.41</c:v>
                </c:pt>
                <c:pt idx="311">
                  <c:v>4.55</c:v>
                </c:pt>
                <c:pt idx="312">
                  <c:v>4.55</c:v>
                </c:pt>
                <c:pt idx="313">
                  <c:v>4.51</c:v>
                </c:pt>
                <c:pt idx="314">
                  <c:v>4.4400000000000004</c:v>
                </c:pt>
                <c:pt idx="315">
                  <c:v>4.38</c:v>
                </c:pt>
                <c:pt idx="316">
                  <c:v>4.38</c:v>
                </c:pt>
                <c:pt idx="317">
                  <c:v>4.32</c:v>
                </c:pt>
                <c:pt idx="318">
                  <c:v>4.32</c:v>
                </c:pt>
                <c:pt idx="319">
                  <c:v>4.25</c:v>
                </c:pt>
                <c:pt idx="320">
                  <c:v>3.55</c:v>
                </c:pt>
                <c:pt idx="321">
                  <c:v>3.61</c:v>
                </c:pt>
                <c:pt idx="322">
                  <c:v>3.93</c:v>
                </c:pt>
                <c:pt idx="323">
                  <c:v>4.13</c:v>
                </c:pt>
                <c:pt idx="324">
                  <c:v>4.26</c:v>
                </c:pt>
                <c:pt idx="325">
                  <c:v>4.13</c:v>
                </c:pt>
                <c:pt idx="326">
                  <c:v>4.13</c:v>
                </c:pt>
                <c:pt idx="327">
                  <c:v>4.13</c:v>
                </c:pt>
                <c:pt idx="328">
                  <c:v>4.13</c:v>
                </c:pt>
                <c:pt idx="329">
                  <c:v>4.33</c:v>
                </c:pt>
                <c:pt idx="330">
                  <c:v>4.2</c:v>
                </c:pt>
                <c:pt idx="331">
                  <c:v>4.2</c:v>
                </c:pt>
                <c:pt idx="332">
                  <c:v>4.2</c:v>
                </c:pt>
                <c:pt idx="333">
                  <c:v>4.2</c:v>
                </c:pt>
                <c:pt idx="334">
                  <c:v>4.99</c:v>
                </c:pt>
                <c:pt idx="335">
                  <c:v>4</c:v>
                </c:pt>
                <c:pt idx="336">
                  <c:v>3.42</c:v>
                </c:pt>
                <c:pt idx="337">
                  <c:v>3.42</c:v>
                </c:pt>
                <c:pt idx="338">
                  <c:v>3.94</c:v>
                </c:pt>
                <c:pt idx="339">
                  <c:v>4.07</c:v>
                </c:pt>
                <c:pt idx="340">
                  <c:v>4</c:v>
                </c:pt>
                <c:pt idx="341">
                  <c:v>3.8</c:v>
                </c:pt>
                <c:pt idx="342">
                  <c:v>3.68</c:v>
                </c:pt>
                <c:pt idx="343">
                  <c:v>3.61</c:v>
                </c:pt>
                <c:pt idx="344">
                  <c:v>3.55</c:v>
                </c:pt>
                <c:pt idx="345">
                  <c:v>3.55</c:v>
                </c:pt>
                <c:pt idx="346">
                  <c:v>3.49</c:v>
                </c:pt>
                <c:pt idx="347">
                  <c:v>3.49</c:v>
                </c:pt>
                <c:pt idx="348">
                  <c:v>3.49</c:v>
                </c:pt>
                <c:pt idx="349">
                  <c:v>3.55</c:v>
                </c:pt>
                <c:pt idx="350">
                  <c:v>3.55</c:v>
                </c:pt>
                <c:pt idx="351">
                  <c:v>3.55</c:v>
                </c:pt>
                <c:pt idx="352">
                  <c:v>3.55</c:v>
                </c:pt>
                <c:pt idx="353">
                  <c:v>3.55</c:v>
                </c:pt>
                <c:pt idx="354">
                  <c:v>3.49</c:v>
                </c:pt>
                <c:pt idx="355">
                  <c:v>3.49</c:v>
                </c:pt>
                <c:pt idx="356">
                  <c:v>3.49</c:v>
                </c:pt>
                <c:pt idx="357">
                  <c:v>3.49</c:v>
                </c:pt>
                <c:pt idx="358">
                  <c:v>3.49</c:v>
                </c:pt>
                <c:pt idx="359">
                  <c:v>3.43</c:v>
                </c:pt>
                <c:pt idx="360">
                  <c:v>3.43</c:v>
                </c:pt>
                <c:pt idx="361">
                  <c:v>3.43</c:v>
                </c:pt>
                <c:pt idx="362">
                  <c:v>3.49</c:v>
                </c:pt>
                <c:pt idx="363">
                  <c:v>3.43</c:v>
                </c:pt>
                <c:pt idx="364">
                  <c:v>3.37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1-CF00-4BC4-94D0-E118354B0F71}"/>
            </c:ext>
          </c:extLst>
        </c:ser>
        <c:ser>
          <c:idx val="2"/>
          <c:order val="2"/>
          <c:tx>
            <c:v>маловодный 2019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Лист1!$H$3:$H$367</c:f>
              <c:numCache>
                <c:formatCode>General</c:formatCode>
                <c:ptCount val="365"/>
                <c:pt idx="0">
                  <c:v>3.79</c:v>
                </c:pt>
                <c:pt idx="1">
                  <c:v>3.92</c:v>
                </c:pt>
                <c:pt idx="2">
                  <c:v>3.92</c:v>
                </c:pt>
                <c:pt idx="3">
                  <c:v>3.92</c:v>
                </c:pt>
                <c:pt idx="4">
                  <c:v>3.92</c:v>
                </c:pt>
                <c:pt idx="5">
                  <c:v>3.92</c:v>
                </c:pt>
                <c:pt idx="6">
                  <c:v>3.92</c:v>
                </c:pt>
                <c:pt idx="7">
                  <c:v>3.79</c:v>
                </c:pt>
                <c:pt idx="8">
                  <c:v>3.79</c:v>
                </c:pt>
                <c:pt idx="9">
                  <c:v>3.79</c:v>
                </c:pt>
                <c:pt idx="10">
                  <c:v>3.86</c:v>
                </c:pt>
                <c:pt idx="11">
                  <c:v>3.92</c:v>
                </c:pt>
                <c:pt idx="12">
                  <c:v>3.92</c:v>
                </c:pt>
                <c:pt idx="13">
                  <c:v>3.86</c:v>
                </c:pt>
                <c:pt idx="14">
                  <c:v>3.86</c:v>
                </c:pt>
                <c:pt idx="15">
                  <c:v>3.86</c:v>
                </c:pt>
                <c:pt idx="16">
                  <c:v>3.86</c:v>
                </c:pt>
                <c:pt idx="17">
                  <c:v>3.92</c:v>
                </c:pt>
                <c:pt idx="18">
                  <c:v>3.84</c:v>
                </c:pt>
                <c:pt idx="19">
                  <c:v>3.84</c:v>
                </c:pt>
                <c:pt idx="20">
                  <c:v>3.84</c:v>
                </c:pt>
                <c:pt idx="21">
                  <c:v>3.84</c:v>
                </c:pt>
                <c:pt idx="22">
                  <c:v>3.66</c:v>
                </c:pt>
                <c:pt idx="23">
                  <c:v>3.6</c:v>
                </c:pt>
                <c:pt idx="24">
                  <c:v>3.79</c:v>
                </c:pt>
                <c:pt idx="25">
                  <c:v>3.72</c:v>
                </c:pt>
                <c:pt idx="26">
                  <c:v>3.72</c:v>
                </c:pt>
                <c:pt idx="27">
                  <c:v>3.72</c:v>
                </c:pt>
                <c:pt idx="28">
                  <c:v>3.66</c:v>
                </c:pt>
                <c:pt idx="29">
                  <c:v>3.72</c:v>
                </c:pt>
                <c:pt idx="30">
                  <c:v>3.79</c:v>
                </c:pt>
                <c:pt idx="31">
                  <c:v>3.79</c:v>
                </c:pt>
                <c:pt idx="32">
                  <c:v>3.86</c:v>
                </c:pt>
                <c:pt idx="33">
                  <c:v>3.86</c:v>
                </c:pt>
                <c:pt idx="34">
                  <c:v>3.93</c:v>
                </c:pt>
                <c:pt idx="35">
                  <c:v>3.94</c:v>
                </c:pt>
                <c:pt idx="36">
                  <c:v>4.01</c:v>
                </c:pt>
                <c:pt idx="37">
                  <c:v>3.94</c:v>
                </c:pt>
                <c:pt idx="38">
                  <c:v>4.01</c:v>
                </c:pt>
                <c:pt idx="39">
                  <c:v>4.01</c:v>
                </c:pt>
                <c:pt idx="40">
                  <c:v>4.01</c:v>
                </c:pt>
                <c:pt idx="41">
                  <c:v>4.09</c:v>
                </c:pt>
                <c:pt idx="42">
                  <c:v>4.09</c:v>
                </c:pt>
                <c:pt idx="43">
                  <c:v>4.16</c:v>
                </c:pt>
                <c:pt idx="44">
                  <c:v>4.16</c:v>
                </c:pt>
                <c:pt idx="45">
                  <c:v>4.16</c:v>
                </c:pt>
                <c:pt idx="46">
                  <c:v>4.24</c:v>
                </c:pt>
                <c:pt idx="47">
                  <c:v>4.3099999999999996</c:v>
                </c:pt>
                <c:pt idx="48">
                  <c:v>4.38</c:v>
                </c:pt>
                <c:pt idx="49">
                  <c:v>4.92</c:v>
                </c:pt>
                <c:pt idx="50">
                  <c:v>4.24</c:v>
                </c:pt>
                <c:pt idx="51">
                  <c:v>4.54</c:v>
                </c:pt>
                <c:pt idx="52">
                  <c:v>4.6100000000000003</c:v>
                </c:pt>
                <c:pt idx="53">
                  <c:v>4.53</c:v>
                </c:pt>
                <c:pt idx="54">
                  <c:v>4.3099999999999996</c:v>
                </c:pt>
                <c:pt idx="55">
                  <c:v>4.38</c:v>
                </c:pt>
                <c:pt idx="56">
                  <c:v>4.38</c:v>
                </c:pt>
                <c:pt idx="57">
                  <c:v>4.6900000000000004</c:v>
                </c:pt>
                <c:pt idx="58">
                  <c:v>4.6100000000000003</c:v>
                </c:pt>
                <c:pt idx="59">
                  <c:v>4.6100000000000003</c:v>
                </c:pt>
                <c:pt idx="60">
                  <c:v>4.7699999999999996</c:v>
                </c:pt>
                <c:pt idx="61">
                  <c:v>4.76</c:v>
                </c:pt>
                <c:pt idx="62">
                  <c:v>4.37</c:v>
                </c:pt>
                <c:pt idx="63">
                  <c:v>4.68</c:v>
                </c:pt>
                <c:pt idx="64">
                  <c:v>4.84</c:v>
                </c:pt>
                <c:pt idx="65">
                  <c:v>5.34</c:v>
                </c:pt>
                <c:pt idx="66">
                  <c:v>5</c:v>
                </c:pt>
                <c:pt idx="67">
                  <c:v>5</c:v>
                </c:pt>
                <c:pt idx="68">
                  <c:v>5</c:v>
                </c:pt>
                <c:pt idx="69">
                  <c:v>5.17</c:v>
                </c:pt>
                <c:pt idx="70">
                  <c:v>5.34</c:v>
                </c:pt>
                <c:pt idx="71">
                  <c:v>5.33</c:v>
                </c:pt>
                <c:pt idx="72">
                  <c:v>5.25</c:v>
                </c:pt>
                <c:pt idx="73">
                  <c:v>5.5</c:v>
                </c:pt>
                <c:pt idx="74">
                  <c:v>5.32</c:v>
                </c:pt>
                <c:pt idx="75">
                  <c:v>5.32</c:v>
                </c:pt>
                <c:pt idx="76">
                  <c:v>5.31</c:v>
                </c:pt>
                <c:pt idx="77">
                  <c:v>5.57</c:v>
                </c:pt>
                <c:pt idx="78">
                  <c:v>5.74</c:v>
                </c:pt>
                <c:pt idx="79">
                  <c:v>6.11</c:v>
                </c:pt>
                <c:pt idx="80">
                  <c:v>6.49</c:v>
                </c:pt>
                <c:pt idx="81">
                  <c:v>6.89</c:v>
                </c:pt>
                <c:pt idx="82">
                  <c:v>7.19</c:v>
                </c:pt>
                <c:pt idx="83">
                  <c:v>7.3</c:v>
                </c:pt>
                <c:pt idx="84">
                  <c:v>7.29</c:v>
                </c:pt>
                <c:pt idx="85">
                  <c:v>7.93</c:v>
                </c:pt>
                <c:pt idx="86">
                  <c:v>8.48</c:v>
                </c:pt>
                <c:pt idx="87">
                  <c:v>9.02</c:v>
                </c:pt>
                <c:pt idx="88">
                  <c:v>9.92</c:v>
                </c:pt>
                <c:pt idx="89">
                  <c:v>10.8</c:v>
                </c:pt>
                <c:pt idx="90">
                  <c:v>12.1</c:v>
                </c:pt>
                <c:pt idx="91">
                  <c:v>13.7</c:v>
                </c:pt>
                <c:pt idx="92">
                  <c:v>14.1</c:v>
                </c:pt>
                <c:pt idx="93">
                  <c:v>13.5</c:v>
                </c:pt>
                <c:pt idx="94">
                  <c:v>13</c:v>
                </c:pt>
                <c:pt idx="95">
                  <c:v>12.4</c:v>
                </c:pt>
                <c:pt idx="96">
                  <c:v>12.1</c:v>
                </c:pt>
                <c:pt idx="97">
                  <c:v>12.1</c:v>
                </c:pt>
                <c:pt idx="98">
                  <c:v>12.2</c:v>
                </c:pt>
                <c:pt idx="99">
                  <c:v>12</c:v>
                </c:pt>
                <c:pt idx="100">
                  <c:v>11.7</c:v>
                </c:pt>
                <c:pt idx="101">
                  <c:v>12.3</c:v>
                </c:pt>
                <c:pt idx="102">
                  <c:v>13</c:v>
                </c:pt>
                <c:pt idx="103">
                  <c:v>13.3</c:v>
                </c:pt>
                <c:pt idx="104">
                  <c:v>13.6</c:v>
                </c:pt>
                <c:pt idx="105">
                  <c:v>12.9</c:v>
                </c:pt>
                <c:pt idx="106">
                  <c:v>12.9</c:v>
                </c:pt>
                <c:pt idx="107">
                  <c:v>12.2</c:v>
                </c:pt>
                <c:pt idx="108">
                  <c:v>11.2</c:v>
                </c:pt>
                <c:pt idx="109">
                  <c:v>10.5</c:v>
                </c:pt>
                <c:pt idx="110">
                  <c:v>9.64</c:v>
                </c:pt>
                <c:pt idx="111">
                  <c:v>9.5299999999999994</c:v>
                </c:pt>
                <c:pt idx="112">
                  <c:v>9.5299999999999994</c:v>
                </c:pt>
                <c:pt idx="113">
                  <c:v>9.1999999999999993</c:v>
                </c:pt>
                <c:pt idx="114">
                  <c:v>8.8699999999999992</c:v>
                </c:pt>
                <c:pt idx="115">
                  <c:v>6.92</c:v>
                </c:pt>
                <c:pt idx="116">
                  <c:v>6.3</c:v>
                </c:pt>
                <c:pt idx="117">
                  <c:v>6.66</c:v>
                </c:pt>
                <c:pt idx="118">
                  <c:v>6.31</c:v>
                </c:pt>
                <c:pt idx="119">
                  <c:v>6.66</c:v>
                </c:pt>
                <c:pt idx="120">
                  <c:v>6.32</c:v>
                </c:pt>
                <c:pt idx="121">
                  <c:v>6.32</c:v>
                </c:pt>
                <c:pt idx="122">
                  <c:v>6.24</c:v>
                </c:pt>
                <c:pt idx="123">
                  <c:v>6.32</c:v>
                </c:pt>
                <c:pt idx="124">
                  <c:v>6.66</c:v>
                </c:pt>
                <c:pt idx="125">
                  <c:v>5.66</c:v>
                </c:pt>
                <c:pt idx="126">
                  <c:v>6.16</c:v>
                </c:pt>
                <c:pt idx="127">
                  <c:v>6.56</c:v>
                </c:pt>
                <c:pt idx="128">
                  <c:v>6.65</c:v>
                </c:pt>
                <c:pt idx="129">
                  <c:v>5.59</c:v>
                </c:pt>
                <c:pt idx="130">
                  <c:v>5.67</c:v>
                </c:pt>
                <c:pt idx="131">
                  <c:v>5.2</c:v>
                </c:pt>
                <c:pt idx="132">
                  <c:v>5.52</c:v>
                </c:pt>
                <c:pt idx="133">
                  <c:v>5.67</c:v>
                </c:pt>
                <c:pt idx="134">
                  <c:v>5.52</c:v>
                </c:pt>
                <c:pt idx="135">
                  <c:v>6.06</c:v>
                </c:pt>
                <c:pt idx="136">
                  <c:v>5.75</c:v>
                </c:pt>
                <c:pt idx="137">
                  <c:v>5.29</c:v>
                </c:pt>
                <c:pt idx="138">
                  <c:v>5.29</c:v>
                </c:pt>
                <c:pt idx="139">
                  <c:v>5.44</c:v>
                </c:pt>
                <c:pt idx="140">
                  <c:v>5.21</c:v>
                </c:pt>
                <c:pt idx="141">
                  <c:v>5.29</c:v>
                </c:pt>
                <c:pt idx="142">
                  <c:v>5.43</c:v>
                </c:pt>
                <c:pt idx="143">
                  <c:v>5.72</c:v>
                </c:pt>
                <c:pt idx="144">
                  <c:v>5.27</c:v>
                </c:pt>
                <c:pt idx="145">
                  <c:v>5.4</c:v>
                </c:pt>
                <c:pt idx="146">
                  <c:v>5.45</c:v>
                </c:pt>
                <c:pt idx="147">
                  <c:v>5.16</c:v>
                </c:pt>
                <c:pt idx="148">
                  <c:v>4.79</c:v>
                </c:pt>
                <c:pt idx="149">
                  <c:v>4.6500000000000004</c:v>
                </c:pt>
                <c:pt idx="150">
                  <c:v>4.43</c:v>
                </c:pt>
                <c:pt idx="151">
                  <c:v>4.33</c:v>
                </c:pt>
                <c:pt idx="152">
                  <c:v>4.2300000000000004</c:v>
                </c:pt>
                <c:pt idx="153">
                  <c:v>4.3</c:v>
                </c:pt>
                <c:pt idx="154">
                  <c:v>4.24</c:v>
                </c:pt>
                <c:pt idx="155">
                  <c:v>4.01</c:v>
                </c:pt>
                <c:pt idx="156">
                  <c:v>3.74</c:v>
                </c:pt>
                <c:pt idx="157">
                  <c:v>3.72</c:v>
                </c:pt>
                <c:pt idx="158">
                  <c:v>3.5</c:v>
                </c:pt>
                <c:pt idx="159">
                  <c:v>3.37</c:v>
                </c:pt>
                <c:pt idx="160">
                  <c:v>3.25</c:v>
                </c:pt>
                <c:pt idx="161">
                  <c:v>3.27</c:v>
                </c:pt>
                <c:pt idx="162">
                  <c:v>2.87</c:v>
                </c:pt>
                <c:pt idx="163">
                  <c:v>3.22</c:v>
                </c:pt>
                <c:pt idx="164">
                  <c:v>2.75</c:v>
                </c:pt>
                <c:pt idx="165">
                  <c:v>2.89</c:v>
                </c:pt>
                <c:pt idx="166">
                  <c:v>3.21</c:v>
                </c:pt>
                <c:pt idx="167">
                  <c:v>2.86</c:v>
                </c:pt>
                <c:pt idx="168">
                  <c:v>2.83</c:v>
                </c:pt>
                <c:pt idx="169">
                  <c:v>2.94</c:v>
                </c:pt>
                <c:pt idx="170">
                  <c:v>2.91</c:v>
                </c:pt>
                <c:pt idx="171">
                  <c:v>2.69</c:v>
                </c:pt>
                <c:pt idx="172">
                  <c:v>2.75</c:v>
                </c:pt>
                <c:pt idx="173">
                  <c:v>2.78</c:v>
                </c:pt>
                <c:pt idx="174">
                  <c:v>2.63</c:v>
                </c:pt>
                <c:pt idx="175">
                  <c:v>2.7</c:v>
                </c:pt>
                <c:pt idx="176">
                  <c:v>2.58</c:v>
                </c:pt>
                <c:pt idx="177">
                  <c:v>2.6</c:v>
                </c:pt>
                <c:pt idx="178">
                  <c:v>2.68</c:v>
                </c:pt>
                <c:pt idx="179">
                  <c:v>2.66</c:v>
                </c:pt>
                <c:pt idx="180">
                  <c:v>2.83</c:v>
                </c:pt>
                <c:pt idx="181">
                  <c:v>2.9</c:v>
                </c:pt>
                <c:pt idx="182">
                  <c:v>2.93</c:v>
                </c:pt>
                <c:pt idx="183">
                  <c:v>2.78</c:v>
                </c:pt>
                <c:pt idx="184">
                  <c:v>2.83</c:v>
                </c:pt>
                <c:pt idx="185">
                  <c:v>2.93</c:v>
                </c:pt>
                <c:pt idx="186">
                  <c:v>2.74</c:v>
                </c:pt>
                <c:pt idx="187">
                  <c:v>2.83</c:v>
                </c:pt>
                <c:pt idx="188">
                  <c:v>2.81</c:v>
                </c:pt>
                <c:pt idx="189">
                  <c:v>2.85</c:v>
                </c:pt>
                <c:pt idx="190">
                  <c:v>2.83</c:v>
                </c:pt>
                <c:pt idx="191">
                  <c:v>2.99</c:v>
                </c:pt>
                <c:pt idx="192">
                  <c:v>3.13</c:v>
                </c:pt>
                <c:pt idx="193">
                  <c:v>3.06</c:v>
                </c:pt>
                <c:pt idx="194">
                  <c:v>3.17</c:v>
                </c:pt>
                <c:pt idx="195">
                  <c:v>3.11</c:v>
                </c:pt>
                <c:pt idx="196">
                  <c:v>3.04</c:v>
                </c:pt>
                <c:pt idx="197">
                  <c:v>2.9</c:v>
                </c:pt>
                <c:pt idx="198">
                  <c:v>2.97</c:v>
                </c:pt>
                <c:pt idx="199">
                  <c:v>2.84</c:v>
                </c:pt>
                <c:pt idx="200">
                  <c:v>2.9</c:v>
                </c:pt>
                <c:pt idx="201">
                  <c:v>2.97</c:v>
                </c:pt>
                <c:pt idx="202">
                  <c:v>2.97</c:v>
                </c:pt>
                <c:pt idx="203">
                  <c:v>2.56</c:v>
                </c:pt>
                <c:pt idx="204">
                  <c:v>2.77</c:v>
                </c:pt>
                <c:pt idx="205">
                  <c:v>2.77</c:v>
                </c:pt>
                <c:pt idx="206">
                  <c:v>2.75</c:v>
                </c:pt>
                <c:pt idx="207">
                  <c:v>2.6</c:v>
                </c:pt>
                <c:pt idx="208">
                  <c:v>2.73</c:v>
                </c:pt>
                <c:pt idx="209">
                  <c:v>2.75</c:v>
                </c:pt>
                <c:pt idx="210">
                  <c:v>2.67</c:v>
                </c:pt>
                <c:pt idx="211">
                  <c:v>2.67</c:v>
                </c:pt>
                <c:pt idx="212">
                  <c:v>2.73</c:v>
                </c:pt>
                <c:pt idx="213">
                  <c:v>2.75</c:v>
                </c:pt>
                <c:pt idx="214">
                  <c:v>2.86</c:v>
                </c:pt>
                <c:pt idx="215">
                  <c:v>2.84</c:v>
                </c:pt>
                <c:pt idx="216">
                  <c:v>2.73</c:v>
                </c:pt>
                <c:pt idx="217">
                  <c:v>2.84</c:v>
                </c:pt>
                <c:pt idx="218">
                  <c:v>2.9</c:v>
                </c:pt>
                <c:pt idx="219">
                  <c:v>2.96</c:v>
                </c:pt>
                <c:pt idx="220">
                  <c:v>2.86</c:v>
                </c:pt>
                <c:pt idx="221">
                  <c:v>2.88</c:v>
                </c:pt>
                <c:pt idx="222">
                  <c:v>2.92</c:v>
                </c:pt>
                <c:pt idx="223">
                  <c:v>3</c:v>
                </c:pt>
                <c:pt idx="224">
                  <c:v>3.02</c:v>
                </c:pt>
                <c:pt idx="225">
                  <c:v>2.96</c:v>
                </c:pt>
                <c:pt idx="226">
                  <c:v>2.86</c:v>
                </c:pt>
                <c:pt idx="227">
                  <c:v>3.13</c:v>
                </c:pt>
                <c:pt idx="228">
                  <c:v>3.42</c:v>
                </c:pt>
                <c:pt idx="229">
                  <c:v>3.78</c:v>
                </c:pt>
                <c:pt idx="230">
                  <c:v>3.63</c:v>
                </c:pt>
                <c:pt idx="231">
                  <c:v>3.59</c:v>
                </c:pt>
                <c:pt idx="232">
                  <c:v>3.51</c:v>
                </c:pt>
                <c:pt idx="233">
                  <c:v>3.59</c:v>
                </c:pt>
                <c:pt idx="234">
                  <c:v>3.53</c:v>
                </c:pt>
                <c:pt idx="235">
                  <c:v>3.34</c:v>
                </c:pt>
                <c:pt idx="236">
                  <c:v>3.34</c:v>
                </c:pt>
                <c:pt idx="237">
                  <c:v>3.02</c:v>
                </c:pt>
                <c:pt idx="238">
                  <c:v>2.9</c:v>
                </c:pt>
                <c:pt idx="239">
                  <c:v>2.92</c:v>
                </c:pt>
                <c:pt idx="240">
                  <c:v>2.96</c:v>
                </c:pt>
                <c:pt idx="241">
                  <c:v>3.02</c:v>
                </c:pt>
                <c:pt idx="242">
                  <c:v>3.11</c:v>
                </c:pt>
                <c:pt idx="243">
                  <c:v>3.23</c:v>
                </c:pt>
                <c:pt idx="244">
                  <c:v>3.26</c:v>
                </c:pt>
                <c:pt idx="245">
                  <c:v>3.34</c:v>
                </c:pt>
                <c:pt idx="246">
                  <c:v>3.31</c:v>
                </c:pt>
                <c:pt idx="247">
                  <c:v>3.26</c:v>
                </c:pt>
                <c:pt idx="248">
                  <c:v>3.24</c:v>
                </c:pt>
                <c:pt idx="249">
                  <c:v>3.05</c:v>
                </c:pt>
                <c:pt idx="250">
                  <c:v>3.23</c:v>
                </c:pt>
                <c:pt idx="251">
                  <c:v>3.15</c:v>
                </c:pt>
                <c:pt idx="252">
                  <c:v>3.28</c:v>
                </c:pt>
                <c:pt idx="253">
                  <c:v>3.17</c:v>
                </c:pt>
                <c:pt idx="254">
                  <c:v>3.12</c:v>
                </c:pt>
                <c:pt idx="255">
                  <c:v>3.16</c:v>
                </c:pt>
                <c:pt idx="256">
                  <c:v>3.35</c:v>
                </c:pt>
                <c:pt idx="257">
                  <c:v>3.64</c:v>
                </c:pt>
                <c:pt idx="258">
                  <c:v>3.64</c:v>
                </c:pt>
                <c:pt idx="259">
                  <c:v>3.67</c:v>
                </c:pt>
                <c:pt idx="260">
                  <c:v>3.86</c:v>
                </c:pt>
                <c:pt idx="261">
                  <c:v>3.83</c:v>
                </c:pt>
                <c:pt idx="262">
                  <c:v>3.96</c:v>
                </c:pt>
                <c:pt idx="263">
                  <c:v>3.93</c:v>
                </c:pt>
                <c:pt idx="264">
                  <c:v>3.87</c:v>
                </c:pt>
                <c:pt idx="265">
                  <c:v>3.96</c:v>
                </c:pt>
                <c:pt idx="266">
                  <c:v>4.09</c:v>
                </c:pt>
                <c:pt idx="267">
                  <c:v>4.0599999999999996</c:v>
                </c:pt>
                <c:pt idx="268">
                  <c:v>4.16</c:v>
                </c:pt>
                <c:pt idx="269">
                  <c:v>4.1900000000000004</c:v>
                </c:pt>
                <c:pt idx="270">
                  <c:v>4.09</c:v>
                </c:pt>
                <c:pt idx="271">
                  <c:v>4.18</c:v>
                </c:pt>
                <c:pt idx="272">
                  <c:v>4.1100000000000003</c:v>
                </c:pt>
                <c:pt idx="273">
                  <c:v>4.25</c:v>
                </c:pt>
                <c:pt idx="274">
                  <c:v>4.29</c:v>
                </c:pt>
                <c:pt idx="275">
                  <c:v>4.33</c:v>
                </c:pt>
                <c:pt idx="276">
                  <c:v>4.25</c:v>
                </c:pt>
                <c:pt idx="277">
                  <c:v>4.5199999999999996</c:v>
                </c:pt>
                <c:pt idx="278">
                  <c:v>5.25</c:v>
                </c:pt>
                <c:pt idx="279">
                  <c:v>5.68</c:v>
                </c:pt>
                <c:pt idx="280">
                  <c:v>6.6</c:v>
                </c:pt>
                <c:pt idx="281">
                  <c:v>6.66</c:v>
                </c:pt>
                <c:pt idx="282">
                  <c:v>6.58</c:v>
                </c:pt>
                <c:pt idx="283">
                  <c:v>6.67</c:v>
                </c:pt>
                <c:pt idx="284">
                  <c:v>6.67</c:v>
                </c:pt>
                <c:pt idx="285">
                  <c:v>6.91</c:v>
                </c:pt>
                <c:pt idx="286">
                  <c:v>6.9</c:v>
                </c:pt>
                <c:pt idx="287">
                  <c:v>6.94</c:v>
                </c:pt>
                <c:pt idx="288">
                  <c:v>6.86</c:v>
                </c:pt>
                <c:pt idx="289">
                  <c:v>6.6</c:v>
                </c:pt>
                <c:pt idx="290">
                  <c:v>6.55</c:v>
                </c:pt>
                <c:pt idx="291">
                  <c:v>6.24</c:v>
                </c:pt>
                <c:pt idx="292">
                  <c:v>6.03</c:v>
                </c:pt>
                <c:pt idx="293">
                  <c:v>6.03</c:v>
                </c:pt>
                <c:pt idx="294">
                  <c:v>5.93</c:v>
                </c:pt>
                <c:pt idx="295">
                  <c:v>5.93</c:v>
                </c:pt>
                <c:pt idx="296">
                  <c:v>5.77</c:v>
                </c:pt>
                <c:pt idx="297">
                  <c:v>5.51</c:v>
                </c:pt>
                <c:pt idx="298">
                  <c:v>5.36</c:v>
                </c:pt>
                <c:pt idx="299">
                  <c:v>5.35</c:v>
                </c:pt>
                <c:pt idx="300">
                  <c:v>5.51</c:v>
                </c:pt>
                <c:pt idx="301">
                  <c:v>5.38</c:v>
                </c:pt>
                <c:pt idx="302">
                  <c:v>5.27</c:v>
                </c:pt>
                <c:pt idx="303">
                  <c:v>5.15</c:v>
                </c:pt>
                <c:pt idx="304">
                  <c:v>4.97</c:v>
                </c:pt>
                <c:pt idx="305">
                  <c:v>5.12</c:v>
                </c:pt>
                <c:pt idx="306">
                  <c:v>5.0599999999999996</c:v>
                </c:pt>
                <c:pt idx="307">
                  <c:v>5.15</c:v>
                </c:pt>
                <c:pt idx="308">
                  <c:v>5.09</c:v>
                </c:pt>
                <c:pt idx="309">
                  <c:v>5.18</c:v>
                </c:pt>
                <c:pt idx="310">
                  <c:v>5.31</c:v>
                </c:pt>
                <c:pt idx="311">
                  <c:v>5.37</c:v>
                </c:pt>
                <c:pt idx="312">
                  <c:v>5.46</c:v>
                </c:pt>
                <c:pt idx="313">
                  <c:v>5.34</c:v>
                </c:pt>
                <c:pt idx="314">
                  <c:v>5.27</c:v>
                </c:pt>
                <c:pt idx="315">
                  <c:v>5.27</c:v>
                </c:pt>
                <c:pt idx="316">
                  <c:v>5.27</c:v>
                </c:pt>
                <c:pt idx="317">
                  <c:v>5.21</c:v>
                </c:pt>
                <c:pt idx="318">
                  <c:v>5.14</c:v>
                </c:pt>
                <c:pt idx="319">
                  <c:v>5.08</c:v>
                </c:pt>
                <c:pt idx="320">
                  <c:v>5.0199999999999996</c:v>
                </c:pt>
                <c:pt idx="321">
                  <c:v>4.93</c:v>
                </c:pt>
                <c:pt idx="322">
                  <c:v>4.93</c:v>
                </c:pt>
                <c:pt idx="323">
                  <c:v>4.87</c:v>
                </c:pt>
                <c:pt idx="324">
                  <c:v>4.74</c:v>
                </c:pt>
                <c:pt idx="325">
                  <c:v>3.93</c:v>
                </c:pt>
                <c:pt idx="326">
                  <c:v>4.2300000000000004</c:v>
                </c:pt>
                <c:pt idx="327">
                  <c:v>4.54</c:v>
                </c:pt>
                <c:pt idx="328">
                  <c:v>4.41</c:v>
                </c:pt>
                <c:pt idx="329">
                  <c:v>4.29</c:v>
                </c:pt>
                <c:pt idx="330">
                  <c:v>4.09</c:v>
                </c:pt>
                <c:pt idx="331">
                  <c:v>4.03</c:v>
                </c:pt>
                <c:pt idx="332">
                  <c:v>4.17</c:v>
                </c:pt>
                <c:pt idx="333">
                  <c:v>4.17</c:v>
                </c:pt>
                <c:pt idx="334">
                  <c:v>4.37</c:v>
                </c:pt>
                <c:pt idx="335">
                  <c:v>4.4400000000000004</c:v>
                </c:pt>
                <c:pt idx="336">
                  <c:v>4.45</c:v>
                </c:pt>
                <c:pt idx="337">
                  <c:v>4.45</c:v>
                </c:pt>
                <c:pt idx="338">
                  <c:v>4.46</c:v>
                </c:pt>
                <c:pt idx="339">
                  <c:v>4.6100000000000003</c:v>
                </c:pt>
                <c:pt idx="340">
                  <c:v>4.75</c:v>
                </c:pt>
                <c:pt idx="341">
                  <c:v>4.9000000000000004</c:v>
                </c:pt>
                <c:pt idx="342">
                  <c:v>4.97</c:v>
                </c:pt>
                <c:pt idx="343">
                  <c:v>5.05</c:v>
                </c:pt>
                <c:pt idx="344">
                  <c:v>5.19</c:v>
                </c:pt>
                <c:pt idx="345">
                  <c:v>6.44</c:v>
                </c:pt>
                <c:pt idx="346">
                  <c:v>5.65</c:v>
                </c:pt>
                <c:pt idx="347">
                  <c:v>4.91</c:v>
                </c:pt>
                <c:pt idx="348">
                  <c:v>5.28</c:v>
                </c:pt>
                <c:pt idx="349">
                  <c:v>5.44</c:v>
                </c:pt>
                <c:pt idx="350">
                  <c:v>5.52</c:v>
                </c:pt>
                <c:pt idx="351">
                  <c:v>5.52</c:v>
                </c:pt>
                <c:pt idx="352">
                  <c:v>5.59</c:v>
                </c:pt>
                <c:pt idx="353">
                  <c:v>5.67</c:v>
                </c:pt>
                <c:pt idx="354">
                  <c:v>5.91</c:v>
                </c:pt>
                <c:pt idx="355">
                  <c:v>5.99</c:v>
                </c:pt>
                <c:pt idx="356">
                  <c:v>5.98</c:v>
                </c:pt>
                <c:pt idx="357">
                  <c:v>6.49</c:v>
                </c:pt>
                <c:pt idx="358">
                  <c:v>8.48</c:v>
                </c:pt>
                <c:pt idx="359">
                  <c:v>8.2200000000000006</c:v>
                </c:pt>
                <c:pt idx="360">
                  <c:v>6.57</c:v>
                </c:pt>
                <c:pt idx="361">
                  <c:v>7</c:v>
                </c:pt>
                <c:pt idx="362">
                  <c:v>6.58</c:v>
                </c:pt>
                <c:pt idx="363">
                  <c:v>6.32</c:v>
                </c:pt>
                <c:pt idx="364">
                  <c:v>6.08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2-CF00-4BC4-94D0-E118354B0F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-545289824"/>
        <c:axId val="-545278400"/>
      </c:lineChart>
      <c:dateAx>
        <c:axId val="-545289824"/>
        <c:scaling>
          <c:orientation val="minMax"/>
        </c:scaling>
        <c:delete val="0"/>
        <c:axPos val="b"/>
        <c:numFmt formatCode="d\-mmm" sourceLinked="1"/>
        <c:majorTickMark val="out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6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-545278400"/>
        <c:crosses val="autoZero"/>
        <c:auto val="0"/>
        <c:lblOffset val="100"/>
        <c:baseTimeUnit val="days"/>
      </c:dateAx>
      <c:valAx>
        <c:axId val="-545278400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Среднесуточный расход воды, м</a:t>
                </a:r>
                <a:r>
                  <a:rPr lang="ru-RU" baseline="30000" dirty="0"/>
                  <a:t>3</a:t>
                </a:r>
                <a:r>
                  <a:rPr lang="ru-RU" dirty="0"/>
                  <a:t>/с</a:t>
                </a:r>
              </a:p>
            </c:rich>
          </c:tx>
          <c:layout>
            <c:manualLayout>
              <c:xMode val="edge"/>
              <c:yMode val="edge"/>
              <c:x val="1.8115942028985508E-2"/>
              <c:y val="0.1459495322824906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-5452898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52012681159420293"/>
          <c:y val="0.18216927429525856"/>
          <c:w val="0.440018115942029"/>
          <c:h val="0.2443038775997156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>
          <a:solidFill>
            <a:sysClr val="windowText" lastClr="000000"/>
          </a:solidFill>
        </a:defRPr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6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716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16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790AC2B-DF3B-4A0A-B191-5353D91325D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207639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9532C6-5F89-4B02-8FF1-4F0B3BF3635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med" advTm="1500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398AA3-47FB-47F9-9E8B-A586B4AFA2C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med" advTm="1500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7CD4F8-2CD6-41C9-BABA-CA7BDC399DB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med" advTm="1500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F54964-E34B-4FD7-AEE3-DF103871809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med" advTm="1500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4901C0-5076-4DAF-8E0C-EBE86758858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med" advTm="1500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B309C1-B61E-4117-8771-4C71C2257E9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med" advTm="1500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85CCEA-91C2-448E-BC84-F2D365D9E90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med" advTm="1500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0BA10B-A02D-4DCF-A698-CA422898D5C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med" advTm="1500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F2628B-3FE0-4FD2-A5B8-FE351E5EE38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med" advTm="1500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1B7B5-62CD-4430-9B65-1089C41CAFF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med" advTm="1500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3D51D2-E6D5-4D64-9A6D-D4732F0B00B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med" advTm="1500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Заголовок, 1 большой объект и 2 маленьких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1EF4F9-E0B3-4EAF-9FF5-A10BC4399BD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med" advTm="1500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EAF3E6-ADA9-4745-B58C-F39D84EE387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med" advTm="1500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Заголовок и четыре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3"/>
          </p:nvPr>
        </p:nvSpPr>
        <p:spPr>
          <a:xfrm>
            <a:off x="609600" y="3938589"/>
            <a:ext cx="5384800" cy="218757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810A03-5870-4C50-B2BE-0D4292EE9DD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med" advTm="1500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100000">
              <a:schemeClr val="bg1"/>
            </a:gs>
            <a:gs pos="0">
              <a:schemeClr val="accent2">
                <a:lumMod val="20000"/>
                <a:lumOff val="80000"/>
              </a:schemeClr>
            </a:gs>
            <a:gs pos="0">
              <a:schemeClr val="bg1"/>
            </a:gs>
            <a:gs pos="100000">
              <a:schemeClr val="accent2">
                <a:lumMod val="20000"/>
                <a:lumOff val="8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81F02060-404C-491C-9AE2-0EF3A874940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med" advTm="1500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116632"/>
            <a:ext cx="9294114" cy="864096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 algn="l"/>
            <a:r>
              <a:rPr lang="ru-RU" b="1" dirty="0">
                <a:solidFill>
                  <a:srgbClr val="465676"/>
                </a:solidFill>
                <a:latin typeface="+mn-lt"/>
              </a:rPr>
              <a:t>Гидрология</a:t>
            </a:r>
          </a:p>
        </p:txBody>
      </p:sp>
      <p:sp>
        <p:nvSpPr>
          <p:cNvPr id="3" name="Заголовок 1"/>
          <p:cNvSpPr txBox="1">
            <a:spLocks/>
          </p:cNvSpPr>
          <p:nvPr/>
        </p:nvSpPr>
        <p:spPr bwMode="auto">
          <a:xfrm>
            <a:off x="0" y="980728"/>
            <a:ext cx="7788696" cy="576064"/>
          </a:xfrm>
          <a:prstGeom prst="rect">
            <a:avLst/>
          </a:prstGeom>
          <a:solidFill>
            <a:schemeClr val="accent5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/>
            <a:r>
              <a:rPr lang="ru-RU" sz="3600" b="1" kern="0" dirty="0">
                <a:solidFill>
                  <a:srgbClr val="465676"/>
                </a:solidFill>
                <a:latin typeface="+mn-lt"/>
              </a:rPr>
              <a:t>курс семинаров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207568" y="2132856"/>
            <a:ext cx="7416824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i="1" dirty="0">
                <a:latin typeface="+mn-lt"/>
              </a:rPr>
              <a:t>Ваш преподаватель</a:t>
            </a:r>
          </a:p>
          <a:p>
            <a:pPr algn="ctr"/>
            <a:endParaRPr lang="ru-RU" sz="2400" dirty="0">
              <a:latin typeface="+mn-lt"/>
            </a:endParaRPr>
          </a:p>
          <a:p>
            <a:pPr algn="ctr"/>
            <a:r>
              <a:rPr lang="ru-RU" sz="2400" dirty="0">
                <a:latin typeface="+mn-lt"/>
              </a:rPr>
              <a:t>Кристина Николаевна Прокопьева</a:t>
            </a:r>
          </a:p>
          <a:p>
            <a:pPr algn="ctr"/>
            <a:endParaRPr lang="ru-RU" sz="2400" dirty="0">
              <a:latin typeface="+mn-lt"/>
            </a:endParaRPr>
          </a:p>
          <a:p>
            <a:pPr algn="ctr"/>
            <a:r>
              <a:rPr lang="en-US" sz="2400" dirty="0">
                <a:latin typeface="+mn-lt"/>
              </a:rPr>
              <a:t>E-mail</a:t>
            </a:r>
            <a:r>
              <a:rPr lang="ru-RU" sz="2400" dirty="0">
                <a:latin typeface="+mn-lt"/>
              </a:rPr>
              <a:t>: </a:t>
            </a:r>
            <a:r>
              <a:rPr lang="en-US" sz="2400" dirty="0">
                <a:latin typeface="+mn-lt"/>
              </a:rPr>
              <a:t>prokris3@mail.ru</a:t>
            </a:r>
          </a:p>
          <a:p>
            <a:pPr algn="ctr"/>
            <a:endParaRPr lang="en-US" sz="2400" b="1" dirty="0" smtClean="0">
              <a:solidFill>
                <a:srgbClr val="465676"/>
              </a:solidFill>
              <a:latin typeface="+mn-lt"/>
            </a:endParaRPr>
          </a:p>
          <a:p>
            <a:pPr algn="ctr"/>
            <a:r>
              <a:rPr lang="en-US" sz="2400" b="1" dirty="0" smtClean="0">
                <a:solidFill>
                  <a:srgbClr val="465676"/>
                </a:solidFill>
                <a:latin typeface="+mn-lt"/>
              </a:rPr>
              <a:t>telegram</a:t>
            </a:r>
            <a:r>
              <a:rPr lang="en-US" sz="2400" b="1" dirty="0">
                <a:solidFill>
                  <a:srgbClr val="465676"/>
                </a:solidFill>
                <a:latin typeface="+mn-lt"/>
              </a:rPr>
              <a:t>: @</a:t>
            </a:r>
            <a:r>
              <a:rPr lang="en-US" sz="2400" b="1" dirty="0" err="1">
                <a:solidFill>
                  <a:srgbClr val="465676"/>
                </a:solidFill>
                <a:latin typeface="+mn-lt"/>
              </a:rPr>
              <a:t>p_kris_n</a:t>
            </a:r>
            <a:endParaRPr lang="en-US" sz="2400" b="1" dirty="0">
              <a:solidFill>
                <a:srgbClr val="465676"/>
              </a:solidFill>
              <a:latin typeface="+mn-lt"/>
            </a:endParaRPr>
          </a:p>
          <a:p>
            <a:pPr algn="ctr"/>
            <a:endParaRPr lang="en-US" sz="2400" dirty="0">
              <a:latin typeface="+mn-lt"/>
            </a:endParaRPr>
          </a:p>
          <a:p>
            <a:pPr algn="ctr"/>
            <a:r>
              <a:rPr lang="ru-RU" sz="2400" dirty="0">
                <a:latin typeface="+mn-lt"/>
              </a:rPr>
              <a:t>Кафедра гидрологии суши МГУ</a:t>
            </a:r>
            <a:endParaRPr lang="en-US" sz="2400" dirty="0">
              <a:latin typeface="+mn-lt"/>
            </a:endParaRPr>
          </a:p>
          <a:p>
            <a:pPr algn="ctr"/>
            <a:r>
              <a:rPr lang="ru-RU" sz="2400" dirty="0"/>
              <a:t>Институт водных проблем РАН</a:t>
            </a:r>
          </a:p>
          <a:p>
            <a:pPr algn="ctr"/>
            <a:r>
              <a:rPr lang="ru-RU" sz="2400" dirty="0"/>
              <a:t>Московский физико-технический институт</a:t>
            </a:r>
          </a:p>
        </p:txBody>
      </p:sp>
    </p:spTree>
    <p:extLst>
      <p:ext uri="{BB962C8B-B14F-4D97-AF65-F5344CB8AC3E}">
        <p14:creationId xmlns:p14="http://schemas.microsoft.com/office/powerpoint/2010/main" val="766641350"/>
      </p:ext>
    </p:extLst>
  </p:cSld>
  <p:clrMapOvr>
    <a:masterClrMapping/>
  </p:clrMapOvr>
  <p:transition spd="med" advTm="1500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116632"/>
            <a:ext cx="9296400" cy="864096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 algn="l"/>
            <a:r>
              <a:rPr lang="ru-RU" b="1" dirty="0">
                <a:solidFill>
                  <a:srgbClr val="465676"/>
                </a:solidFill>
                <a:latin typeface="+mn-lt"/>
              </a:rPr>
              <a:t>Порядок работы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19336" y="1556792"/>
            <a:ext cx="11665296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>
                <a:latin typeface="+mn-lt"/>
              </a:rPr>
              <a:t>5 практических </a:t>
            </a:r>
            <a:r>
              <a:rPr lang="ru-RU" sz="2800" dirty="0" smtClean="0">
                <a:latin typeface="+mn-lt"/>
              </a:rPr>
              <a:t>работ (сдавать в течение месяца, после – устно)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/>
              <a:t>Сдача во время зачетной сессии (в декабре) – с устным зачетом</a:t>
            </a: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800" dirty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/>
              <a:t>Успешная сдача всех работ до начала зачетной сессии – </a:t>
            </a:r>
            <a:r>
              <a:rPr lang="ru-RU" sz="2800" dirty="0" smtClean="0"/>
              <a:t>допуск</a:t>
            </a:r>
            <a:endParaRPr lang="ru-RU" sz="2800" dirty="0" smtClean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 smtClean="0">
                <a:latin typeface="+mn-lt"/>
              </a:rPr>
              <a:t>Без </a:t>
            </a:r>
            <a:r>
              <a:rPr lang="ru-RU" sz="2800" dirty="0">
                <a:latin typeface="+mn-lt"/>
              </a:rPr>
              <a:t>сданных работ – нет допуска к сдаче </a:t>
            </a:r>
            <a:r>
              <a:rPr lang="ru-RU" sz="2800" dirty="0" smtClean="0">
                <a:latin typeface="+mn-lt"/>
              </a:rPr>
              <a:t>экзамена (и олимпиаде)</a:t>
            </a:r>
            <a:endParaRPr lang="ru-RU" sz="2800" dirty="0">
              <a:latin typeface="+mn-lt"/>
            </a:endParaRPr>
          </a:p>
          <a:p>
            <a:endParaRPr lang="en-US" sz="2800" dirty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>
                <a:latin typeface="+mn-lt"/>
              </a:rPr>
              <a:t>Выполнение </a:t>
            </a:r>
            <a:r>
              <a:rPr lang="ru-RU" sz="2800" dirty="0" smtClean="0">
                <a:latin typeface="+mn-lt"/>
              </a:rPr>
              <a:t>работ в электронном виде, </a:t>
            </a:r>
            <a:r>
              <a:rPr lang="ru-RU" sz="2800" dirty="0">
                <a:latin typeface="+mn-lt"/>
              </a:rPr>
              <a:t>часть работ желательно сделать прямо на </a:t>
            </a:r>
            <a:r>
              <a:rPr lang="ru-RU" sz="2800" dirty="0" smtClean="0">
                <a:latin typeface="+mn-lt"/>
              </a:rPr>
              <a:t>парах </a:t>
            </a:r>
            <a:endParaRPr lang="en-US" sz="2800" dirty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24345567"/>
      </p:ext>
    </p:extLst>
  </p:cSld>
  <p:clrMapOvr>
    <a:masterClrMapping/>
  </p:clrMapOvr>
  <p:transition spd="med" advTm="15000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1945206"/>
            <a:ext cx="12192000" cy="2587228"/>
          </a:xfrm>
          <a:solidFill>
            <a:srgbClr val="6B6BCF"/>
          </a:solidFill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ru-RU" sz="3600" dirty="0">
                <a:solidFill>
                  <a:schemeClr val="bg1"/>
                </a:solidFill>
                <a:ea typeface="Cambria" panose="02040503050406030204" pitchFamily="18" charset="0"/>
                <a:cs typeface="Arial" panose="020B0604020202020204" pitchFamily="34" charset="0"/>
              </a:rPr>
              <a:t>Практическая работа 2</a:t>
            </a:r>
            <a:r>
              <a:rPr lang="en-US" sz="4050" dirty="0">
                <a:solidFill>
                  <a:schemeClr val="bg1"/>
                </a:solidFill>
                <a:ea typeface="Cambria" panose="02040503050406030204" pitchFamily="18" charset="0"/>
                <a:cs typeface="Arial" panose="020B0604020202020204" pitchFamily="34" charset="0"/>
              </a:rPr>
              <a:t/>
            </a:r>
            <a:br>
              <a:rPr lang="en-US" sz="4050" dirty="0">
                <a:solidFill>
                  <a:schemeClr val="bg1"/>
                </a:solidFill>
                <a:ea typeface="Cambria" panose="02040503050406030204" pitchFamily="18" charset="0"/>
                <a:cs typeface="Arial" panose="020B0604020202020204" pitchFamily="34" charset="0"/>
              </a:rPr>
            </a:br>
            <a:r>
              <a:rPr lang="ru-RU" sz="4050" b="1" dirty="0">
                <a:solidFill>
                  <a:schemeClr val="bg1"/>
                </a:solidFill>
                <a:ea typeface="Cambria" panose="02040503050406030204" pitchFamily="18" charset="0"/>
                <a:cs typeface="Arial" panose="020B0604020202020204" pitchFamily="34" charset="0"/>
              </a:rPr>
              <a:t>Гидрологический режим реки</a:t>
            </a:r>
          </a:p>
        </p:txBody>
      </p:sp>
    </p:spTree>
    <p:extLst>
      <p:ext uri="{BB962C8B-B14F-4D97-AF65-F5344CB8AC3E}">
        <p14:creationId xmlns:p14="http://schemas.microsoft.com/office/powerpoint/2010/main" val="515604876"/>
      </p:ext>
    </p:extLst>
  </p:cSld>
  <p:clrMapOvr>
    <a:masterClrMapping/>
  </p:clrMapOvr>
  <p:transition spd="med" advTm="1500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1858109" y="246184"/>
            <a:ext cx="8475785" cy="1125416"/>
          </a:xfrm>
          <a:prstGeom prst="rect">
            <a:avLst/>
          </a:prstGeom>
          <a:noFill/>
          <a:ln w="38100">
            <a:solidFill>
              <a:srgbClr val="6B6B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rgbClr val="6B6BCF"/>
                </a:solidFill>
              </a:rPr>
              <a:t>Гидрологический режим</a:t>
            </a:r>
          </a:p>
          <a:p>
            <a:pPr algn="ctr"/>
            <a:r>
              <a:rPr lang="ru-RU" dirty="0">
                <a:solidFill>
                  <a:schemeClr val="tx1"/>
                </a:solidFill>
              </a:rPr>
              <a:t>совокупность </a:t>
            </a:r>
            <a:r>
              <a:rPr lang="ru-RU" u="sng" dirty="0">
                <a:solidFill>
                  <a:schemeClr val="tx1"/>
                </a:solidFill>
              </a:rPr>
              <a:t>закономерно повторяющихся</a:t>
            </a:r>
            <a:r>
              <a:rPr lang="ru-RU" dirty="0">
                <a:solidFill>
                  <a:schemeClr val="tx1"/>
                </a:solidFill>
              </a:rPr>
              <a:t> изменений состояния водных объектов во времени</a:t>
            </a:r>
          </a:p>
        </p:txBody>
      </p:sp>
      <p:grpSp>
        <p:nvGrpSpPr>
          <p:cNvPr id="20" name="Группа 19"/>
          <p:cNvGrpSpPr/>
          <p:nvPr/>
        </p:nvGrpSpPr>
        <p:grpSpPr>
          <a:xfrm>
            <a:off x="2157046" y="1707233"/>
            <a:ext cx="8510954" cy="652635"/>
            <a:chOff x="633046" y="1707232"/>
            <a:chExt cx="8510954" cy="652635"/>
          </a:xfrm>
        </p:grpSpPr>
        <p:sp>
          <p:nvSpPr>
            <p:cNvPr id="8" name="Прямоугольник с двумя усеченными противолежащими углами 7"/>
            <p:cNvSpPr/>
            <p:nvPr/>
          </p:nvSpPr>
          <p:spPr>
            <a:xfrm>
              <a:off x="633046" y="1707232"/>
              <a:ext cx="3798276" cy="633046"/>
            </a:xfrm>
            <a:prstGeom prst="snip2DiagRect">
              <a:avLst/>
            </a:prstGeom>
            <a:solidFill>
              <a:schemeClr val="bg1">
                <a:lumMod val="95000"/>
              </a:schemeClr>
            </a:solid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400" b="1" dirty="0">
                  <a:solidFill>
                    <a:srgbClr val="6B6BCF"/>
                  </a:solidFill>
                </a:rPr>
                <a:t>Водный режим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431322" y="1775092"/>
              <a:ext cx="471267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/>
                <a:t>Уровень и расход воды, скорости течения, уклон водной поверхности</a:t>
              </a:r>
            </a:p>
          </p:txBody>
        </p:sp>
      </p:grpSp>
      <p:grpSp>
        <p:nvGrpSpPr>
          <p:cNvPr id="19" name="Группа 18"/>
          <p:cNvGrpSpPr/>
          <p:nvPr/>
        </p:nvGrpSpPr>
        <p:grpSpPr>
          <a:xfrm>
            <a:off x="2157046" y="2580357"/>
            <a:ext cx="8510954" cy="652972"/>
            <a:chOff x="633046" y="2598186"/>
            <a:chExt cx="8510954" cy="652972"/>
          </a:xfrm>
        </p:grpSpPr>
        <p:sp>
          <p:nvSpPr>
            <p:cNvPr id="10" name="Прямоугольник с двумя усеченными противолежащими углами 9"/>
            <p:cNvSpPr/>
            <p:nvPr/>
          </p:nvSpPr>
          <p:spPr>
            <a:xfrm>
              <a:off x="633046" y="2598186"/>
              <a:ext cx="3798276" cy="633046"/>
            </a:xfrm>
            <a:prstGeom prst="snip2DiagRect">
              <a:avLst/>
            </a:prstGeom>
            <a:solidFill>
              <a:schemeClr val="bg1">
                <a:lumMod val="95000"/>
              </a:schemeClr>
            </a:solid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400" b="1" dirty="0">
                  <a:solidFill>
                    <a:srgbClr val="6B6BCF"/>
                  </a:solidFill>
                </a:rPr>
                <a:t>Ледовый режим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431322" y="2666383"/>
              <a:ext cx="471267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/>
                <a:t>Характерные виды ледовых явлений, их продолжительность и параметры</a:t>
              </a:r>
            </a:p>
          </p:txBody>
        </p:sp>
      </p:grpSp>
      <p:grpSp>
        <p:nvGrpSpPr>
          <p:cNvPr id="18" name="Группа 17"/>
          <p:cNvGrpSpPr/>
          <p:nvPr/>
        </p:nvGrpSpPr>
        <p:grpSpPr>
          <a:xfrm>
            <a:off x="2157046" y="3453819"/>
            <a:ext cx="8510954" cy="633046"/>
            <a:chOff x="633046" y="3467109"/>
            <a:chExt cx="8510954" cy="633046"/>
          </a:xfrm>
        </p:grpSpPr>
        <p:sp>
          <p:nvSpPr>
            <p:cNvPr id="13" name="Прямоугольник с двумя усеченными противолежащими углами 12"/>
            <p:cNvSpPr/>
            <p:nvPr/>
          </p:nvSpPr>
          <p:spPr>
            <a:xfrm>
              <a:off x="633046" y="3467109"/>
              <a:ext cx="3798276" cy="633046"/>
            </a:xfrm>
            <a:prstGeom prst="snip2DiagRect">
              <a:avLst/>
            </a:prstGeom>
            <a:solidFill>
              <a:schemeClr val="bg1">
                <a:lumMod val="95000"/>
              </a:schemeClr>
            </a:solid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400" b="1" dirty="0">
                  <a:solidFill>
                    <a:srgbClr val="6B6BCF"/>
                  </a:solidFill>
                </a:rPr>
                <a:t>Термический режим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431322" y="3612795"/>
              <a:ext cx="47126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/>
                <a:t>Температура воды (снега, льда), </a:t>
              </a:r>
              <a:r>
                <a:rPr lang="ru-RU" sz="1600" dirty="0" err="1"/>
                <a:t>теплозапас</a:t>
              </a:r>
              <a:endParaRPr lang="ru-RU" sz="1600" dirty="0"/>
            </a:p>
          </p:txBody>
        </p:sp>
      </p:grpSp>
      <p:grpSp>
        <p:nvGrpSpPr>
          <p:cNvPr id="17" name="Группа 16"/>
          <p:cNvGrpSpPr/>
          <p:nvPr/>
        </p:nvGrpSpPr>
        <p:grpSpPr>
          <a:xfrm>
            <a:off x="2157046" y="4307355"/>
            <a:ext cx="8510954" cy="633046"/>
            <a:chOff x="633046" y="4314001"/>
            <a:chExt cx="8510954" cy="633046"/>
          </a:xfrm>
        </p:grpSpPr>
        <p:sp>
          <p:nvSpPr>
            <p:cNvPr id="15" name="Прямоугольник с двумя усеченными противолежащими углами 14"/>
            <p:cNvSpPr/>
            <p:nvPr/>
          </p:nvSpPr>
          <p:spPr>
            <a:xfrm>
              <a:off x="633046" y="4314001"/>
              <a:ext cx="3798276" cy="633046"/>
            </a:xfrm>
            <a:prstGeom prst="snip2DiagRect">
              <a:avLst/>
            </a:prstGeom>
            <a:solidFill>
              <a:schemeClr val="bg1">
                <a:lumMod val="95000"/>
              </a:schemeClr>
            </a:solid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400" b="1" dirty="0">
                  <a:solidFill>
                    <a:srgbClr val="6B6BCF"/>
                  </a:solidFill>
                </a:rPr>
                <a:t>Гидрохимический режим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431322" y="4461247"/>
              <a:ext cx="47126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/>
                <a:t>Содержание растворенных веществ, газов</a:t>
              </a:r>
            </a:p>
          </p:txBody>
        </p:sp>
      </p:grpSp>
      <p:grpSp>
        <p:nvGrpSpPr>
          <p:cNvPr id="21" name="Группа 20"/>
          <p:cNvGrpSpPr/>
          <p:nvPr/>
        </p:nvGrpSpPr>
        <p:grpSpPr>
          <a:xfrm>
            <a:off x="2157046" y="5160894"/>
            <a:ext cx="8510954" cy="664079"/>
            <a:chOff x="633046" y="4314001"/>
            <a:chExt cx="8510954" cy="664079"/>
          </a:xfrm>
        </p:grpSpPr>
        <p:sp>
          <p:nvSpPr>
            <p:cNvPr id="22" name="Прямоугольник с двумя усеченными противолежащими углами 21"/>
            <p:cNvSpPr/>
            <p:nvPr/>
          </p:nvSpPr>
          <p:spPr>
            <a:xfrm>
              <a:off x="633046" y="4314001"/>
              <a:ext cx="3798276" cy="633046"/>
            </a:xfrm>
            <a:prstGeom prst="snip2DiagRect">
              <a:avLst/>
            </a:prstGeom>
            <a:solidFill>
              <a:schemeClr val="bg1">
                <a:lumMod val="95000"/>
              </a:schemeClr>
            </a:solid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400" b="1" dirty="0">
                  <a:solidFill>
                    <a:srgbClr val="6B6BCF"/>
                  </a:solidFill>
                </a:rPr>
                <a:t>Режим стока наносов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431322" y="4393305"/>
              <a:ext cx="471267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/>
                <a:t>Содержание взвешенных и </a:t>
              </a:r>
              <a:r>
                <a:rPr lang="ru-RU" sz="1600" dirty="0" err="1"/>
                <a:t>влекомых</a:t>
              </a:r>
              <a:r>
                <a:rPr lang="ru-RU" sz="1600" dirty="0"/>
                <a:t> наносов и соотношение между их формами</a:t>
              </a:r>
            </a:p>
          </p:txBody>
        </p:sp>
      </p:grpSp>
      <p:cxnSp>
        <p:nvCxnSpPr>
          <p:cNvPr id="3" name="Соединительная линия уступом 2"/>
          <p:cNvCxnSpPr/>
          <p:nvPr/>
        </p:nvCxnSpPr>
        <p:spPr>
          <a:xfrm rot="10800000" flipH="1" flipV="1">
            <a:off x="1858108" y="773964"/>
            <a:ext cx="298938" cy="1214863"/>
          </a:xfrm>
          <a:prstGeom prst="bentConnector3">
            <a:avLst>
              <a:gd name="adj1" fmla="val -44118"/>
            </a:avLst>
          </a:prstGeom>
          <a:ln w="28575">
            <a:solidFill>
              <a:srgbClr val="6B6BC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Соединительная линия уступом 26"/>
          <p:cNvCxnSpPr/>
          <p:nvPr/>
        </p:nvCxnSpPr>
        <p:spPr>
          <a:xfrm rot="16200000" flipH="1">
            <a:off x="1487607" y="2227442"/>
            <a:ext cx="908054" cy="430823"/>
          </a:xfrm>
          <a:prstGeom prst="bentConnector2">
            <a:avLst/>
          </a:prstGeom>
          <a:ln w="28575">
            <a:solidFill>
              <a:srgbClr val="6B6BC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Соединительная линия уступом 27"/>
          <p:cNvCxnSpPr/>
          <p:nvPr/>
        </p:nvCxnSpPr>
        <p:spPr>
          <a:xfrm rot="16200000" flipH="1">
            <a:off x="1487608" y="3074241"/>
            <a:ext cx="908054" cy="430823"/>
          </a:xfrm>
          <a:prstGeom prst="bentConnector2">
            <a:avLst/>
          </a:prstGeom>
          <a:ln w="28575">
            <a:solidFill>
              <a:srgbClr val="6B6BC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Соединительная линия уступом 28"/>
          <p:cNvCxnSpPr/>
          <p:nvPr/>
        </p:nvCxnSpPr>
        <p:spPr>
          <a:xfrm rot="16200000" flipH="1">
            <a:off x="1487607" y="3929543"/>
            <a:ext cx="908054" cy="430823"/>
          </a:xfrm>
          <a:prstGeom prst="bentConnector2">
            <a:avLst/>
          </a:prstGeom>
          <a:ln w="28575">
            <a:solidFill>
              <a:srgbClr val="6B6BC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Соединительная линия уступом 29"/>
          <p:cNvCxnSpPr/>
          <p:nvPr/>
        </p:nvCxnSpPr>
        <p:spPr>
          <a:xfrm rot="16200000" flipH="1">
            <a:off x="1487607" y="4793635"/>
            <a:ext cx="908054" cy="430823"/>
          </a:xfrm>
          <a:prstGeom prst="bentConnector2">
            <a:avLst/>
          </a:prstGeom>
          <a:ln w="28575">
            <a:solidFill>
              <a:srgbClr val="6B6BC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Соединительная линия уступом 30"/>
          <p:cNvCxnSpPr/>
          <p:nvPr/>
        </p:nvCxnSpPr>
        <p:spPr>
          <a:xfrm rot="16200000" flipH="1">
            <a:off x="1487608" y="5631644"/>
            <a:ext cx="908054" cy="430823"/>
          </a:xfrm>
          <a:prstGeom prst="bentConnector2">
            <a:avLst/>
          </a:prstGeom>
          <a:ln w="28575">
            <a:solidFill>
              <a:srgbClr val="6B6BC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227385" y="5917391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rgbClr val="6B6BCF"/>
                </a:solidFill>
              </a:rPr>
              <a:t>…</a:t>
            </a:r>
            <a:endParaRPr lang="ru-RU" b="1" dirty="0">
              <a:solidFill>
                <a:srgbClr val="6B6BC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7515118"/>
      </p:ext>
    </p:extLst>
  </p:cSld>
  <p:clrMapOvr>
    <a:masterClrMapping/>
  </p:clrMapOvr>
  <p:transition spd="med" advTm="1500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81046"/>
            <a:ext cx="6418293" cy="5176953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42036"/>
            <a:ext cx="12192000" cy="716327"/>
          </a:xfrm>
          <a:solidFill>
            <a:srgbClr val="6B6BCF"/>
          </a:solidFill>
        </p:spPr>
        <p:txBody>
          <a:bodyPr>
            <a:normAutofit/>
          </a:bodyPr>
          <a:lstStyle/>
          <a:p>
            <a:r>
              <a:rPr lang="ru-RU" sz="4000" dirty="0">
                <a:solidFill>
                  <a:schemeClr val="bg1"/>
                </a:solidFill>
                <a:ea typeface="Cambria" panose="02040503050406030204" pitchFamily="18" charset="0"/>
              </a:rPr>
              <a:t>Водный режим реки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51384" y="1141368"/>
            <a:ext cx="11449272" cy="55489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800" b="1" dirty="0">
                <a:solidFill>
                  <a:srgbClr val="6B6BCF"/>
                </a:solidFill>
                <a:latin typeface="+mj-lt"/>
              </a:rPr>
              <a:t>Гидрограф реки </a:t>
            </a:r>
            <a:r>
              <a:rPr lang="ru-RU" sz="2800" dirty="0">
                <a:latin typeface="+mj-lt"/>
              </a:rPr>
              <a:t>– график изменения расхода воды во времени</a:t>
            </a:r>
            <a:r>
              <a:rPr lang="en-US" sz="2800" dirty="0">
                <a:latin typeface="+mj-lt"/>
              </a:rPr>
              <a:t>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6256048" y="1879267"/>
            <a:ext cx="5672600" cy="47551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sz="3200" dirty="0">
                <a:latin typeface="+mj-lt"/>
              </a:rPr>
              <a:t>На гидрографе отображаются </a:t>
            </a:r>
            <a:r>
              <a:rPr lang="ru-RU" sz="3200" b="1" i="1" dirty="0">
                <a:solidFill>
                  <a:srgbClr val="6B6BCF"/>
                </a:solidFill>
                <a:latin typeface="+mj-lt"/>
              </a:rPr>
              <a:t>фазы водного режима реки</a:t>
            </a:r>
            <a:r>
              <a:rPr lang="ru-RU" sz="3200" i="1" dirty="0">
                <a:solidFill>
                  <a:srgbClr val="6B6BCF"/>
                </a:solidFill>
                <a:latin typeface="+mj-lt"/>
              </a:rPr>
              <a:t> </a:t>
            </a:r>
            <a:r>
              <a:rPr lang="ru-RU" sz="3200" i="1" dirty="0">
                <a:latin typeface="+mj-lt"/>
              </a:rPr>
              <a:t>– </a:t>
            </a:r>
            <a:r>
              <a:rPr lang="ru-RU" sz="3200" dirty="0">
                <a:latin typeface="+mj-lt"/>
              </a:rPr>
              <a:t>характерные закономерно повторяющиеся состояния водного режима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3200" b="1" dirty="0">
                <a:latin typeface="+mj-lt"/>
              </a:rPr>
              <a:t>Половодье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3200" b="1" dirty="0">
                <a:latin typeface="+mj-lt"/>
              </a:rPr>
              <a:t>Межень </a:t>
            </a:r>
            <a:endParaRPr lang="ru-RU" sz="3200" dirty="0">
              <a:latin typeface="+mj-lt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3200" b="1" dirty="0">
                <a:latin typeface="+mj-lt"/>
              </a:rPr>
              <a:t>Паводок </a:t>
            </a:r>
            <a:endParaRPr lang="ru-RU" sz="3200" dirty="0">
              <a:latin typeface="+mj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10265" y="3452154"/>
            <a:ext cx="173657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b="1" i="1" dirty="0">
                <a:solidFill>
                  <a:srgbClr val="6B6BCF"/>
                </a:solidFill>
                <a:latin typeface="+mj-lt"/>
              </a:rPr>
              <a:t>половодье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672" y="4785261"/>
            <a:ext cx="111166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b="1" i="1" dirty="0">
                <a:solidFill>
                  <a:srgbClr val="6B6BCF"/>
                </a:solidFill>
                <a:latin typeface="+mj-lt"/>
              </a:rPr>
              <a:t>межень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6838" y="4622185"/>
            <a:ext cx="127787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b="1" i="1" dirty="0">
                <a:solidFill>
                  <a:srgbClr val="6B6BCF"/>
                </a:solidFill>
                <a:latin typeface="+mj-lt"/>
              </a:rPr>
              <a:t>паводок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9402" y="4615724"/>
            <a:ext cx="127787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b="1" i="1" dirty="0">
                <a:solidFill>
                  <a:srgbClr val="6B6BCF"/>
                </a:solidFill>
                <a:latin typeface="+mj-lt"/>
              </a:rPr>
              <a:t>паводок</a:t>
            </a:r>
          </a:p>
        </p:txBody>
      </p:sp>
    </p:spTree>
    <p:extLst>
      <p:ext uri="{BB962C8B-B14F-4D97-AF65-F5344CB8AC3E}">
        <p14:creationId xmlns:p14="http://schemas.microsoft.com/office/powerpoint/2010/main" val="2924124481"/>
      </p:ext>
    </p:extLst>
  </p:cSld>
  <p:clrMapOvr>
    <a:masterClrMapping/>
  </p:clrMapOvr>
  <p:transition spd="med" advTm="1500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42036"/>
            <a:ext cx="12192000" cy="716327"/>
          </a:xfrm>
          <a:solidFill>
            <a:srgbClr val="6B6BCF"/>
          </a:solidFill>
        </p:spPr>
        <p:txBody>
          <a:bodyPr>
            <a:normAutofit/>
          </a:bodyPr>
          <a:lstStyle/>
          <a:p>
            <a:r>
              <a:rPr lang="ru-RU" sz="4000" dirty="0">
                <a:solidFill>
                  <a:schemeClr val="bg1"/>
                </a:solidFill>
                <a:ea typeface="Cambria" panose="02040503050406030204" pitchFamily="18" charset="0"/>
              </a:rPr>
              <a:t>Водный режим реки - определения</a:t>
            </a:r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191344" y="1052736"/>
            <a:ext cx="11809312" cy="5117123"/>
          </a:xfrm>
        </p:spPr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ru-RU" sz="2000" b="1" dirty="0">
                <a:solidFill>
                  <a:srgbClr val="6B6BCF"/>
                </a:solidFill>
              </a:rPr>
              <a:t>Водный режим </a:t>
            </a:r>
            <a:r>
              <a:rPr lang="ru-RU" sz="2000" dirty="0"/>
              <a:t>– закономерное изменение во времени уровней, расходов и объемов воды в водных объектах и </a:t>
            </a:r>
            <a:r>
              <a:rPr lang="ru-RU" sz="2000" dirty="0" err="1"/>
              <a:t>почвогрунтах</a:t>
            </a:r>
            <a:endParaRPr lang="ru-RU" sz="2000" dirty="0"/>
          </a:p>
          <a:p>
            <a:pPr algn="just">
              <a:lnSpc>
                <a:spcPct val="120000"/>
              </a:lnSpc>
            </a:pPr>
            <a:r>
              <a:rPr lang="ru-RU" sz="2000" b="1" dirty="0">
                <a:solidFill>
                  <a:srgbClr val="6B6BCF"/>
                </a:solidFill>
              </a:rPr>
              <a:t>Фаза водного режима </a:t>
            </a:r>
            <a:r>
              <a:rPr lang="ru-RU" sz="2000" dirty="0"/>
              <a:t>– характерное состояние водного режима реки, повторяющееся в определенные гидрологические сезоны в связи с изменением условий питания.</a:t>
            </a:r>
          </a:p>
          <a:p>
            <a:pPr algn="just">
              <a:lnSpc>
                <a:spcPct val="120000"/>
              </a:lnSpc>
            </a:pPr>
            <a:r>
              <a:rPr lang="ru-RU" sz="2000" b="1" dirty="0">
                <a:solidFill>
                  <a:srgbClr val="6B6BCF"/>
                </a:solidFill>
              </a:rPr>
              <a:t>Половодье</a:t>
            </a:r>
            <a:r>
              <a:rPr lang="ru-RU" sz="2000" b="1" dirty="0">
                <a:solidFill>
                  <a:schemeClr val="accent5"/>
                </a:solidFill>
              </a:rPr>
              <a:t> </a:t>
            </a:r>
            <a:r>
              <a:rPr lang="ru-RU" sz="2000" dirty="0"/>
              <a:t>– фаза водного режима реки, </a:t>
            </a:r>
            <a:r>
              <a:rPr lang="ru-RU" sz="2000" b="1" dirty="0"/>
              <a:t>ежегодно повторяющаяся </a:t>
            </a:r>
            <a:r>
              <a:rPr lang="ru-RU" sz="2000" dirty="0"/>
              <a:t>в данных климатических условиях </a:t>
            </a:r>
            <a:r>
              <a:rPr lang="ru-RU" sz="2000" b="1" dirty="0"/>
              <a:t>в один и тот же сезон</a:t>
            </a:r>
            <a:r>
              <a:rPr lang="ru-RU" sz="2000" dirty="0"/>
              <a:t>, характеризующаяся наибольшей водностью, высоким и длительным подъемом уровня воды, и вызываемая снеготаянием или совместным таянием снега и ледников.</a:t>
            </a:r>
          </a:p>
          <a:p>
            <a:pPr algn="just">
              <a:lnSpc>
                <a:spcPct val="120000"/>
              </a:lnSpc>
            </a:pPr>
            <a:r>
              <a:rPr lang="ru-RU" sz="2000" b="1" dirty="0">
                <a:solidFill>
                  <a:srgbClr val="6B6BCF"/>
                </a:solidFill>
              </a:rPr>
              <a:t>Паводок</a:t>
            </a:r>
            <a:r>
              <a:rPr lang="ru-RU" sz="2000" dirty="0"/>
              <a:t> – фаза водного режима реки, которая </a:t>
            </a:r>
            <a:r>
              <a:rPr lang="ru-RU" sz="2000" b="1" dirty="0"/>
              <a:t>может многократно повторяться в различные сезоны года</a:t>
            </a:r>
            <a:r>
              <a:rPr lang="ru-RU" sz="2000" dirty="0"/>
              <a:t>, характеризуется интенсивным обычно кратковременным увеличением расходов и уровней воды и вызывается дождями или снеготаянием во время оттепелей</a:t>
            </a:r>
          </a:p>
          <a:p>
            <a:pPr algn="just">
              <a:lnSpc>
                <a:spcPct val="120000"/>
              </a:lnSpc>
            </a:pPr>
            <a:r>
              <a:rPr lang="ru-RU" sz="2000" b="1" dirty="0">
                <a:solidFill>
                  <a:srgbClr val="6B6BCF"/>
                </a:solidFill>
              </a:rPr>
              <a:t>Межень</a:t>
            </a:r>
            <a:r>
              <a:rPr lang="ru-RU" sz="2000" dirty="0"/>
              <a:t> – фаза водного режима реки, ежегодно повторяющаяся в одни и те же сезоны, характеризующаяся малой водностью, длительным стоянием низкого уровня, и возникающая вследствие уменьшения питания реки.</a:t>
            </a:r>
          </a:p>
        </p:txBody>
      </p:sp>
    </p:spTree>
    <p:extLst>
      <p:ext uri="{BB962C8B-B14F-4D97-AF65-F5344CB8AC3E}">
        <p14:creationId xmlns:p14="http://schemas.microsoft.com/office/powerpoint/2010/main" val="63205488"/>
      </p:ext>
    </p:extLst>
  </p:cSld>
  <p:clrMapOvr>
    <a:masterClrMapping/>
  </p:clrMapOvr>
  <p:transition spd="med" advTm="1500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81046"/>
            <a:ext cx="6418293" cy="5176953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42036"/>
            <a:ext cx="12192000" cy="716327"/>
          </a:xfrm>
          <a:solidFill>
            <a:srgbClr val="6B6BCF"/>
          </a:solidFill>
        </p:spPr>
        <p:txBody>
          <a:bodyPr>
            <a:normAutofit/>
          </a:bodyPr>
          <a:lstStyle/>
          <a:p>
            <a:r>
              <a:rPr lang="ru-RU" sz="4000" dirty="0">
                <a:solidFill>
                  <a:schemeClr val="bg1"/>
                </a:solidFill>
                <a:ea typeface="Cambria" panose="02040503050406030204" pitchFamily="18" charset="0"/>
              </a:rPr>
              <a:t>Водный режим реки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51384" y="1141368"/>
            <a:ext cx="11449272" cy="55489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800" b="1" dirty="0">
                <a:solidFill>
                  <a:srgbClr val="6B6BCF"/>
                </a:solidFill>
                <a:latin typeface="+mj-lt"/>
              </a:rPr>
              <a:t>Гидрограф реки </a:t>
            </a:r>
            <a:r>
              <a:rPr lang="ru-RU" sz="2800" dirty="0">
                <a:latin typeface="+mj-lt"/>
              </a:rPr>
              <a:t>– график изменения расхода воды во времени</a:t>
            </a:r>
            <a:r>
              <a:rPr lang="en-US" sz="2800" dirty="0">
                <a:latin typeface="+mj-lt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10265" y="3452154"/>
            <a:ext cx="173657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b="1" i="1" dirty="0" smtClean="0">
                <a:solidFill>
                  <a:srgbClr val="6B6BCF"/>
                </a:solidFill>
                <a:latin typeface="+mj-lt"/>
              </a:rPr>
              <a:t>снеговое</a:t>
            </a:r>
            <a:endParaRPr lang="ru-RU" b="1" i="1" dirty="0">
              <a:solidFill>
                <a:srgbClr val="6B6BCF"/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5360" y="4785261"/>
            <a:ext cx="143997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b="1" i="1" dirty="0" smtClean="0">
                <a:solidFill>
                  <a:srgbClr val="6B6BCF"/>
                </a:solidFill>
                <a:latin typeface="+mj-lt"/>
              </a:rPr>
              <a:t>подземное</a:t>
            </a:r>
            <a:endParaRPr lang="ru-RU" b="1" i="1" dirty="0">
              <a:solidFill>
                <a:srgbClr val="6B6BCF"/>
              </a:solidFill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223792" y="4622185"/>
            <a:ext cx="150092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b="1" i="1" dirty="0" smtClean="0">
                <a:solidFill>
                  <a:srgbClr val="6B6BCF"/>
                </a:solidFill>
                <a:latin typeface="+mj-lt"/>
              </a:rPr>
              <a:t>   дождевое</a:t>
            </a:r>
            <a:endParaRPr lang="ru-RU" b="1" i="1" dirty="0">
              <a:solidFill>
                <a:srgbClr val="6B6BCF"/>
              </a:solidFill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55640" y="4615724"/>
            <a:ext cx="152163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b="1" i="1" dirty="0" smtClean="0">
                <a:solidFill>
                  <a:srgbClr val="6B6BCF"/>
                </a:solidFill>
                <a:latin typeface="+mj-lt"/>
              </a:rPr>
              <a:t>дождевое</a:t>
            </a:r>
            <a:endParaRPr lang="ru-RU" b="1" i="1" dirty="0">
              <a:solidFill>
                <a:srgbClr val="6B6BCF"/>
              </a:solidFill>
              <a:latin typeface="+mj-lt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6256048" y="1879268"/>
            <a:ext cx="5456576" cy="49090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sz="3200" dirty="0"/>
              <a:t>По анализу гидрографа можно оценить, какой вклад в речной сток вносят разные </a:t>
            </a:r>
            <a:r>
              <a:rPr lang="ru-RU" sz="3200" b="1" i="1" dirty="0">
                <a:solidFill>
                  <a:srgbClr val="6B6BCF"/>
                </a:solidFill>
              </a:rPr>
              <a:t>типы питания: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3200" b="1" dirty="0"/>
              <a:t>Дождевое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3200" b="1" dirty="0"/>
              <a:t>Снеговое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3200" b="1" dirty="0"/>
              <a:t>Подземное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3200" b="1" dirty="0"/>
              <a:t>Ледниковое</a:t>
            </a:r>
          </a:p>
          <a:p>
            <a:pPr>
              <a:spcAft>
                <a:spcPts val="600"/>
              </a:spcAft>
            </a:pPr>
            <a:endParaRPr lang="ru-RU" sz="3200" b="1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2790329"/>
      </p:ext>
    </p:extLst>
  </p:cSld>
  <p:clrMapOvr>
    <a:masterClrMapping/>
  </p:clrMapOvr>
  <p:transition spd="med" advTm="1500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42036"/>
            <a:ext cx="12192000" cy="716327"/>
          </a:xfrm>
          <a:solidFill>
            <a:srgbClr val="6B6BCF"/>
          </a:solidFill>
        </p:spPr>
        <p:txBody>
          <a:bodyPr>
            <a:normAutofit/>
          </a:bodyPr>
          <a:lstStyle/>
          <a:p>
            <a:r>
              <a:rPr lang="ru-RU" sz="4000" dirty="0">
                <a:solidFill>
                  <a:schemeClr val="bg1"/>
                </a:solidFill>
                <a:ea typeface="Cambria" panose="02040503050406030204" pitchFamily="18" charset="0"/>
              </a:rPr>
              <a:t>Питание рек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31149" y="1406827"/>
            <a:ext cx="8746241" cy="4805363"/>
          </a:xfrm>
        </p:spPr>
        <p:txBody>
          <a:bodyPr>
            <a:normAutofit fontScale="70000" lnSpcReduction="20000"/>
          </a:bodyPr>
          <a:lstStyle/>
          <a:p>
            <a:r>
              <a:rPr lang="ru-RU" sz="3400" b="1" dirty="0">
                <a:solidFill>
                  <a:srgbClr val="6B6BCF"/>
                </a:solidFill>
                <a:latin typeface="+mj-lt"/>
              </a:rPr>
              <a:t>Дождевое</a:t>
            </a:r>
            <a:r>
              <a:rPr lang="ru-RU" sz="3400" dirty="0">
                <a:solidFill>
                  <a:srgbClr val="6B6BCF"/>
                </a:solidFill>
                <a:latin typeface="+mj-lt"/>
              </a:rPr>
              <a:t> </a:t>
            </a:r>
            <a:r>
              <a:rPr lang="ru-RU" sz="3400" dirty="0">
                <a:latin typeface="+mj-lt"/>
              </a:rPr>
              <a:t>– главный тип для рек теплого климата (Амазонка, Ганг, Меконг, Янцзы</a:t>
            </a:r>
            <a:r>
              <a:rPr lang="ru-RU" sz="3400" dirty="0" smtClean="0">
                <a:latin typeface="+mj-lt"/>
              </a:rPr>
              <a:t>)</a:t>
            </a:r>
          </a:p>
          <a:p>
            <a:pPr marL="0" indent="0">
              <a:buNone/>
            </a:pPr>
            <a:endParaRPr lang="ru-RU" sz="3400" dirty="0">
              <a:latin typeface="+mj-lt"/>
            </a:endParaRPr>
          </a:p>
          <a:p>
            <a:r>
              <a:rPr lang="ru-RU" sz="3400" b="1" dirty="0">
                <a:solidFill>
                  <a:srgbClr val="6B6BCF"/>
                </a:solidFill>
                <a:latin typeface="+mj-lt"/>
              </a:rPr>
              <a:t>Снеговое </a:t>
            </a:r>
            <a:r>
              <a:rPr lang="ru-RU" sz="3400" dirty="0">
                <a:latin typeface="+mj-lt"/>
              </a:rPr>
              <a:t>– основной тип для рек умеренного климата (в </a:t>
            </a:r>
            <a:r>
              <a:rPr lang="ru-RU" sz="3400" dirty="0" err="1">
                <a:latin typeface="+mj-lt"/>
              </a:rPr>
              <a:t>т.ч</a:t>
            </a:r>
            <a:r>
              <a:rPr lang="ru-RU" sz="3400" dirty="0">
                <a:latin typeface="+mj-lt"/>
              </a:rPr>
              <a:t>. большая часть России</a:t>
            </a:r>
            <a:r>
              <a:rPr lang="ru-RU" sz="3400" dirty="0" smtClean="0">
                <a:latin typeface="+mj-lt"/>
              </a:rPr>
              <a:t>)</a:t>
            </a:r>
          </a:p>
          <a:p>
            <a:endParaRPr lang="ru-RU" sz="3400" dirty="0">
              <a:latin typeface="+mj-lt"/>
            </a:endParaRPr>
          </a:p>
          <a:p>
            <a:r>
              <a:rPr lang="ru-RU" sz="3400" b="1" dirty="0">
                <a:solidFill>
                  <a:srgbClr val="6B6BCF"/>
                </a:solidFill>
                <a:latin typeface="+mj-lt"/>
              </a:rPr>
              <a:t>Подземное </a:t>
            </a:r>
            <a:endParaRPr lang="ru-RU" sz="3400" b="1" dirty="0" smtClean="0">
              <a:solidFill>
                <a:srgbClr val="6B6BCF"/>
              </a:solidFill>
              <a:latin typeface="+mj-lt"/>
            </a:endParaRPr>
          </a:p>
          <a:p>
            <a:endParaRPr lang="ru-RU" sz="3400" b="1" dirty="0">
              <a:solidFill>
                <a:srgbClr val="6B6BCF"/>
              </a:solidFill>
              <a:latin typeface="+mj-lt"/>
            </a:endParaRPr>
          </a:p>
          <a:p>
            <a:r>
              <a:rPr lang="ru-RU" sz="3400" b="1" dirty="0">
                <a:solidFill>
                  <a:srgbClr val="6B6BCF"/>
                </a:solidFill>
                <a:latin typeface="+mj-lt"/>
              </a:rPr>
              <a:t>Ледниковое</a:t>
            </a:r>
          </a:p>
          <a:p>
            <a:pPr marL="0" indent="0">
              <a:buNone/>
            </a:pPr>
            <a:endParaRPr lang="ru-RU" b="1" dirty="0">
              <a:solidFill>
                <a:schemeClr val="accent5"/>
              </a:solidFill>
              <a:latin typeface="+mj-lt"/>
            </a:endParaRPr>
          </a:p>
          <a:p>
            <a:pPr marL="0" indent="0">
              <a:buNone/>
            </a:pPr>
            <a:r>
              <a:rPr lang="ru-RU" dirty="0">
                <a:latin typeface="+mj-lt"/>
              </a:rPr>
              <a:t>Вода в любом случае имеет атмосферное происхождение, но за счет разного взаимодействия с атмосферой, поверхностью земли, почвами и глубокими подземными горизонтами свойства разные</a:t>
            </a:r>
          </a:p>
        </p:txBody>
      </p:sp>
      <p:sp>
        <p:nvSpPr>
          <p:cNvPr id="4" name="Левая фигурная скобка 3"/>
          <p:cNvSpPr/>
          <p:nvPr/>
        </p:nvSpPr>
        <p:spPr>
          <a:xfrm>
            <a:off x="2495600" y="1389214"/>
            <a:ext cx="781732" cy="2399826"/>
          </a:xfrm>
          <a:prstGeom prst="leftBrace">
            <a:avLst>
              <a:gd name="adj1" fmla="val 26626"/>
              <a:gd name="adj2" fmla="val 46698"/>
            </a:avLst>
          </a:prstGeom>
          <a:ln w="38100">
            <a:solidFill>
              <a:srgbClr val="6B6B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6B6BC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98966" y="1988962"/>
            <a:ext cx="18912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i="1" dirty="0">
                <a:latin typeface="+mj-lt"/>
              </a:rPr>
              <a:t>Примерно по 1/3 от питания рек мира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3517" y="4002574"/>
            <a:ext cx="14067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latin typeface="+mj-lt"/>
              </a:rPr>
              <a:t>~1%</a:t>
            </a:r>
            <a:r>
              <a:rPr lang="ru-RU" i="1" dirty="0">
                <a:latin typeface="+mj-lt"/>
              </a:rPr>
              <a:t> от рек мира</a:t>
            </a:r>
          </a:p>
        </p:txBody>
      </p:sp>
      <p:sp>
        <p:nvSpPr>
          <p:cNvPr id="10" name="Левая фигурная скобка 9"/>
          <p:cNvSpPr/>
          <p:nvPr/>
        </p:nvSpPr>
        <p:spPr>
          <a:xfrm>
            <a:off x="2495600" y="4002574"/>
            <a:ext cx="781732" cy="656456"/>
          </a:xfrm>
          <a:prstGeom prst="leftBrace">
            <a:avLst>
              <a:gd name="adj1" fmla="val 26626"/>
              <a:gd name="adj2" fmla="val 46698"/>
            </a:avLst>
          </a:prstGeom>
          <a:ln w="38100">
            <a:solidFill>
              <a:srgbClr val="6B6B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6B6BC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1501573"/>
      </p:ext>
    </p:extLst>
  </p:cSld>
  <p:clrMapOvr>
    <a:masterClrMapping/>
  </p:clrMapOvr>
  <p:transition spd="med" advTm="1500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75520" y="2348880"/>
            <a:ext cx="9144000" cy="2022231"/>
          </a:xfrm>
          <a:solidFill>
            <a:srgbClr val="6B6BCF"/>
          </a:solidFill>
        </p:spPr>
        <p:txBody>
          <a:bodyPr>
            <a:no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  <a:ea typeface="Cambria" panose="02040503050406030204" pitchFamily="18" charset="0"/>
              </a:rPr>
              <a:t>Классификации рек по водному режиму и источникам питания</a:t>
            </a:r>
            <a:endParaRPr lang="ru-RU" sz="4000" i="1" dirty="0">
              <a:solidFill>
                <a:schemeClr val="bg1"/>
              </a:solidFill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8486611"/>
      </p:ext>
    </p:extLst>
  </p:cSld>
  <p:clrMapOvr>
    <a:masterClrMapping/>
  </p:clrMapOvr>
  <p:transition spd="med" advTm="1500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58263"/>
            <a:ext cx="12192000" cy="835269"/>
          </a:xfrm>
          <a:solidFill>
            <a:srgbClr val="6B6BCF"/>
          </a:solidFill>
        </p:spPr>
        <p:txBody>
          <a:bodyPr>
            <a:noAutofit/>
          </a:bodyPr>
          <a:lstStyle/>
          <a:p>
            <a:r>
              <a:rPr lang="ru-RU" sz="2800" dirty="0">
                <a:solidFill>
                  <a:schemeClr val="bg1"/>
                </a:solidFill>
                <a:ea typeface="Cambria" panose="02040503050406030204" pitchFamily="18" charset="0"/>
              </a:rPr>
              <a:t>Классификации рек по водному режиму и источникам питания: </a:t>
            </a:r>
            <a:r>
              <a:rPr lang="ru-RU" sz="2800" i="1" dirty="0">
                <a:solidFill>
                  <a:schemeClr val="bg1"/>
                </a:solidFill>
                <a:ea typeface="Cambria" panose="02040503050406030204" pitchFamily="18" charset="0"/>
              </a:rPr>
              <a:t>классификация Львовича</a:t>
            </a:r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263352" y="1114723"/>
            <a:ext cx="11665296" cy="1090245"/>
          </a:xfrm>
        </p:spPr>
        <p:txBody>
          <a:bodyPr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-RU" b="1" dirty="0">
                <a:solidFill>
                  <a:srgbClr val="6B6BCF"/>
                </a:solidFill>
              </a:rPr>
              <a:t>М.И. Львович </a:t>
            </a:r>
            <a:r>
              <a:rPr lang="ru-RU" dirty="0"/>
              <a:t>– классификация всех рек земного шара на основе вклада разных видов питания в годовой сток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407368" y="2197991"/>
            <a:ext cx="2768893" cy="571500"/>
          </a:xfrm>
          <a:prstGeom prst="rect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accent4"/>
                </a:solidFill>
              </a:rPr>
              <a:t>Главный тип питания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407368" y="2769491"/>
            <a:ext cx="2768893" cy="342900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accent4"/>
                </a:solidFill>
              </a:rPr>
              <a:t>Дождевое</a:t>
            </a:r>
            <a:r>
              <a:rPr lang="en-US" dirty="0" smtClean="0">
                <a:solidFill>
                  <a:schemeClr val="accent4"/>
                </a:solidFill>
              </a:rPr>
              <a:t> (R)</a:t>
            </a:r>
            <a:endParaRPr lang="ru-RU" dirty="0">
              <a:solidFill>
                <a:schemeClr val="accent4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07368" y="3117978"/>
            <a:ext cx="2768893" cy="342900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accent4"/>
                </a:solidFill>
              </a:rPr>
              <a:t>Снеговое (</a:t>
            </a:r>
            <a:r>
              <a:rPr lang="en-US" dirty="0" smtClean="0">
                <a:solidFill>
                  <a:schemeClr val="accent4"/>
                </a:solidFill>
              </a:rPr>
              <a:t>S</a:t>
            </a:r>
            <a:r>
              <a:rPr lang="ru-RU" dirty="0" smtClean="0">
                <a:solidFill>
                  <a:schemeClr val="accent4"/>
                </a:solidFill>
              </a:rPr>
              <a:t>)</a:t>
            </a:r>
            <a:endParaRPr lang="ru-RU" dirty="0">
              <a:solidFill>
                <a:schemeClr val="accent4"/>
              </a:solidFill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407368" y="3466465"/>
            <a:ext cx="2768893" cy="342900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accent4"/>
                </a:solidFill>
              </a:rPr>
              <a:t>Подземное</a:t>
            </a:r>
            <a:r>
              <a:rPr lang="en-US" dirty="0" smtClean="0">
                <a:solidFill>
                  <a:schemeClr val="accent4"/>
                </a:solidFill>
              </a:rPr>
              <a:t> (U)</a:t>
            </a:r>
            <a:endParaRPr lang="ru-RU" dirty="0">
              <a:solidFill>
                <a:schemeClr val="accent4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407368" y="3814951"/>
            <a:ext cx="2768893" cy="342900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accent4"/>
                </a:solidFill>
              </a:rPr>
              <a:t>Ледниковое</a:t>
            </a:r>
            <a:r>
              <a:rPr lang="en-US" dirty="0" smtClean="0">
                <a:solidFill>
                  <a:schemeClr val="accent4"/>
                </a:solidFill>
              </a:rPr>
              <a:t> (G)</a:t>
            </a:r>
            <a:endParaRPr lang="ru-RU" dirty="0">
              <a:solidFill>
                <a:schemeClr val="accent4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3503712" y="2187753"/>
            <a:ext cx="3141076" cy="58312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 dirty="0">
                <a:solidFill>
                  <a:schemeClr val="accent4"/>
                </a:solidFill>
              </a:rPr>
              <a:t>Сезон, в который проходит основная часть стока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3503712" y="2763904"/>
            <a:ext cx="3141076" cy="349876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accent4"/>
                </a:solidFill>
              </a:rPr>
              <a:t>Зима</a:t>
            </a:r>
            <a:r>
              <a:rPr lang="en-US" dirty="0" smtClean="0">
                <a:solidFill>
                  <a:schemeClr val="accent4"/>
                </a:solidFill>
              </a:rPr>
              <a:t> (n)</a:t>
            </a:r>
            <a:endParaRPr lang="ru-RU" dirty="0">
              <a:solidFill>
                <a:schemeClr val="accent4"/>
              </a:solidFill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3503712" y="3112391"/>
            <a:ext cx="3141076" cy="349876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accent4"/>
                </a:solidFill>
              </a:rPr>
              <a:t>Весна</a:t>
            </a:r>
            <a:r>
              <a:rPr lang="en-US" dirty="0" smtClean="0">
                <a:solidFill>
                  <a:schemeClr val="accent4"/>
                </a:solidFill>
              </a:rPr>
              <a:t> (p)</a:t>
            </a:r>
            <a:endParaRPr lang="ru-RU" dirty="0">
              <a:solidFill>
                <a:schemeClr val="accent4"/>
              </a:solidFill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3503712" y="3460878"/>
            <a:ext cx="3141076" cy="349876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accent4"/>
                </a:solidFill>
              </a:rPr>
              <a:t>Лето</a:t>
            </a:r>
            <a:r>
              <a:rPr lang="en-US" dirty="0" smtClean="0">
                <a:solidFill>
                  <a:schemeClr val="accent4"/>
                </a:solidFill>
              </a:rPr>
              <a:t> (e)</a:t>
            </a:r>
            <a:endParaRPr lang="ru-RU" dirty="0">
              <a:solidFill>
                <a:schemeClr val="accent4"/>
              </a:solidFill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3503712" y="3809364"/>
            <a:ext cx="3141076" cy="349876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accent4"/>
                </a:solidFill>
              </a:rPr>
              <a:t>Осень</a:t>
            </a:r>
            <a:r>
              <a:rPr lang="en-US" dirty="0" smtClean="0">
                <a:solidFill>
                  <a:schemeClr val="accent4"/>
                </a:solidFill>
              </a:rPr>
              <a:t> (a)</a:t>
            </a:r>
            <a:endParaRPr lang="ru-RU" dirty="0">
              <a:solidFill>
                <a:schemeClr val="accent4"/>
              </a:solidFill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6930530" y="2199380"/>
            <a:ext cx="4566070" cy="9144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accent4"/>
                </a:solidFill>
              </a:rPr>
              <a:t>Степень преобладания источника питания или сезона (в % от годового стока)</a:t>
            </a:r>
          </a:p>
        </p:txBody>
      </p:sp>
      <p:sp>
        <p:nvSpPr>
          <p:cNvPr id="18" name="Прямоугольник 17"/>
          <p:cNvSpPr/>
          <p:nvPr/>
        </p:nvSpPr>
        <p:spPr>
          <a:xfrm>
            <a:off x="6930531" y="3113780"/>
            <a:ext cx="4566069" cy="3429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&gt;80% - </a:t>
            </a:r>
            <a:r>
              <a:rPr lang="ru-RU" dirty="0" smtClean="0">
                <a:solidFill>
                  <a:schemeClr val="accent4"/>
                </a:solidFill>
              </a:rPr>
              <a:t>исключительное (1 заглавная) </a:t>
            </a:r>
            <a:endParaRPr lang="ru-RU" dirty="0">
              <a:solidFill>
                <a:schemeClr val="accent4"/>
              </a:solidFill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6930530" y="3462267"/>
            <a:ext cx="4566067" cy="3429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accent4"/>
                </a:solidFill>
              </a:rPr>
              <a:t>50-80% - </a:t>
            </a:r>
            <a:r>
              <a:rPr lang="ru-RU" dirty="0" smtClean="0">
                <a:solidFill>
                  <a:schemeClr val="accent4"/>
                </a:solidFill>
              </a:rPr>
              <a:t>преимущественное (1заг+1 </a:t>
            </a:r>
            <a:r>
              <a:rPr lang="ru-RU" dirty="0" err="1" smtClean="0">
                <a:solidFill>
                  <a:schemeClr val="accent4"/>
                </a:solidFill>
              </a:rPr>
              <a:t>ст</a:t>
            </a:r>
            <a:r>
              <a:rPr lang="ru-RU" dirty="0" smtClean="0">
                <a:solidFill>
                  <a:schemeClr val="accent4"/>
                </a:solidFill>
              </a:rPr>
              <a:t>)</a:t>
            </a:r>
            <a:endParaRPr lang="ru-RU" dirty="0">
              <a:solidFill>
                <a:schemeClr val="accent4"/>
              </a:solidFill>
            </a:endParaRPr>
          </a:p>
        </p:txBody>
      </p:sp>
      <p:sp>
        <p:nvSpPr>
          <p:cNvPr id="20" name="Прямоугольник 19"/>
          <p:cNvSpPr/>
          <p:nvPr/>
        </p:nvSpPr>
        <p:spPr>
          <a:xfrm>
            <a:off x="6930530" y="3810754"/>
            <a:ext cx="4566067" cy="3429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&lt;50% - </a:t>
            </a:r>
            <a:r>
              <a:rPr lang="ru-RU" dirty="0" smtClean="0">
                <a:solidFill>
                  <a:schemeClr val="accent4"/>
                </a:solidFill>
              </a:rPr>
              <a:t>преобладающее (2 </a:t>
            </a:r>
            <a:r>
              <a:rPr lang="ru-RU" dirty="0" err="1" smtClean="0">
                <a:solidFill>
                  <a:schemeClr val="accent4"/>
                </a:solidFill>
              </a:rPr>
              <a:t>стчроные</a:t>
            </a:r>
            <a:r>
              <a:rPr lang="ru-RU" dirty="0" smtClean="0">
                <a:solidFill>
                  <a:schemeClr val="accent4"/>
                </a:solidFill>
              </a:rPr>
              <a:t>)</a:t>
            </a:r>
            <a:endParaRPr lang="ru-RU" dirty="0">
              <a:solidFill>
                <a:schemeClr val="accent4"/>
              </a:solidFill>
            </a:endParaRPr>
          </a:p>
        </p:txBody>
      </p:sp>
      <p:sp>
        <p:nvSpPr>
          <p:cNvPr id="22" name="Объект 3"/>
          <p:cNvSpPr txBox="1">
            <a:spLocks/>
          </p:cNvSpPr>
          <p:nvPr/>
        </p:nvSpPr>
        <p:spPr>
          <a:xfrm>
            <a:off x="263352" y="4546839"/>
            <a:ext cx="3856129" cy="190123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-RU" dirty="0">
                <a:solidFill>
                  <a:schemeClr val="accent4"/>
                </a:solidFill>
              </a:rPr>
              <a:t>Из всех возможных комбинаций </a:t>
            </a:r>
            <a:r>
              <a:rPr lang="ru-RU" b="1" dirty="0">
                <a:solidFill>
                  <a:schemeClr val="accent4"/>
                </a:solidFill>
              </a:rPr>
              <a:t>Львовичем</a:t>
            </a:r>
            <a:r>
              <a:rPr lang="ru-RU" dirty="0">
                <a:solidFill>
                  <a:schemeClr val="accent4"/>
                </a:solidFill>
              </a:rPr>
              <a:t> в мире было обнаружено 38 групп водного режима, из них на территории СССР встречалось 20</a:t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013" y="4211465"/>
            <a:ext cx="6672863" cy="2571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507234"/>
      </p:ext>
    </p:extLst>
  </p:cSld>
  <p:clrMapOvr>
    <a:masterClrMapping/>
  </p:clrMapOvr>
  <p:transition spd="med" advTm="15000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58263"/>
            <a:ext cx="12192000" cy="835269"/>
          </a:xfrm>
          <a:solidFill>
            <a:srgbClr val="6B6BCF"/>
          </a:solidFill>
        </p:spPr>
        <p:txBody>
          <a:bodyPr>
            <a:noAutofit/>
          </a:bodyPr>
          <a:lstStyle/>
          <a:p>
            <a:r>
              <a:rPr lang="ru-RU" sz="2800" dirty="0">
                <a:solidFill>
                  <a:schemeClr val="bg1"/>
                </a:solidFill>
                <a:ea typeface="Cambria" panose="02040503050406030204" pitchFamily="18" charset="0"/>
              </a:rPr>
              <a:t>Классификации рек по водному режиму и источникам питания: </a:t>
            </a:r>
            <a:r>
              <a:rPr lang="ru-RU" sz="2800" i="1" dirty="0">
                <a:solidFill>
                  <a:schemeClr val="bg1"/>
                </a:solidFill>
                <a:ea typeface="Cambria" panose="02040503050406030204" pitchFamily="18" charset="0"/>
              </a:rPr>
              <a:t>классификация Львовича</a:t>
            </a:r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263352" y="1114723"/>
            <a:ext cx="11665296" cy="1090245"/>
          </a:xfrm>
        </p:spPr>
        <p:txBody>
          <a:bodyPr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-RU" b="1" dirty="0">
                <a:solidFill>
                  <a:srgbClr val="6B6BCF"/>
                </a:solidFill>
              </a:rPr>
              <a:t>М.И. Львович </a:t>
            </a:r>
            <a:r>
              <a:rPr lang="ru-RU" dirty="0"/>
              <a:t>– классификация всех рек земного шара на основе вклада разных видов питания в годовой сток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3432" y="4681268"/>
            <a:ext cx="3744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Пример </a:t>
            </a:r>
            <a:endParaRPr lang="ru-RU" dirty="0"/>
          </a:p>
        </p:txBody>
      </p:sp>
      <p:sp>
        <p:nvSpPr>
          <p:cNvPr id="23" name="Прямоугольник 22"/>
          <p:cNvSpPr/>
          <p:nvPr/>
        </p:nvSpPr>
        <p:spPr>
          <a:xfrm>
            <a:off x="2999656" y="4655418"/>
            <a:ext cx="2768893" cy="571500"/>
          </a:xfrm>
          <a:prstGeom prst="rect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accent4"/>
                </a:solidFill>
              </a:rPr>
              <a:t>Главный тип питания</a:t>
            </a:r>
          </a:p>
        </p:txBody>
      </p:sp>
      <p:sp>
        <p:nvSpPr>
          <p:cNvPr id="25" name="Прямоугольник 24"/>
          <p:cNvSpPr/>
          <p:nvPr/>
        </p:nvSpPr>
        <p:spPr>
          <a:xfrm>
            <a:off x="2999656" y="5226918"/>
            <a:ext cx="2768893" cy="342900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accent4"/>
                </a:solidFill>
              </a:rPr>
              <a:t>Дождевое</a:t>
            </a:r>
            <a:r>
              <a:rPr lang="en-US" dirty="0" smtClean="0">
                <a:solidFill>
                  <a:schemeClr val="accent4"/>
                </a:solidFill>
              </a:rPr>
              <a:t> (R)</a:t>
            </a:r>
            <a:r>
              <a:rPr lang="ru-RU" dirty="0" smtClean="0">
                <a:solidFill>
                  <a:schemeClr val="accent4"/>
                </a:solidFill>
              </a:rPr>
              <a:t> 5%</a:t>
            </a:r>
            <a:endParaRPr lang="ru-RU" dirty="0">
              <a:solidFill>
                <a:schemeClr val="accent4"/>
              </a:solidFill>
            </a:endParaRPr>
          </a:p>
        </p:txBody>
      </p:sp>
      <p:sp>
        <p:nvSpPr>
          <p:cNvPr id="26" name="Прямоугольник 25"/>
          <p:cNvSpPr/>
          <p:nvPr/>
        </p:nvSpPr>
        <p:spPr>
          <a:xfrm>
            <a:off x="2999656" y="5575405"/>
            <a:ext cx="2768893" cy="342900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accent4"/>
                </a:solidFill>
              </a:rPr>
              <a:t>Снеговое (</a:t>
            </a:r>
            <a:r>
              <a:rPr lang="en-US" dirty="0" smtClean="0">
                <a:solidFill>
                  <a:schemeClr val="accent4"/>
                </a:solidFill>
              </a:rPr>
              <a:t>S</a:t>
            </a:r>
            <a:r>
              <a:rPr lang="ru-RU" dirty="0" smtClean="0">
                <a:solidFill>
                  <a:schemeClr val="accent4"/>
                </a:solidFill>
              </a:rPr>
              <a:t>) 75%</a:t>
            </a:r>
            <a:endParaRPr lang="ru-RU" dirty="0">
              <a:solidFill>
                <a:schemeClr val="accent4"/>
              </a:solidFill>
            </a:endParaRPr>
          </a:p>
        </p:txBody>
      </p:sp>
      <p:sp>
        <p:nvSpPr>
          <p:cNvPr id="27" name="Прямоугольник 26"/>
          <p:cNvSpPr/>
          <p:nvPr/>
        </p:nvSpPr>
        <p:spPr>
          <a:xfrm>
            <a:off x="2999656" y="5923892"/>
            <a:ext cx="2768893" cy="342900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accent4"/>
                </a:solidFill>
              </a:rPr>
              <a:t>Подземное</a:t>
            </a:r>
            <a:r>
              <a:rPr lang="en-US" dirty="0" smtClean="0">
                <a:solidFill>
                  <a:schemeClr val="accent4"/>
                </a:solidFill>
              </a:rPr>
              <a:t> (U)</a:t>
            </a:r>
            <a:r>
              <a:rPr lang="ru-RU" dirty="0" smtClean="0">
                <a:solidFill>
                  <a:schemeClr val="accent4"/>
                </a:solidFill>
              </a:rPr>
              <a:t> 5%</a:t>
            </a:r>
            <a:endParaRPr lang="ru-RU" dirty="0">
              <a:solidFill>
                <a:schemeClr val="accent4"/>
              </a:solidFill>
            </a:endParaRPr>
          </a:p>
        </p:txBody>
      </p:sp>
      <p:sp>
        <p:nvSpPr>
          <p:cNvPr id="28" name="Прямоугольник 27"/>
          <p:cNvSpPr/>
          <p:nvPr/>
        </p:nvSpPr>
        <p:spPr>
          <a:xfrm>
            <a:off x="2999656" y="6272378"/>
            <a:ext cx="2768893" cy="342900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accent4"/>
                </a:solidFill>
              </a:rPr>
              <a:t>Ледниковое</a:t>
            </a:r>
            <a:r>
              <a:rPr lang="en-US" dirty="0" smtClean="0">
                <a:solidFill>
                  <a:schemeClr val="accent4"/>
                </a:solidFill>
              </a:rPr>
              <a:t> (G)</a:t>
            </a:r>
            <a:r>
              <a:rPr lang="ru-RU" dirty="0" smtClean="0">
                <a:solidFill>
                  <a:schemeClr val="accent4"/>
                </a:solidFill>
              </a:rPr>
              <a:t> 0%</a:t>
            </a:r>
            <a:endParaRPr lang="ru-RU" dirty="0">
              <a:solidFill>
                <a:schemeClr val="accent4"/>
              </a:solidFill>
            </a:endParaRPr>
          </a:p>
        </p:txBody>
      </p:sp>
      <p:sp>
        <p:nvSpPr>
          <p:cNvPr id="30" name="Прямоугольник 29"/>
          <p:cNvSpPr/>
          <p:nvPr/>
        </p:nvSpPr>
        <p:spPr>
          <a:xfrm>
            <a:off x="6312024" y="5226918"/>
            <a:ext cx="3141076" cy="349876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accent4"/>
                </a:solidFill>
              </a:rPr>
              <a:t>Зима</a:t>
            </a:r>
            <a:r>
              <a:rPr lang="en-US" dirty="0" smtClean="0">
                <a:solidFill>
                  <a:schemeClr val="accent4"/>
                </a:solidFill>
              </a:rPr>
              <a:t> (n)</a:t>
            </a:r>
            <a:r>
              <a:rPr lang="ru-RU" dirty="0" smtClean="0">
                <a:solidFill>
                  <a:schemeClr val="accent4"/>
                </a:solidFill>
              </a:rPr>
              <a:t> 15%</a:t>
            </a:r>
            <a:endParaRPr lang="ru-RU" dirty="0">
              <a:solidFill>
                <a:schemeClr val="accent4"/>
              </a:solidFill>
            </a:endParaRPr>
          </a:p>
        </p:txBody>
      </p:sp>
      <p:sp>
        <p:nvSpPr>
          <p:cNvPr id="31" name="Прямоугольник 30"/>
          <p:cNvSpPr/>
          <p:nvPr/>
        </p:nvSpPr>
        <p:spPr>
          <a:xfrm>
            <a:off x="6312024" y="5575405"/>
            <a:ext cx="3141076" cy="349876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accent4"/>
                </a:solidFill>
              </a:rPr>
              <a:t>Весна</a:t>
            </a:r>
            <a:r>
              <a:rPr lang="en-US" dirty="0" smtClean="0">
                <a:solidFill>
                  <a:schemeClr val="accent4"/>
                </a:solidFill>
              </a:rPr>
              <a:t> (p)</a:t>
            </a:r>
            <a:r>
              <a:rPr lang="ru-RU" dirty="0" smtClean="0">
                <a:solidFill>
                  <a:schemeClr val="accent4"/>
                </a:solidFill>
              </a:rPr>
              <a:t> 45%</a:t>
            </a:r>
            <a:endParaRPr lang="ru-RU" dirty="0">
              <a:solidFill>
                <a:schemeClr val="accent4"/>
              </a:solidFill>
            </a:endParaRPr>
          </a:p>
        </p:txBody>
      </p:sp>
      <p:sp>
        <p:nvSpPr>
          <p:cNvPr id="32" name="Прямоугольник 31"/>
          <p:cNvSpPr/>
          <p:nvPr/>
        </p:nvSpPr>
        <p:spPr>
          <a:xfrm>
            <a:off x="6312024" y="5923892"/>
            <a:ext cx="3141076" cy="349876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accent4"/>
                </a:solidFill>
              </a:rPr>
              <a:t>Лето</a:t>
            </a:r>
            <a:r>
              <a:rPr lang="en-US" dirty="0" smtClean="0">
                <a:solidFill>
                  <a:schemeClr val="accent4"/>
                </a:solidFill>
              </a:rPr>
              <a:t> (e)</a:t>
            </a:r>
            <a:r>
              <a:rPr lang="ru-RU" dirty="0" smtClean="0">
                <a:solidFill>
                  <a:schemeClr val="accent4"/>
                </a:solidFill>
              </a:rPr>
              <a:t> 14%</a:t>
            </a:r>
            <a:endParaRPr lang="ru-RU" dirty="0">
              <a:solidFill>
                <a:schemeClr val="accent4"/>
              </a:solidFill>
            </a:endParaRPr>
          </a:p>
        </p:txBody>
      </p:sp>
      <p:sp>
        <p:nvSpPr>
          <p:cNvPr id="33" name="Прямоугольник 32"/>
          <p:cNvSpPr/>
          <p:nvPr/>
        </p:nvSpPr>
        <p:spPr>
          <a:xfrm>
            <a:off x="6312024" y="6272378"/>
            <a:ext cx="3141076" cy="349876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accent4"/>
                </a:solidFill>
              </a:rPr>
              <a:t>Осень</a:t>
            </a:r>
            <a:r>
              <a:rPr lang="en-US" dirty="0" smtClean="0">
                <a:solidFill>
                  <a:schemeClr val="accent4"/>
                </a:solidFill>
              </a:rPr>
              <a:t> (a)</a:t>
            </a:r>
            <a:r>
              <a:rPr lang="ru-RU" dirty="0" smtClean="0">
                <a:solidFill>
                  <a:schemeClr val="accent4"/>
                </a:solidFill>
              </a:rPr>
              <a:t> 16%</a:t>
            </a:r>
            <a:endParaRPr lang="ru-RU" dirty="0">
              <a:solidFill>
                <a:schemeClr val="accent4"/>
              </a:solidFill>
            </a:endParaRPr>
          </a:p>
        </p:txBody>
      </p:sp>
      <p:sp>
        <p:nvSpPr>
          <p:cNvPr id="34" name="Прямоугольник 33"/>
          <p:cNvSpPr/>
          <p:nvPr/>
        </p:nvSpPr>
        <p:spPr>
          <a:xfrm>
            <a:off x="6312024" y="4629888"/>
            <a:ext cx="3141076" cy="58312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 dirty="0">
                <a:solidFill>
                  <a:schemeClr val="accent4"/>
                </a:solidFill>
              </a:rPr>
              <a:t>Сезон, в который проходит основная часть стока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5711" y="5613752"/>
            <a:ext cx="3744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/>
              <a:t>Supa</a:t>
            </a:r>
            <a:endParaRPr lang="ru-RU" b="1" dirty="0"/>
          </a:p>
        </p:txBody>
      </p:sp>
      <p:sp>
        <p:nvSpPr>
          <p:cNvPr id="37" name="Прямоугольник 36"/>
          <p:cNvSpPr/>
          <p:nvPr/>
        </p:nvSpPr>
        <p:spPr>
          <a:xfrm>
            <a:off x="3935760" y="2372825"/>
            <a:ext cx="4566070" cy="9144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accent4"/>
                </a:solidFill>
              </a:rPr>
              <a:t>Степень преобладания источника питания или сезона (в % от годового стока)</a:t>
            </a:r>
          </a:p>
        </p:txBody>
      </p:sp>
      <p:sp>
        <p:nvSpPr>
          <p:cNvPr id="38" name="Прямоугольник 37"/>
          <p:cNvSpPr/>
          <p:nvPr/>
        </p:nvSpPr>
        <p:spPr>
          <a:xfrm>
            <a:off x="3935761" y="3287225"/>
            <a:ext cx="4566069" cy="3429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&gt;80% - </a:t>
            </a:r>
            <a:r>
              <a:rPr lang="ru-RU" dirty="0" smtClean="0">
                <a:solidFill>
                  <a:schemeClr val="accent4"/>
                </a:solidFill>
              </a:rPr>
              <a:t>исключительное (1 заглавная) </a:t>
            </a:r>
            <a:endParaRPr lang="ru-RU" dirty="0">
              <a:solidFill>
                <a:schemeClr val="accent4"/>
              </a:solidFill>
            </a:endParaRPr>
          </a:p>
        </p:txBody>
      </p:sp>
      <p:sp>
        <p:nvSpPr>
          <p:cNvPr id="39" name="Прямоугольник 38"/>
          <p:cNvSpPr/>
          <p:nvPr/>
        </p:nvSpPr>
        <p:spPr>
          <a:xfrm>
            <a:off x="3935760" y="3635712"/>
            <a:ext cx="4566067" cy="3429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accent4"/>
                </a:solidFill>
              </a:rPr>
              <a:t>50-80% - </a:t>
            </a:r>
            <a:r>
              <a:rPr lang="ru-RU" dirty="0" smtClean="0">
                <a:solidFill>
                  <a:schemeClr val="accent4"/>
                </a:solidFill>
              </a:rPr>
              <a:t>преимущественное (1заг+1 </a:t>
            </a:r>
            <a:r>
              <a:rPr lang="ru-RU" dirty="0" err="1" smtClean="0">
                <a:solidFill>
                  <a:schemeClr val="accent4"/>
                </a:solidFill>
              </a:rPr>
              <a:t>ст</a:t>
            </a:r>
            <a:r>
              <a:rPr lang="ru-RU" dirty="0" smtClean="0">
                <a:solidFill>
                  <a:schemeClr val="accent4"/>
                </a:solidFill>
              </a:rPr>
              <a:t>)</a:t>
            </a:r>
            <a:endParaRPr lang="ru-RU" dirty="0">
              <a:solidFill>
                <a:schemeClr val="accent4"/>
              </a:solidFill>
            </a:endParaRPr>
          </a:p>
        </p:txBody>
      </p:sp>
      <p:sp>
        <p:nvSpPr>
          <p:cNvPr id="40" name="Прямоугольник 39"/>
          <p:cNvSpPr/>
          <p:nvPr/>
        </p:nvSpPr>
        <p:spPr>
          <a:xfrm>
            <a:off x="3935760" y="3984199"/>
            <a:ext cx="4566067" cy="3429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&lt;50% - </a:t>
            </a:r>
            <a:r>
              <a:rPr lang="ru-RU" dirty="0" smtClean="0">
                <a:solidFill>
                  <a:schemeClr val="accent4"/>
                </a:solidFill>
              </a:rPr>
              <a:t>преобладающее (2 </a:t>
            </a:r>
            <a:r>
              <a:rPr lang="ru-RU" dirty="0" err="1" smtClean="0">
                <a:solidFill>
                  <a:schemeClr val="accent4"/>
                </a:solidFill>
              </a:rPr>
              <a:t>стчроные</a:t>
            </a:r>
            <a:r>
              <a:rPr lang="ru-RU" dirty="0" smtClean="0">
                <a:solidFill>
                  <a:schemeClr val="accent4"/>
                </a:solidFill>
              </a:rPr>
              <a:t>)</a:t>
            </a:r>
            <a:endParaRPr lang="ru-RU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668545"/>
      </p:ext>
    </p:extLst>
  </p:cSld>
  <p:clrMapOvr>
    <a:masterClrMapping/>
  </p:clrMapOvr>
  <p:transition spd="med" advTm="1500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58263"/>
            <a:ext cx="12192000" cy="835269"/>
          </a:xfrm>
          <a:solidFill>
            <a:srgbClr val="6B6BCF"/>
          </a:solidFill>
        </p:spPr>
        <p:txBody>
          <a:bodyPr>
            <a:noAutofit/>
          </a:bodyPr>
          <a:lstStyle/>
          <a:p>
            <a:r>
              <a:rPr lang="ru-RU" sz="2800" dirty="0">
                <a:solidFill>
                  <a:schemeClr val="bg1"/>
                </a:solidFill>
                <a:ea typeface="Cambria" panose="02040503050406030204" pitchFamily="18" charset="0"/>
              </a:rPr>
              <a:t>Классификации рек по водному режиму и источникам питания: </a:t>
            </a:r>
            <a:r>
              <a:rPr lang="ru-RU" sz="2800" i="1" dirty="0">
                <a:solidFill>
                  <a:schemeClr val="bg1"/>
                </a:solidFill>
                <a:ea typeface="Cambria" panose="02040503050406030204" pitchFamily="18" charset="0"/>
              </a:rPr>
              <a:t>классификация Львовича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1344" y="1144694"/>
            <a:ext cx="11809312" cy="555504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>
                <a:solidFill>
                  <a:srgbClr val="6B6BCF"/>
                </a:solidFill>
              </a:rPr>
              <a:t>Обнаруженные в мире 38 групп водного режима Львович разделил на 12 основных типов:</a:t>
            </a:r>
          </a:p>
          <a:p>
            <a:pPr marL="0" indent="0">
              <a:buNone/>
            </a:pPr>
            <a:r>
              <a:rPr lang="ru-RU" sz="1500" b="1" dirty="0">
                <a:solidFill>
                  <a:schemeClr val="accent4"/>
                </a:solidFill>
                <a:ea typeface="Calibri" panose="020F0502020204030204" pitchFamily="34" charset="0"/>
              </a:rPr>
              <a:t>Амазонский </a:t>
            </a:r>
            <a:r>
              <a:rPr lang="ru-RU" sz="1500" dirty="0">
                <a:solidFill>
                  <a:schemeClr val="accent4"/>
                </a:solidFill>
                <a:ea typeface="Calibri" panose="020F0502020204030204" pitchFamily="34" charset="0"/>
              </a:rPr>
              <a:t>— почти исключительно дождевое питание и преобладание осеннего стока (т. е. в те месяцы, которые считаются осенними в умеренном поясе) (Амазонка, Рио-Негру, Голубой Нил, Конго и др.).</a:t>
            </a:r>
            <a:endParaRPr lang="en-US" sz="1500" dirty="0">
              <a:solidFill>
                <a:schemeClr val="accent4"/>
              </a:solidFill>
              <a:ea typeface="Calibri" panose="020F0502020204030204" pitchFamily="34" charset="0"/>
            </a:endParaRPr>
          </a:p>
          <a:p>
            <a:pPr marL="0" indent="0">
              <a:buNone/>
            </a:pPr>
            <a:r>
              <a:rPr lang="ru-RU" sz="1500" b="1" dirty="0" err="1">
                <a:solidFill>
                  <a:schemeClr val="accent4"/>
                </a:solidFill>
              </a:rPr>
              <a:t>Нигерианский</a:t>
            </a:r>
            <a:r>
              <a:rPr lang="ru-RU" sz="1500" dirty="0">
                <a:solidFill>
                  <a:schemeClr val="accent4"/>
                </a:solidFill>
              </a:rPr>
              <a:t> — преимущественно дождевое питание и преобладание осеннего стока (Нигер, </a:t>
            </a:r>
            <a:r>
              <a:rPr lang="ru-RU" sz="1500" dirty="0" err="1">
                <a:solidFill>
                  <a:schemeClr val="accent4"/>
                </a:solidFill>
              </a:rPr>
              <a:t>Луалаба</a:t>
            </a:r>
            <a:r>
              <a:rPr lang="ru-RU" sz="1500" dirty="0">
                <a:solidFill>
                  <a:schemeClr val="accent4"/>
                </a:solidFill>
              </a:rPr>
              <a:t>, Нил и др.).</a:t>
            </a:r>
            <a:endParaRPr lang="en-US" sz="1500" dirty="0">
              <a:solidFill>
                <a:schemeClr val="accent4"/>
              </a:solidFill>
            </a:endParaRPr>
          </a:p>
          <a:p>
            <a:pPr marL="0" indent="0">
              <a:buNone/>
            </a:pPr>
            <a:r>
              <a:rPr lang="ru-RU" sz="1500" b="1" dirty="0" err="1">
                <a:solidFill>
                  <a:schemeClr val="accent4"/>
                </a:solidFill>
              </a:rPr>
              <a:t>Меконгский</a:t>
            </a:r>
            <a:r>
              <a:rPr lang="ru-RU" sz="1500" dirty="0">
                <a:solidFill>
                  <a:schemeClr val="accent4"/>
                </a:solidFill>
              </a:rPr>
              <a:t> — почти исключительно дождевое питание и преобладание летнего стока (Меконг, верховья Мадеры, </a:t>
            </a:r>
            <a:r>
              <a:rPr lang="ru-RU" sz="1500" dirty="0" err="1">
                <a:solidFill>
                  <a:schemeClr val="accent4"/>
                </a:solidFill>
              </a:rPr>
              <a:t>Мараньона</a:t>
            </a:r>
            <a:r>
              <a:rPr lang="ru-RU" sz="1500" dirty="0">
                <a:solidFill>
                  <a:schemeClr val="accent4"/>
                </a:solidFill>
              </a:rPr>
              <a:t>, Парагвая, Параны и др.).</a:t>
            </a:r>
            <a:endParaRPr lang="en-US" sz="1500" dirty="0">
              <a:solidFill>
                <a:schemeClr val="accent4"/>
              </a:solidFill>
            </a:endParaRPr>
          </a:p>
          <a:p>
            <a:pPr marL="0" indent="0">
              <a:buNone/>
            </a:pPr>
            <a:r>
              <a:rPr lang="ru-RU" sz="1500" b="1" dirty="0">
                <a:solidFill>
                  <a:schemeClr val="accent4"/>
                </a:solidFill>
              </a:rPr>
              <a:t>Амурский</a:t>
            </a:r>
            <a:r>
              <a:rPr lang="ru-RU" sz="1500" dirty="0">
                <a:solidFill>
                  <a:schemeClr val="accent4"/>
                </a:solidFill>
              </a:rPr>
              <a:t> — преимущественно дождевое питание и преобладание летнего стока (Амур, Витим, верховья </a:t>
            </a:r>
            <a:r>
              <a:rPr lang="ru-RU" sz="1500" dirty="0" err="1">
                <a:solidFill>
                  <a:schemeClr val="accent4"/>
                </a:solidFill>
              </a:rPr>
              <a:t>Олёкмы</a:t>
            </a:r>
            <a:r>
              <a:rPr lang="ru-RU" sz="1500" dirty="0">
                <a:solidFill>
                  <a:schemeClr val="accent4"/>
                </a:solidFill>
              </a:rPr>
              <a:t>, Яны и др.).</a:t>
            </a:r>
            <a:endParaRPr lang="en-US" sz="1500" dirty="0">
              <a:solidFill>
                <a:schemeClr val="accent4"/>
              </a:solidFill>
            </a:endParaRPr>
          </a:p>
          <a:p>
            <a:pPr marL="0" indent="0">
              <a:buNone/>
            </a:pPr>
            <a:r>
              <a:rPr lang="ru-RU" sz="1500" b="1" dirty="0">
                <a:solidFill>
                  <a:schemeClr val="accent4"/>
                </a:solidFill>
              </a:rPr>
              <a:t>Средиземноморский</a:t>
            </a:r>
            <a:r>
              <a:rPr lang="ru-RU" sz="1500" dirty="0">
                <a:solidFill>
                  <a:schemeClr val="accent4"/>
                </a:solidFill>
              </a:rPr>
              <a:t> — исключительно или преимущественно дождевое питание и господство зимнего стока (Мозель, Рур, Темза, </a:t>
            </a:r>
            <a:r>
              <a:rPr lang="ru-RU" sz="1500" dirty="0" err="1">
                <a:solidFill>
                  <a:schemeClr val="accent4"/>
                </a:solidFill>
              </a:rPr>
              <a:t>Агри</a:t>
            </a:r>
            <a:r>
              <a:rPr lang="ru-RU" sz="1500" dirty="0">
                <a:solidFill>
                  <a:schemeClr val="accent4"/>
                </a:solidFill>
              </a:rPr>
              <a:t> в Италии, </a:t>
            </a:r>
            <a:r>
              <a:rPr lang="ru-RU" sz="1500" dirty="0" err="1">
                <a:solidFill>
                  <a:schemeClr val="accent4"/>
                </a:solidFill>
              </a:rPr>
              <a:t>Альма</a:t>
            </a:r>
            <a:r>
              <a:rPr lang="ru-RU" sz="1500" dirty="0">
                <a:solidFill>
                  <a:schemeClr val="accent4"/>
                </a:solidFill>
              </a:rPr>
              <a:t> в Крыму и др.).</a:t>
            </a:r>
          </a:p>
          <a:p>
            <a:pPr marL="0" indent="0">
              <a:buNone/>
            </a:pPr>
            <a:r>
              <a:rPr lang="ru-RU" sz="1500" b="1" dirty="0" err="1">
                <a:solidFill>
                  <a:schemeClr val="accent4"/>
                </a:solidFill>
              </a:rPr>
              <a:t>Одерианский</a:t>
            </a:r>
            <a:r>
              <a:rPr lang="ru-RU" sz="1500" dirty="0">
                <a:solidFill>
                  <a:schemeClr val="accent4"/>
                </a:solidFill>
              </a:rPr>
              <a:t> — преобладание дождевого питания и весеннего стока (По, </a:t>
            </a:r>
            <a:r>
              <a:rPr lang="ru-RU" sz="1500" dirty="0" err="1">
                <a:solidFill>
                  <a:schemeClr val="accent4"/>
                </a:solidFill>
              </a:rPr>
              <a:t>Тисса</a:t>
            </a:r>
            <a:r>
              <a:rPr lang="ru-RU" sz="1500" dirty="0">
                <a:solidFill>
                  <a:schemeClr val="accent4"/>
                </a:solidFill>
              </a:rPr>
              <a:t>, Одра, Морава, Эбро, Огайо</a:t>
            </a:r>
          </a:p>
          <a:p>
            <a:pPr marL="0" indent="0">
              <a:buNone/>
            </a:pPr>
            <a:r>
              <a:rPr lang="ru-RU" sz="1500" b="1" dirty="0">
                <a:solidFill>
                  <a:schemeClr val="accent4"/>
                </a:solidFill>
              </a:rPr>
              <a:t>Волжский</a:t>
            </a:r>
            <a:r>
              <a:rPr lang="ru-RU" sz="1500" dirty="0">
                <a:solidFill>
                  <a:schemeClr val="accent4"/>
                </a:solidFill>
              </a:rPr>
              <a:t> — преимущественное или преобладающее снеговое питание и преобладание весеннего стока (Волга, Миссисипи, Москва, Дон, Урал, Тобол, Тигр, Кама и др.).</a:t>
            </a:r>
          </a:p>
          <a:p>
            <a:pPr marL="0" indent="0">
              <a:buNone/>
            </a:pPr>
            <a:r>
              <a:rPr lang="ru-RU" sz="1500" b="1" dirty="0" err="1">
                <a:solidFill>
                  <a:schemeClr val="accent4"/>
                </a:solidFill>
              </a:rPr>
              <a:t>Юконский</a:t>
            </a:r>
            <a:r>
              <a:rPr lang="ru-RU" sz="1500" dirty="0">
                <a:solidFill>
                  <a:schemeClr val="accent4"/>
                </a:solidFill>
              </a:rPr>
              <a:t> — преимущественное или преобладающее снеговое питание и господство летнего стока (Юкон, Кола, </a:t>
            </a:r>
            <a:r>
              <a:rPr lang="ru-RU" sz="1500" dirty="0" err="1">
                <a:solidFill>
                  <a:schemeClr val="accent4"/>
                </a:solidFill>
              </a:rPr>
              <a:t>Атабаска</a:t>
            </a:r>
            <a:r>
              <a:rPr lang="ru-RU" sz="1500" dirty="0">
                <a:solidFill>
                  <a:schemeClr val="accent4"/>
                </a:solidFill>
              </a:rPr>
              <a:t>, Колорадо, Вилюй, </a:t>
            </a:r>
            <a:r>
              <a:rPr lang="ru-RU" sz="1500" dirty="0" err="1">
                <a:solidFill>
                  <a:schemeClr val="accent4"/>
                </a:solidFill>
              </a:rPr>
              <a:t>Пясина</a:t>
            </a:r>
            <a:r>
              <a:rPr lang="ru-RU" sz="1500" dirty="0">
                <a:solidFill>
                  <a:schemeClr val="accent4"/>
                </a:solidFill>
              </a:rPr>
              <a:t> и др.).</a:t>
            </a:r>
          </a:p>
          <a:p>
            <a:pPr marL="0" indent="0">
              <a:buNone/>
            </a:pPr>
            <a:r>
              <a:rPr lang="ru-RU" sz="1500" b="1" dirty="0" err="1">
                <a:solidFill>
                  <a:schemeClr val="accent4"/>
                </a:solidFill>
              </a:rPr>
              <a:t>Нуринский</a:t>
            </a:r>
            <a:r>
              <a:rPr lang="ru-RU" sz="1500" dirty="0">
                <a:solidFill>
                  <a:schemeClr val="accent4"/>
                </a:solidFill>
              </a:rPr>
              <a:t> — преобладание снегового питания и почти исключительно весенний сток (Нура, Еруслан, Бузулук, Б. Узень, Ингулец и др.).</a:t>
            </a:r>
          </a:p>
          <a:p>
            <a:pPr marL="0" indent="0">
              <a:buNone/>
            </a:pPr>
            <a:r>
              <a:rPr lang="ru-RU" sz="1500" b="1" dirty="0">
                <a:solidFill>
                  <a:schemeClr val="accent4"/>
                </a:solidFill>
              </a:rPr>
              <a:t>Гренландский</a:t>
            </a:r>
            <a:r>
              <a:rPr lang="ru-RU" sz="1500" dirty="0">
                <a:solidFill>
                  <a:schemeClr val="accent4"/>
                </a:solidFill>
              </a:rPr>
              <a:t> — исключительно ледниковое питание и кратковременный сток летом.</a:t>
            </a:r>
          </a:p>
          <a:p>
            <a:pPr marL="0" indent="0">
              <a:buNone/>
            </a:pPr>
            <a:r>
              <a:rPr lang="ru-RU" sz="1500" b="1" dirty="0">
                <a:solidFill>
                  <a:schemeClr val="accent4"/>
                </a:solidFill>
              </a:rPr>
              <a:t>Кавказский</a:t>
            </a:r>
            <a:r>
              <a:rPr lang="ru-RU" sz="1500" dirty="0">
                <a:solidFill>
                  <a:schemeClr val="accent4"/>
                </a:solidFill>
              </a:rPr>
              <a:t> — преобладающее или преимущественное ледниковое питание и господство летнего стока (Кубань, Терек, </a:t>
            </a:r>
            <a:r>
              <a:rPr lang="ru-RU" sz="1500" dirty="0" err="1">
                <a:solidFill>
                  <a:schemeClr val="accent4"/>
                </a:solidFill>
              </a:rPr>
              <a:t>Геналдон</a:t>
            </a:r>
            <a:r>
              <a:rPr lang="ru-RU" sz="1500" dirty="0">
                <a:solidFill>
                  <a:schemeClr val="accent4"/>
                </a:solidFill>
              </a:rPr>
              <a:t>, Рона, Инн, Ааре и др.).</a:t>
            </a:r>
          </a:p>
          <a:p>
            <a:pPr marL="0" indent="0">
              <a:buNone/>
            </a:pPr>
            <a:r>
              <a:rPr lang="ru-RU" sz="1500" b="1" dirty="0" err="1">
                <a:solidFill>
                  <a:schemeClr val="accent4"/>
                </a:solidFill>
              </a:rPr>
              <a:t>Лоанский</a:t>
            </a:r>
            <a:r>
              <a:rPr lang="ru-RU" sz="1500" dirty="0">
                <a:solidFill>
                  <a:schemeClr val="accent4"/>
                </a:solidFill>
              </a:rPr>
              <a:t> — исключительное или преимущественное питание за счёт подземных вод и равномерное распределение стока в течение года (р. Лоа в северной части Чили, некоторые притоки р. Чу)</a:t>
            </a:r>
          </a:p>
        </p:txBody>
      </p:sp>
    </p:spTree>
    <p:extLst>
      <p:ext uri="{BB962C8B-B14F-4D97-AF65-F5344CB8AC3E}">
        <p14:creationId xmlns:p14="http://schemas.microsoft.com/office/powerpoint/2010/main" val="924612671"/>
      </p:ext>
    </p:extLst>
  </p:cSld>
  <p:clrMapOvr>
    <a:masterClrMapping/>
  </p:clrMapOvr>
  <p:transition spd="med" advTm="1500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6808" y="872573"/>
            <a:ext cx="6561217" cy="5906297"/>
          </a:xfrm>
          <a:prstGeom prst="rect">
            <a:avLst/>
          </a:prstGeom>
        </p:spPr>
      </p:pic>
      <p:sp>
        <p:nvSpPr>
          <p:cNvPr id="6" name="Заголовок 1"/>
          <p:cNvSpPr txBox="1">
            <a:spLocks/>
          </p:cNvSpPr>
          <p:nvPr/>
        </p:nvSpPr>
        <p:spPr bwMode="auto">
          <a:xfrm>
            <a:off x="0" y="158263"/>
            <a:ext cx="12192000" cy="835269"/>
          </a:xfrm>
          <a:prstGeom prst="rect">
            <a:avLst/>
          </a:prstGeom>
          <a:solidFill>
            <a:srgbClr val="6B6BCF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sz="2800" kern="0" smtClean="0">
                <a:solidFill>
                  <a:schemeClr val="bg1"/>
                </a:solidFill>
                <a:ea typeface="Cambria" panose="02040503050406030204" pitchFamily="18" charset="0"/>
              </a:rPr>
              <a:t>Классификации рек по водному режиму и источникам питания: </a:t>
            </a:r>
            <a:r>
              <a:rPr lang="ru-RU" sz="2800" i="1" kern="0" smtClean="0">
                <a:solidFill>
                  <a:schemeClr val="bg1"/>
                </a:solidFill>
                <a:ea typeface="Cambria" panose="02040503050406030204" pitchFamily="18" charset="0"/>
              </a:rPr>
              <a:t>классификация Львовича</a:t>
            </a:r>
            <a:endParaRPr lang="ru-RU" sz="2800" i="1" kern="0" dirty="0">
              <a:solidFill>
                <a:schemeClr val="bg1"/>
              </a:solidFill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9925203"/>
      </p:ext>
    </p:extLst>
  </p:cSld>
  <p:clrMapOvr>
    <a:masterClrMapping/>
  </p:clrMapOvr>
  <p:transition spd="med" advTm="15000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191344" y="1283679"/>
            <a:ext cx="11809312" cy="1090245"/>
          </a:xfrm>
        </p:spPr>
        <p:txBody>
          <a:bodyPr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-RU" b="1" dirty="0">
                <a:solidFill>
                  <a:srgbClr val="6B6BCF"/>
                </a:solidFill>
              </a:rPr>
              <a:t>Б.Д. Зайков </a:t>
            </a:r>
            <a:r>
              <a:rPr lang="ru-RU" dirty="0"/>
              <a:t>– классификация рек СССР на основе вклада разных видов питания в годовой сток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263352" y="2967335"/>
            <a:ext cx="11678906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arenR"/>
            </a:pPr>
            <a:r>
              <a:rPr lang="ru-RU" sz="3200" b="1" dirty="0"/>
              <a:t>Реки с весенним половодьем </a:t>
            </a:r>
            <a:r>
              <a:rPr lang="ru-RU" sz="3200" dirty="0"/>
              <a:t>– 5 типов (Казахстанский, Восточно-Европейский, </a:t>
            </a:r>
            <a:r>
              <a:rPr lang="ru-RU" sz="3200" dirty="0" smtClean="0"/>
              <a:t>Западно- и Восточно-Сибирский</a:t>
            </a:r>
            <a:r>
              <a:rPr lang="ru-RU" sz="3200" dirty="0"/>
              <a:t>, Алтайский)</a:t>
            </a:r>
          </a:p>
          <a:p>
            <a:pPr marL="342900" indent="-342900">
              <a:buAutoNum type="arabicParenR"/>
            </a:pPr>
            <a:r>
              <a:rPr lang="ru-RU" sz="3200" b="1" dirty="0"/>
              <a:t>Реки с половодьем в теплую часть года </a:t>
            </a:r>
            <a:r>
              <a:rPr lang="ru-RU" sz="3200" dirty="0"/>
              <a:t>(с мая по октябрь) – 2 типа (Дальневосточный и Тянь-Шанский)</a:t>
            </a:r>
          </a:p>
          <a:p>
            <a:pPr marL="342900" indent="-342900">
              <a:buAutoNum type="arabicParenR"/>
            </a:pPr>
            <a:r>
              <a:rPr lang="ru-RU" sz="3200" b="1" dirty="0"/>
              <a:t>Реки с </a:t>
            </a:r>
            <a:r>
              <a:rPr lang="ru-RU" sz="3200" b="1" dirty="0" err="1"/>
              <a:t>паводочным</a:t>
            </a:r>
            <a:r>
              <a:rPr lang="ru-RU" sz="3200" b="1" dirty="0"/>
              <a:t> режимом </a:t>
            </a:r>
            <a:r>
              <a:rPr lang="ru-RU" sz="3200" dirty="0"/>
              <a:t>– 3 типа (Причерноморский, Крымский и Северо-Кавказский)</a:t>
            </a:r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0" y="158263"/>
            <a:ext cx="12192000" cy="835269"/>
          </a:xfrm>
          <a:solidFill>
            <a:srgbClr val="6B6BCF"/>
          </a:solidFill>
        </p:spPr>
        <p:txBody>
          <a:bodyPr>
            <a:noAutofit/>
          </a:bodyPr>
          <a:lstStyle/>
          <a:p>
            <a:r>
              <a:rPr lang="ru-RU" sz="2800" dirty="0">
                <a:solidFill>
                  <a:schemeClr val="bg1"/>
                </a:solidFill>
                <a:ea typeface="Cambria" panose="02040503050406030204" pitchFamily="18" charset="0"/>
              </a:rPr>
              <a:t>Классификации рек по водному режиму и источникам питания: </a:t>
            </a:r>
            <a:r>
              <a:rPr lang="ru-RU" sz="2800" i="1" dirty="0">
                <a:solidFill>
                  <a:schemeClr val="bg1"/>
                </a:solidFill>
                <a:ea typeface="Cambria" panose="02040503050406030204" pitchFamily="18" charset="0"/>
              </a:rPr>
              <a:t>классификация </a:t>
            </a:r>
            <a:r>
              <a:rPr lang="ru-RU" sz="2800" i="1" dirty="0" smtClean="0">
                <a:solidFill>
                  <a:schemeClr val="bg1"/>
                </a:solidFill>
                <a:ea typeface="Cambria" panose="02040503050406030204" pitchFamily="18" charset="0"/>
              </a:rPr>
              <a:t>Зайкова</a:t>
            </a:r>
            <a:endParaRPr lang="ru-RU" sz="2800" i="1" dirty="0">
              <a:solidFill>
                <a:schemeClr val="bg1"/>
              </a:solidFill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3759927"/>
      </p:ext>
    </p:extLst>
  </p:cSld>
  <p:clrMapOvr>
    <a:masterClrMapping/>
  </p:clrMapOvr>
  <p:transition spd="med" advTm="15000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http://konspekta.net/lektsianew/baza16/3512776982703.files/image110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92" b="57914"/>
          <a:stretch/>
        </p:blipFill>
        <p:spPr bwMode="auto">
          <a:xfrm>
            <a:off x="1808575" y="1170717"/>
            <a:ext cx="3672408" cy="1944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угольник 7"/>
          <p:cNvSpPr/>
          <p:nvPr/>
        </p:nvSpPr>
        <p:spPr>
          <a:xfrm>
            <a:off x="2110347" y="2961045"/>
            <a:ext cx="32851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6B6BCF"/>
                </a:solidFill>
                <a:latin typeface="+mj-lt"/>
              </a:rPr>
              <a:t>р. Нура, пос. Самаркандский</a:t>
            </a:r>
          </a:p>
        </p:txBody>
      </p:sp>
      <p:sp>
        <p:nvSpPr>
          <p:cNvPr id="9" name="Стрелка вправо 8"/>
          <p:cNvSpPr/>
          <p:nvPr/>
        </p:nvSpPr>
        <p:spPr>
          <a:xfrm rot="10800000">
            <a:off x="3212731" y="2178829"/>
            <a:ext cx="432048" cy="16936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2060"/>
              </a:solidFill>
            </a:endParaRPr>
          </a:p>
        </p:txBody>
      </p:sp>
      <p:sp>
        <p:nvSpPr>
          <p:cNvPr id="10" name="Стрелка вправо 9"/>
          <p:cNvSpPr/>
          <p:nvPr/>
        </p:nvSpPr>
        <p:spPr>
          <a:xfrm>
            <a:off x="2565070" y="2178829"/>
            <a:ext cx="432048" cy="16936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2060"/>
              </a:solidFill>
            </a:endParaRPr>
          </a:p>
        </p:txBody>
      </p:sp>
      <p:sp>
        <p:nvSpPr>
          <p:cNvPr id="11" name="Стрелка вправо 10"/>
          <p:cNvSpPr/>
          <p:nvPr/>
        </p:nvSpPr>
        <p:spPr>
          <a:xfrm rot="16200000">
            <a:off x="3123699" y="1613070"/>
            <a:ext cx="432048" cy="16936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2060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5803790" y="1301666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>
                <a:solidFill>
                  <a:srgbClr val="6B6BCF"/>
                </a:solidFill>
                <a:latin typeface="+mj-lt"/>
              </a:rPr>
              <a:t>Казахстанский тип</a:t>
            </a:r>
            <a:r>
              <a:rPr lang="ru-RU" dirty="0">
                <a:solidFill>
                  <a:srgbClr val="6B6BCF"/>
                </a:solidFill>
                <a:latin typeface="+mj-lt"/>
              </a:rPr>
              <a:t> </a:t>
            </a:r>
            <a:r>
              <a:rPr lang="ru-RU" dirty="0">
                <a:latin typeface="+mj-lt"/>
              </a:rPr>
              <a:t>отличается очень высокой, но короткой волной половодья и низким меженным стоком, вплоть до полного пересыхания</a:t>
            </a:r>
            <a:r>
              <a:rPr lang="ru-RU" i="1" dirty="0">
                <a:latin typeface="+mj-lt"/>
              </a:rPr>
              <a:t>. </a:t>
            </a:r>
            <a:r>
              <a:rPr lang="ru-RU" dirty="0">
                <a:latin typeface="+mj-lt"/>
              </a:rPr>
              <a:t>Максимальный расход половодья в де­сятки раз превышает средний годовой расход. 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5803790" y="3721131"/>
            <a:ext cx="4572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b="1" dirty="0">
                <a:solidFill>
                  <a:srgbClr val="6B6BCF"/>
                </a:solidFill>
                <a:latin typeface="+mj-lt"/>
              </a:rPr>
              <a:t>Восточно-Европейский тип</a:t>
            </a:r>
          </a:p>
          <a:p>
            <a:pPr algn="just"/>
            <a:r>
              <a:rPr lang="ru-RU" dirty="0">
                <a:latin typeface="+mj-lt"/>
              </a:rPr>
              <a:t>характеризуется высоким поло­водьем, низкой летней и зимней меженью и повышенным стоком осенью. Летние дождевые паводки обычно невысоки. Осенние паводки бывают почти ежегодно. В северо-­западных частях территории высота их может превышать высоту половодья.</a:t>
            </a:r>
          </a:p>
        </p:txBody>
      </p:sp>
      <p:pic>
        <p:nvPicPr>
          <p:cNvPr id="14" name="Picture 2" descr="http://konspekta.net/lektsianew/baza16/3512776982703.files/image110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45" b="23622"/>
          <a:stretch/>
        </p:blipFill>
        <p:spPr bwMode="auto">
          <a:xfrm>
            <a:off x="1736567" y="3844870"/>
            <a:ext cx="3816424" cy="2088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Прямоугольник 14"/>
          <p:cNvSpPr/>
          <p:nvPr/>
        </p:nvSpPr>
        <p:spPr>
          <a:xfrm>
            <a:off x="2038666" y="5812384"/>
            <a:ext cx="20136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6B6BCF"/>
                </a:solidFill>
                <a:latin typeface="+mj-lt"/>
              </a:rPr>
              <a:t>р. Вятка, г. Киров</a:t>
            </a:r>
          </a:p>
        </p:txBody>
      </p:sp>
      <p:sp>
        <p:nvSpPr>
          <p:cNvPr id="16" name="Стрелка вправо 15"/>
          <p:cNvSpPr/>
          <p:nvPr/>
        </p:nvSpPr>
        <p:spPr>
          <a:xfrm rot="16200000">
            <a:off x="2757353" y="4840308"/>
            <a:ext cx="432048" cy="16936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2060"/>
              </a:solidFill>
            </a:endParaRPr>
          </a:p>
        </p:txBody>
      </p:sp>
      <p:sp>
        <p:nvSpPr>
          <p:cNvPr id="17" name="Заголовок 1"/>
          <p:cNvSpPr>
            <a:spLocks noGrp="1"/>
          </p:cNvSpPr>
          <p:nvPr>
            <p:ph type="title"/>
          </p:nvPr>
        </p:nvSpPr>
        <p:spPr>
          <a:xfrm>
            <a:off x="0" y="158263"/>
            <a:ext cx="12192000" cy="835269"/>
          </a:xfrm>
          <a:solidFill>
            <a:srgbClr val="6B6BCF"/>
          </a:solidFill>
        </p:spPr>
        <p:txBody>
          <a:bodyPr>
            <a:noAutofit/>
          </a:bodyPr>
          <a:lstStyle/>
          <a:p>
            <a:r>
              <a:rPr lang="ru-RU" sz="2800" dirty="0">
                <a:solidFill>
                  <a:schemeClr val="bg1"/>
                </a:solidFill>
                <a:ea typeface="Cambria" panose="02040503050406030204" pitchFamily="18" charset="0"/>
              </a:rPr>
              <a:t>Классификации рек по водному режиму и источникам питания: </a:t>
            </a:r>
            <a:r>
              <a:rPr lang="ru-RU" sz="2800" i="1" dirty="0">
                <a:solidFill>
                  <a:schemeClr val="bg1"/>
                </a:solidFill>
                <a:ea typeface="Cambria" panose="02040503050406030204" pitchFamily="18" charset="0"/>
              </a:rPr>
              <a:t>классификация </a:t>
            </a:r>
            <a:r>
              <a:rPr lang="ru-RU" sz="2800" i="1" dirty="0" smtClean="0">
                <a:solidFill>
                  <a:schemeClr val="bg1"/>
                </a:solidFill>
                <a:ea typeface="Cambria" panose="02040503050406030204" pitchFamily="18" charset="0"/>
              </a:rPr>
              <a:t>Зайкова</a:t>
            </a:r>
            <a:endParaRPr lang="ru-RU" sz="2800" i="1" dirty="0">
              <a:solidFill>
                <a:schemeClr val="bg1"/>
              </a:solidFill>
              <a:ea typeface="Cambria" panose="02040503050406030204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150590" y="636527"/>
            <a:ext cx="30414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/>
              <a:t>с </a:t>
            </a:r>
            <a:r>
              <a:rPr lang="ru-RU" b="1" dirty="0"/>
              <a:t>весенним половодьем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06088776"/>
      </p:ext>
    </p:extLst>
  </p:cSld>
  <p:clrMapOvr>
    <a:masterClrMapping/>
  </p:clrMapOvr>
  <p:transition spd="med" advTm="15000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http://konspekta.net/lektsianew/baza16/3512776982703.files/image110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820"/>
          <a:stretch/>
        </p:blipFill>
        <p:spPr bwMode="auto">
          <a:xfrm>
            <a:off x="1773406" y="1305154"/>
            <a:ext cx="4104456" cy="1728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Прямоугольник 10"/>
          <p:cNvSpPr/>
          <p:nvPr/>
        </p:nvSpPr>
        <p:spPr>
          <a:xfrm>
            <a:off x="2343497" y="3069154"/>
            <a:ext cx="26271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6B6BCF"/>
                </a:solidFill>
                <a:latin typeface="+mj-lt"/>
              </a:rPr>
              <a:t>р. </a:t>
            </a:r>
            <a:r>
              <a:rPr lang="ru-RU" dirty="0" err="1">
                <a:solidFill>
                  <a:srgbClr val="6B6BCF"/>
                </a:solidFill>
                <a:latin typeface="+mj-lt"/>
              </a:rPr>
              <a:t>Васюган</a:t>
            </a:r>
            <a:r>
              <a:rPr lang="ru-RU" dirty="0">
                <a:solidFill>
                  <a:srgbClr val="6B6BCF"/>
                </a:solidFill>
                <a:latin typeface="+mj-lt"/>
              </a:rPr>
              <a:t>, с. </a:t>
            </a:r>
            <a:r>
              <a:rPr lang="ru-RU" dirty="0" err="1">
                <a:solidFill>
                  <a:srgbClr val="6B6BCF"/>
                </a:solidFill>
                <a:latin typeface="+mj-lt"/>
              </a:rPr>
              <a:t>Васюган</a:t>
            </a:r>
            <a:endParaRPr lang="ru-RU" dirty="0">
              <a:solidFill>
                <a:srgbClr val="6B6BCF"/>
              </a:solidFill>
              <a:latin typeface="+mj-lt"/>
            </a:endParaRPr>
          </a:p>
        </p:txBody>
      </p:sp>
      <p:sp>
        <p:nvSpPr>
          <p:cNvPr id="12" name="Стрелка вправо 11"/>
          <p:cNvSpPr/>
          <p:nvPr/>
        </p:nvSpPr>
        <p:spPr>
          <a:xfrm>
            <a:off x="3860325" y="2169250"/>
            <a:ext cx="432048" cy="14401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2060"/>
              </a:solidFill>
            </a:endParaRPr>
          </a:p>
        </p:txBody>
      </p:sp>
      <p:sp>
        <p:nvSpPr>
          <p:cNvPr id="13" name="Стрелка вправо 12"/>
          <p:cNvSpPr/>
          <p:nvPr/>
        </p:nvSpPr>
        <p:spPr>
          <a:xfrm rot="10800000">
            <a:off x="2783191" y="2169250"/>
            <a:ext cx="432048" cy="14401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2060"/>
              </a:solidFill>
            </a:endParaRPr>
          </a:p>
        </p:txBody>
      </p:sp>
      <p:sp>
        <p:nvSpPr>
          <p:cNvPr id="14" name="Стрелка вправо 13"/>
          <p:cNvSpPr/>
          <p:nvPr/>
        </p:nvSpPr>
        <p:spPr>
          <a:xfrm rot="5400000">
            <a:off x="3357582" y="1593186"/>
            <a:ext cx="432048" cy="14401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206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6096000" y="1441829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>
                <a:solidFill>
                  <a:srgbClr val="6B6BCF"/>
                </a:solidFill>
              </a:rPr>
              <a:t>Западно-Сибирский тип </a:t>
            </a:r>
            <a:r>
              <a:rPr lang="ru-RU" dirty="0"/>
              <a:t>отличается невысоким, растянутым и сглаженным половодьем, повышенным летне-осенним и низким зимним стоком. </a:t>
            </a:r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 rotWithShape="1">
          <a:blip r:embed="rId3"/>
          <a:srcRect b="42490"/>
          <a:stretch/>
        </p:blipFill>
        <p:spPr>
          <a:xfrm>
            <a:off x="1915753" y="4146740"/>
            <a:ext cx="3667125" cy="1654299"/>
          </a:xfrm>
          <a:prstGeom prst="rect">
            <a:avLst/>
          </a:prstGeom>
        </p:spPr>
      </p:pic>
      <p:sp>
        <p:nvSpPr>
          <p:cNvPr id="16" name="Овал 15"/>
          <p:cNvSpPr/>
          <p:nvPr/>
        </p:nvSpPr>
        <p:spPr>
          <a:xfrm>
            <a:off x="2203784" y="5514891"/>
            <a:ext cx="1296144" cy="2160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2060"/>
              </a:solidFill>
            </a:endParaRPr>
          </a:p>
        </p:txBody>
      </p:sp>
      <p:sp>
        <p:nvSpPr>
          <p:cNvPr id="17" name="Стрелка вправо 16"/>
          <p:cNvSpPr/>
          <p:nvPr/>
        </p:nvSpPr>
        <p:spPr>
          <a:xfrm rot="16200000">
            <a:off x="3152562" y="4889206"/>
            <a:ext cx="432048" cy="16936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2060"/>
              </a:solidFill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3571936" y="5081900"/>
            <a:ext cx="1249484" cy="54216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2060"/>
              </a:solidFill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2131776" y="5940406"/>
            <a:ext cx="323507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6B6BCF"/>
                </a:solidFill>
                <a:latin typeface="+mj-lt"/>
              </a:rPr>
              <a:t>р. Нижняя Тунгуска, с. Тура)</a:t>
            </a:r>
          </a:p>
        </p:txBody>
      </p:sp>
      <p:sp>
        <p:nvSpPr>
          <p:cNvPr id="20" name="Прямоугольник 19"/>
          <p:cNvSpPr/>
          <p:nvPr/>
        </p:nvSpPr>
        <p:spPr>
          <a:xfrm>
            <a:off x="6096000" y="4146740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>
                <a:solidFill>
                  <a:srgbClr val="6B6BCF"/>
                </a:solidFill>
              </a:rPr>
              <a:t>Восточно-Сибирский тип </a:t>
            </a:r>
            <a:r>
              <a:rPr lang="ru-RU" dirty="0"/>
              <a:t>характеризуется высоким весен­ним половодьем, частыми летними паводками и очень низкой зим­ней меженью. Многие реки с площадями бассейнов в десятки и даже сотни тысяч квадратных километров зимой полностью перемер­зают.</a:t>
            </a:r>
          </a:p>
        </p:txBody>
      </p:sp>
      <p:sp>
        <p:nvSpPr>
          <p:cNvPr id="21" name="Заголовок 1"/>
          <p:cNvSpPr>
            <a:spLocks noGrp="1"/>
          </p:cNvSpPr>
          <p:nvPr>
            <p:ph type="title"/>
          </p:nvPr>
        </p:nvSpPr>
        <p:spPr>
          <a:xfrm>
            <a:off x="0" y="158263"/>
            <a:ext cx="12192000" cy="835269"/>
          </a:xfrm>
          <a:solidFill>
            <a:srgbClr val="6B6BCF"/>
          </a:solidFill>
        </p:spPr>
        <p:txBody>
          <a:bodyPr>
            <a:noAutofit/>
          </a:bodyPr>
          <a:lstStyle/>
          <a:p>
            <a:r>
              <a:rPr lang="ru-RU" sz="2800" dirty="0">
                <a:solidFill>
                  <a:schemeClr val="bg1"/>
                </a:solidFill>
                <a:ea typeface="Cambria" panose="02040503050406030204" pitchFamily="18" charset="0"/>
              </a:rPr>
              <a:t>Классификации рек по водному режиму и источникам питания: </a:t>
            </a:r>
            <a:r>
              <a:rPr lang="ru-RU" sz="2800" i="1" dirty="0">
                <a:solidFill>
                  <a:schemeClr val="bg1"/>
                </a:solidFill>
                <a:ea typeface="Cambria" panose="02040503050406030204" pitchFamily="18" charset="0"/>
              </a:rPr>
              <a:t>классификация </a:t>
            </a:r>
            <a:r>
              <a:rPr lang="ru-RU" sz="2800" i="1" dirty="0" smtClean="0">
                <a:solidFill>
                  <a:schemeClr val="bg1"/>
                </a:solidFill>
                <a:ea typeface="Cambria" panose="02040503050406030204" pitchFamily="18" charset="0"/>
              </a:rPr>
              <a:t>Зайкова</a:t>
            </a:r>
            <a:endParaRPr lang="ru-RU" sz="2800" i="1" dirty="0">
              <a:solidFill>
                <a:schemeClr val="bg1"/>
              </a:solidFill>
              <a:ea typeface="Cambria" panose="02040503050406030204" pitchFamily="18" charset="0"/>
            </a:endParaRPr>
          </a:p>
        </p:txBody>
      </p:sp>
      <p:sp>
        <p:nvSpPr>
          <p:cNvPr id="22" name="Прямоугольник 21"/>
          <p:cNvSpPr/>
          <p:nvPr/>
        </p:nvSpPr>
        <p:spPr>
          <a:xfrm>
            <a:off x="9150590" y="636527"/>
            <a:ext cx="30414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/>
              <a:t>с </a:t>
            </a:r>
            <a:r>
              <a:rPr lang="ru-RU" b="1" dirty="0"/>
              <a:t>весенним половодьем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09298544"/>
      </p:ext>
    </p:extLst>
  </p:cSld>
  <p:clrMapOvr>
    <a:masterClrMapping/>
  </p:clrMapOvr>
  <p:transition spd="med" advTm="15000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konspekta.net/lektsianew/baza16/3512776982703.files/image112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575"/>
          <a:stretch/>
        </p:blipFill>
        <p:spPr bwMode="auto">
          <a:xfrm>
            <a:off x="1991545" y="1894239"/>
            <a:ext cx="3890133" cy="1724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2688512" y="3838454"/>
            <a:ext cx="21294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6B6BCF"/>
                </a:solidFill>
                <a:latin typeface="+mj-lt"/>
              </a:rPr>
              <a:t>р. Томь, г. Кузнецк</a:t>
            </a:r>
          </a:p>
        </p:txBody>
      </p:sp>
      <p:sp>
        <p:nvSpPr>
          <p:cNvPr id="7" name="Двойная стрелка влево/вправо 6"/>
          <p:cNvSpPr/>
          <p:nvPr/>
        </p:nvSpPr>
        <p:spPr>
          <a:xfrm>
            <a:off x="3143672" y="2110262"/>
            <a:ext cx="1296144" cy="144016"/>
          </a:xfrm>
          <a:prstGeom prst="left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2060"/>
              </a:solidFill>
            </a:endParaRPr>
          </a:p>
        </p:txBody>
      </p:sp>
      <p:sp>
        <p:nvSpPr>
          <p:cNvPr id="8" name="Овал 7"/>
          <p:cNvSpPr/>
          <p:nvPr/>
        </p:nvSpPr>
        <p:spPr>
          <a:xfrm>
            <a:off x="3359696" y="2347773"/>
            <a:ext cx="720080" cy="48257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2060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3063692" y="2756449"/>
            <a:ext cx="720080" cy="48257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2060"/>
              </a:solidFill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6083562" y="1752928"/>
            <a:ext cx="4572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>
                <a:solidFill>
                  <a:srgbClr val="6B6BCF"/>
                </a:solidFill>
              </a:rPr>
              <a:t>Алтайский тип </a:t>
            </a:r>
            <a:r>
              <a:rPr lang="ru-RU" dirty="0"/>
              <a:t>характеризуется сравнительно невысоким, растянутым многопиковым половодьем, повышенным стоком летом и низким стоком зимой. Растя­нутость и </a:t>
            </a:r>
            <a:r>
              <a:rPr lang="ru-RU" dirty="0" err="1"/>
              <a:t>многовершинность</a:t>
            </a:r>
            <a:r>
              <a:rPr lang="ru-RU" dirty="0"/>
              <a:t> половодья связаны с продолжитель­ным снеготаянием, которое постепенно распространяется снизу вверх по горным склонам, а также с весенне-летними дождями.</a:t>
            </a:r>
          </a:p>
        </p:txBody>
      </p:sp>
      <p:sp>
        <p:nvSpPr>
          <p:cNvPr id="11" name="Заголовок 1"/>
          <p:cNvSpPr txBox="1">
            <a:spLocks/>
          </p:cNvSpPr>
          <p:nvPr/>
        </p:nvSpPr>
        <p:spPr bwMode="auto">
          <a:xfrm>
            <a:off x="0" y="158263"/>
            <a:ext cx="12192000" cy="835269"/>
          </a:xfrm>
          <a:prstGeom prst="rect">
            <a:avLst/>
          </a:prstGeom>
          <a:solidFill>
            <a:srgbClr val="6B6BCF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sz="2800" kern="0" smtClean="0">
                <a:solidFill>
                  <a:schemeClr val="bg1"/>
                </a:solidFill>
                <a:ea typeface="Cambria" panose="02040503050406030204" pitchFamily="18" charset="0"/>
              </a:rPr>
              <a:t>Классификации рек по водному режиму и источникам питания: </a:t>
            </a:r>
            <a:r>
              <a:rPr lang="ru-RU" sz="2800" i="1" kern="0" smtClean="0">
                <a:solidFill>
                  <a:schemeClr val="bg1"/>
                </a:solidFill>
                <a:ea typeface="Cambria" panose="02040503050406030204" pitchFamily="18" charset="0"/>
              </a:rPr>
              <a:t>классификация Зайкова</a:t>
            </a:r>
            <a:endParaRPr lang="ru-RU" sz="2800" i="1" kern="0" dirty="0">
              <a:solidFill>
                <a:schemeClr val="bg1"/>
              </a:solidFill>
              <a:ea typeface="Cambria" panose="02040503050406030204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9150590" y="636527"/>
            <a:ext cx="30414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/>
              <a:t>с </a:t>
            </a:r>
            <a:r>
              <a:rPr lang="ru-RU" b="1" dirty="0"/>
              <a:t>весенним половодьем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1907809"/>
      </p:ext>
    </p:extLst>
  </p:cSld>
  <p:clrMapOvr>
    <a:masterClrMapping/>
  </p:clrMapOvr>
  <p:transition spd="med" advTm="15000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6189785" y="1368041"/>
            <a:ext cx="424847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6B6BCF"/>
                </a:solidFill>
                <a:latin typeface="+mj-lt"/>
              </a:rPr>
              <a:t>Дальневосточный </a:t>
            </a:r>
            <a:r>
              <a:rPr lang="ru-RU" b="1" dirty="0" smtClean="0">
                <a:solidFill>
                  <a:srgbClr val="6B6BCF"/>
                </a:solidFill>
                <a:latin typeface="+mj-lt"/>
              </a:rPr>
              <a:t>тип</a:t>
            </a:r>
          </a:p>
          <a:p>
            <a:r>
              <a:rPr lang="ru-RU" dirty="0" smtClean="0">
                <a:latin typeface="+mj-lt"/>
              </a:rPr>
              <a:t>Летне-осеннее </a:t>
            </a:r>
            <a:r>
              <a:rPr lang="ru-RU" dirty="0">
                <a:latin typeface="+mj-lt"/>
              </a:rPr>
              <a:t>половодье имеет растянутую многопи­ковую форму. Межень очень маловодна; многие реки зимой пере­мерзают или пересыхают. 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2"/>
          <a:srcRect b="47742"/>
          <a:stretch/>
        </p:blipFill>
        <p:spPr>
          <a:xfrm>
            <a:off x="1815697" y="1333201"/>
            <a:ext cx="4032448" cy="1708664"/>
          </a:xfrm>
          <a:prstGeom prst="rect">
            <a:avLst/>
          </a:prstGeom>
        </p:spPr>
      </p:pic>
      <p:sp>
        <p:nvSpPr>
          <p:cNvPr id="7" name="Двойная стрелка влево/вправо 6"/>
          <p:cNvSpPr/>
          <p:nvPr/>
        </p:nvSpPr>
        <p:spPr>
          <a:xfrm>
            <a:off x="3327865" y="2773361"/>
            <a:ext cx="1801050" cy="144016"/>
          </a:xfrm>
          <a:prstGeom prst="left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2060"/>
              </a:solidFill>
            </a:endParaRPr>
          </a:p>
        </p:txBody>
      </p:sp>
      <p:sp>
        <p:nvSpPr>
          <p:cNvPr id="8" name="Овал 7"/>
          <p:cNvSpPr/>
          <p:nvPr/>
        </p:nvSpPr>
        <p:spPr>
          <a:xfrm>
            <a:off x="3327865" y="1527739"/>
            <a:ext cx="1656184" cy="95759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2060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2393471" y="3067126"/>
            <a:ext cx="23555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+mj-lt"/>
              </a:rPr>
              <a:t>р. Витим, г. Бодайбо</a:t>
            </a:r>
          </a:p>
        </p:txBody>
      </p:sp>
      <p:pic>
        <p:nvPicPr>
          <p:cNvPr id="10" name="Picture 2" descr="http://konspekta.net/lektsianew/baza16/3512776982703.files/image114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774"/>
          <a:stretch/>
        </p:blipFill>
        <p:spPr bwMode="auto">
          <a:xfrm>
            <a:off x="1635830" y="3719005"/>
            <a:ext cx="4358642" cy="1669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Прямоугольник 10"/>
          <p:cNvSpPr/>
          <p:nvPr/>
        </p:nvSpPr>
        <p:spPr>
          <a:xfrm>
            <a:off x="2382056" y="5458184"/>
            <a:ext cx="22607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+mj-lt"/>
              </a:rPr>
              <a:t>р. Терек, с. Казбеги</a:t>
            </a:r>
          </a:p>
        </p:txBody>
      </p:sp>
      <p:sp>
        <p:nvSpPr>
          <p:cNvPr id="12" name="Стрелка вправо 11"/>
          <p:cNvSpPr/>
          <p:nvPr/>
        </p:nvSpPr>
        <p:spPr>
          <a:xfrm rot="16200000">
            <a:off x="4575261" y="4874110"/>
            <a:ext cx="280831" cy="15791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2060"/>
              </a:solidFill>
            </a:endParaRPr>
          </a:p>
        </p:txBody>
      </p:sp>
      <p:sp>
        <p:nvSpPr>
          <p:cNvPr id="13" name="Двойная стрелка влево/вправо 12"/>
          <p:cNvSpPr/>
          <p:nvPr/>
        </p:nvSpPr>
        <p:spPr>
          <a:xfrm rot="16200000">
            <a:off x="4095203" y="4745526"/>
            <a:ext cx="537995" cy="157913"/>
          </a:xfrm>
          <a:prstGeom prst="left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2060"/>
              </a:solidFill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6096000" y="3759232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>
                <a:solidFill>
                  <a:srgbClr val="6B6BCF"/>
                </a:solidFill>
                <a:latin typeface="+mj-lt"/>
              </a:rPr>
              <a:t>Тянь-Шаньский тип </a:t>
            </a:r>
            <a:r>
              <a:rPr lang="ru-RU" dirty="0">
                <a:latin typeface="+mj-lt"/>
              </a:rPr>
              <a:t>по характеру гидрографа сходен с Дальневосточным, но отличается от него меньшей амплитудой волны половодья и более высоким стоком зимой. Встречается в высокогорных областях Средней Азии, Большого Кавказа и на Камчатке. Основное питание </a:t>
            </a:r>
            <a:r>
              <a:rPr lang="ru-RU" dirty="0" err="1">
                <a:latin typeface="+mj-lt"/>
              </a:rPr>
              <a:t>снего</a:t>
            </a:r>
            <a:r>
              <a:rPr lang="ru-RU" dirty="0">
                <a:latin typeface="+mj-lt"/>
              </a:rPr>
              <a:t>-ледниковое.</a:t>
            </a:r>
          </a:p>
        </p:txBody>
      </p:sp>
      <p:sp>
        <p:nvSpPr>
          <p:cNvPr id="15" name="Заголовок 1"/>
          <p:cNvSpPr>
            <a:spLocks noGrp="1"/>
          </p:cNvSpPr>
          <p:nvPr>
            <p:ph type="title"/>
          </p:nvPr>
        </p:nvSpPr>
        <p:spPr>
          <a:xfrm>
            <a:off x="0" y="158263"/>
            <a:ext cx="12192000" cy="835269"/>
          </a:xfrm>
          <a:solidFill>
            <a:srgbClr val="6B6BCF"/>
          </a:solidFill>
        </p:spPr>
        <p:txBody>
          <a:bodyPr>
            <a:noAutofit/>
          </a:bodyPr>
          <a:lstStyle/>
          <a:p>
            <a:r>
              <a:rPr lang="ru-RU" sz="2800" dirty="0">
                <a:solidFill>
                  <a:schemeClr val="bg1"/>
                </a:solidFill>
                <a:ea typeface="Cambria" panose="02040503050406030204" pitchFamily="18" charset="0"/>
              </a:rPr>
              <a:t>Классификации рек по водному режиму и источникам питания: </a:t>
            </a:r>
            <a:r>
              <a:rPr lang="ru-RU" sz="2800" i="1" dirty="0">
                <a:solidFill>
                  <a:schemeClr val="bg1"/>
                </a:solidFill>
                <a:ea typeface="Cambria" panose="02040503050406030204" pitchFamily="18" charset="0"/>
              </a:rPr>
              <a:t>классификация </a:t>
            </a:r>
            <a:r>
              <a:rPr lang="ru-RU" sz="2800" i="1" dirty="0" smtClean="0">
                <a:solidFill>
                  <a:schemeClr val="bg1"/>
                </a:solidFill>
                <a:ea typeface="Cambria" panose="02040503050406030204" pitchFamily="18" charset="0"/>
              </a:rPr>
              <a:t>Зайкова</a:t>
            </a:r>
            <a:endParaRPr lang="ru-RU" sz="2800" i="1" dirty="0">
              <a:solidFill>
                <a:schemeClr val="bg1"/>
              </a:solidFill>
              <a:ea typeface="Cambria" panose="02040503050406030204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8040216" y="624200"/>
            <a:ext cx="4328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/>
              <a:t> с половодьем </a:t>
            </a:r>
            <a:r>
              <a:rPr lang="ru-RU" b="1" dirty="0"/>
              <a:t>в теплую часть года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82054389"/>
      </p:ext>
    </p:extLst>
  </p:cSld>
  <p:clrMapOvr>
    <a:masterClrMapping/>
  </p:clrMapOvr>
  <p:transition spd="med" advTm="15000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b="76336"/>
          <a:stretch/>
        </p:blipFill>
        <p:spPr>
          <a:xfrm>
            <a:off x="1875620" y="1097868"/>
            <a:ext cx="3240359" cy="1368152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2084596" y="2374139"/>
            <a:ext cx="27847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6B6BCF"/>
                </a:solidFill>
                <a:latin typeface="Verdana" panose="020B0604030504040204" pitchFamily="34" charset="0"/>
              </a:rPr>
              <a:t>р. Сочи, с. </a:t>
            </a:r>
            <a:r>
              <a:rPr lang="ru-RU" dirty="0" err="1">
                <a:solidFill>
                  <a:srgbClr val="6B6BCF"/>
                </a:solidFill>
                <a:latin typeface="Verdana" panose="020B0604030504040204" pitchFamily="34" charset="0"/>
              </a:rPr>
              <a:t>Пластунка</a:t>
            </a:r>
            <a:endParaRPr lang="ru-RU" dirty="0">
              <a:solidFill>
                <a:srgbClr val="6B6BCF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1971845" y="1637928"/>
            <a:ext cx="3096344" cy="57606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2060"/>
              </a:solidFill>
            </a:endParaRPr>
          </a:p>
        </p:txBody>
      </p:sp>
      <p:pic>
        <p:nvPicPr>
          <p:cNvPr id="8" name="Picture 2" descr="http://konspekta.net/lektsianew/baza16/3512776982703.files/image116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022" b="43445"/>
          <a:stretch/>
        </p:blipFill>
        <p:spPr bwMode="auto">
          <a:xfrm>
            <a:off x="1686455" y="2870612"/>
            <a:ext cx="3667125" cy="1512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/>
          <p:cNvSpPr/>
          <p:nvPr/>
        </p:nvSpPr>
        <p:spPr>
          <a:xfrm>
            <a:off x="1830471" y="4378962"/>
            <a:ext cx="34227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6B6BCF"/>
                </a:solidFill>
                <a:latin typeface="Verdana" panose="020B0604030504040204" pitchFamily="34" charset="0"/>
              </a:rPr>
              <a:t>р. </a:t>
            </a:r>
            <a:r>
              <a:rPr lang="ru-RU" dirty="0" err="1">
                <a:solidFill>
                  <a:srgbClr val="6B6BCF"/>
                </a:solidFill>
                <a:latin typeface="Verdana" panose="020B0604030504040204" pitchFamily="34" charset="0"/>
              </a:rPr>
              <a:t>Салгир</a:t>
            </a:r>
            <a:r>
              <a:rPr lang="ru-RU" dirty="0">
                <a:solidFill>
                  <a:srgbClr val="6B6BCF"/>
                </a:solidFill>
                <a:latin typeface="Verdana" panose="020B0604030504040204" pitchFamily="34" charset="0"/>
              </a:rPr>
              <a:t>, г. Симферополь</a:t>
            </a:r>
            <a:endParaRPr lang="ru-RU" dirty="0">
              <a:solidFill>
                <a:srgbClr val="6B6BCF"/>
              </a:solidFill>
            </a:endParaRPr>
          </a:p>
        </p:txBody>
      </p:sp>
      <p:sp>
        <p:nvSpPr>
          <p:cNvPr id="10" name="Овал 9"/>
          <p:cNvSpPr/>
          <p:nvPr/>
        </p:nvSpPr>
        <p:spPr>
          <a:xfrm>
            <a:off x="1830470" y="3014628"/>
            <a:ext cx="1584176" cy="10801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2060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 rotWithShape="1">
          <a:blip r:embed="rId2"/>
          <a:srcRect t="56196"/>
          <a:stretch/>
        </p:blipFill>
        <p:spPr>
          <a:xfrm>
            <a:off x="2019635" y="4787373"/>
            <a:ext cx="2827242" cy="1569747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1686455" y="6357120"/>
            <a:ext cx="40362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6B6BCF"/>
                </a:solidFill>
                <a:latin typeface="Verdana" panose="020B0604030504040204" pitchFamily="34" charset="0"/>
              </a:rPr>
              <a:t>р. </a:t>
            </a:r>
            <a:r>
              <a:rPr lang="ru-RU" dirty="0" err="1">
                <a:solidFill>
                  <a:srgbClr val="6B6BCF"/>
                </a:solidFill>
                <a:latin typeface="Verdana" panose="020B0604030504040204" pitchFamily="34" charset="0"/>
              </a:rPr>
              <a:t>Камбилеевка</a:t>
            </a:r>
            <a:r>
              <a:rPr lang="ru-RU" dirty="0">
                <a:solidFill>
                  <a:srgbClr val="6B6BCF"/>
                </a:solidFill>
                <a:latin typeface="Verdana" panose="020B0604030504040204" pitchFamily="34" charset="0"/>
              </a:rPr>
              <a:t>, с. </a:t>
            </a:r>
            <a:r>
              <a:rPr lang="ru-RU" dirty="0" err="1">
                <a:solidFill>
                  <a:srgbClr val="6B6BCF"/>
                </a:solidFill>
                <a:latin typeface="Verdana" panose="020B0604030504040204" pitchFamily="34" charset="0"/>
              </a:rPr>
              <a:t>Ольгинское</a:t>
            </a:r>
            <a:endParaRPr lang="ru-RU" dirty="0">
              <a:solidFill>
                <a:srgbClr val="6B6BCF"/>
              </a:solidFill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5937769" y="5041431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>
                <a:solidFill>
                  <a:srgbClr val="6B6BCF"/>
                </a:solidFill>
              </a:rPr>
              <a:t>Северо-Кавказский тип </a:t>
            </a:r>
            <a:r>
              <a:rPr lang="ru-RU" dirty="0"/>
              <a:t>присущ малым рекам предгорий северного склона Большого Кавказа (бассейн Терека), на которых паводки проходят в теплую часть года, а зимой наблюдается межень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5937769" y="3178634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>
                <a:solidFill>
                  <a:srgbClr val="6B6BCF"/>
                </a:solidFill>
              </a:rPr>
              <a:t>Крымский тип</a:t>
            </a:r>
            <a:r>
              <a:rPr lang="ru-RU" dirty="0">
                <a:solidFill>
                  <a:srgbClr val="6B6BCF"/>
                </a:solidFill>
              </a:rPr>
              <a:t> </a:t>
            </a:r>
            <a:r>
              <a:rPr lang="ru-RU" dirty="0"/>
              <a:t>характеризуется паводками в холодное время года. Летом и осенью па­водки редки, а некоторые реки в это время года даже пересыхают</a:t>
            </a:r>
            <a:r>
              <a:rPr lang="en-US" dirty="0"/>
              <a:t>. </a:t>
            </a:r>
            <a:endParaRPr lang="ru-RU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5937769" y="1020533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>
                <a:solidFill>
                  <a:srgbClr val="6B6BCF"/>
                </a:solidFill>
              </a:rPr>
              <a:t>Причерноморский тип </a:t>
            </a:r>
            <a:r>
              <a:rPr lang="ru-RU" dirty="0"/>
              <a:t>отличается образованием паводков в течение всего года</a:t>
            </a:r>
            <a:r>
              <a:rPr lang="en-US" dirty="0"/>
              <a:t>. </a:t>
            </a:r>
            <a:r>
              <a:rPr lang="ru-RU" dirty="0"/>
              <a:t>Паводки образуются в основном от дождей, но некоторое участие принимает снег, который быстро </a:t>
            </a:r>
            <a:r>
              <a:rPr lang="ru-RU" dirty="0" err="1"/>
              <a:t>стаивает</a:t>
            </a:r>
            <a:r>
              <a:rPr lang="ru-RU" dirty="0"/>
              <a:t> после выпадения.</a:t>
            </a:r>
          </a:p>
        </p:txBody>
      </p:sp>
      <p:sp>
        <p:nvSpPr>
          <p:cNvPr id="15" name="Заголовок 1"/>
          <p:cNvSpPr>
            <a:spLocks noGrp="1"/>
          </p:cNvSpPr>
          <p:nvPr>
            <p:ph type="title"/>
          </p:nvPr>
        </p:nvSpPr>
        <p:spPr>
          <a:xfrm>
            <a:off x="0" y="158263"/>
            <a:ext cx="12192000" cy="835269"/>
          </a:xfrm>
          <a:solidFill>
            <a:srgbClr val="6B6BCF"/>
          </a:solidFill>
        </p:spPr>
        <p:txBody>
          <a:bodyPr>
            <a:noAutofit/>
          </a:bodyPr>
          <a:lstStyle/>
          <a:p>
            <a:r>
              <a:rPr lang="ru-RU" sz="2800" dirty="0">
                <a:solidFill>
                  <a:schemeClr val="bg1"/>
                </a:solidFill>
                <a:ea typeface="Cambria" panose="02040503050406030204" pitchFamily="18" charset="0"/>
              </a:rPr>
              <a:t>Классификации рек по водному режиму и источникам питания: </a:t>
            </a:r>
            <a:r>
              <a:rPr lang="ru-RU" sz="2800" i="1" dirty="0">
                <a:solidFill>
                  <a:schemeClr val="bg1"/>
                </a:solidFill>
                <a:ea typeface="Cambria" panose="02040503050406030204" pitchFamily="18" charset="0"/>
              </a:rPr>
              <a:t>классификация </a:t>
            </a:r>
            <a:r>
              <a:rPr lang="ru-RU" sz="2800" i="1" dirty="0" smtClean="0">
                <a:solidFill>
                  <a:schemeClr val="bg1"/>
                </a:solidFill>
                <a:ea typeface="Cambria" panose="02040503050406030204" pitchFamily="18" charset="0"/>
              </a:rPr>
              <a:t>Зайкова</a:t>
            </a:r>
            <a:endParaRPr lang="ru-RU" sz="2800" i="1" dirty="0">
              <a:solidFill>
                <a:schemeClr val="bg1"/>
              </a:solidFill>
              <a:ea typeface="Cambria" panose="02040503050406030204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8568251" y="632268"/>
            <a:ext cx="30893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/>
              <a:t> </a:t>
            </a:r>
            <a:r>
              <a:rPr lang="ru-RU" b="1" dirty="0"/>
              <a:t>с </a:t>
            </a:r>
            <a:r>
              <a:rPr lang="ru-RU" b="1" dirty="0" err="1"/>
              <a:t>паводочным</a:t>
            </a:r>
            <a:r>
              <a:rPr lang="ru-RU" b="1" dirty="0"/>
              <a:t> режимом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88694640"/>
      </p:ext>
    </p:extLst>
  </p:cSld>
  <p:clrMapOvr>
    <a:masterClrMapping/>
  </p:clrMapOvr>
  <p:transition spd="med" advTm="15000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2016\Гидрология рек 2 курс\Карта гидрологического режима\karta_vodnosti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8239" y="1048590"/>
            <a:ext cx="7555523" cy="5809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0" y="158263"/>
            <a:ext cx="12192000" cy="835269"/>
          </a:xfrm>
          <a:solidFill>
            <a:srgbClr val="6B6BCF"/>
          </a:solidFill>
        </p:spPr>
        <p:txBody>
          <a:bodyPr>
            <a:noAutofit/>
          </a:bodyPr>
          <a:lstStyle/>
          <a:p>
            <a:r>
              <a:rPr lang="ru-RU" sz="2800" dirty="0">
                <a:solidFill>
                  <a:schemeClr val="bg1"/>
                </a:solidFill>
                <a:ea typeface="Cambria" panose="02040503050406030204" pitchFamily="18" charset="0"/>
              </a:rPr>
              <a:t>Классификации рек по водному режиму и источникам питания: </a:t>
            </a:r>
            <a:r>
              <a:rPr lang="ru-RU" sz="2800" i="1" dirty="0">
                <a:solidFill>
                  <a:schemeClr val="bg1"/>
                </a:solidFill>
                <a:ea typeface="Cambria" panose="02040503050406030204" pitchFamily="18" charset="0"/>
              </a:rPr>
              <a:t>классификация </a:t>
            </a:r>
            <a:r>
              <a:rPr lang="ru-RU" sz="2800" i="1" dirty="0" smtClean="0">
                <a:solidFill>
                  <a:schemeClr val="bg1"/>
                </a:solidFill>
                <a:ea typeface="Cambria" panose="02040503050406030204" pitchFamily="18" charset="0"/>
              </a:rPr>
              <a:t>Зайкова</a:t>
            </a:r>
            <a:endParaRPr lang="ru-RU" sz="2800" i="1" dirty="0">
              <a:solidFill>
                <a:schemeClr val="bg1"/>
              </a:solidFill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1554686"/>
      </p:ext>
    </p:extLst>
  </p:cSld>
  <p:clrMapOvr>
    <a:masterClrMapping/>
  </p:clrMapOvr>
  <p:transition spd="med" advTm="15000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802424"/>
            <a:ext cx="12192000" cy="2022231"/>
          </a:xfrm>
          <a:solidFill>
            <a:srgbClr val="6B6BCF"/>
          </a:solidFill>
        </p:spPr>
        <p:txBody>
          <a:bodyPr>
            <a:noAutofit/>
          </a:bodyPr>
          <a:lstStyle/>
          <a:p>
            <a:pPr algn="ctr"/>
            <a:r>
              <a:rPr lang="ru-RU" sz="4800" dirty="0">
                <a:solidFill>
                  <a:schemeClr val="bg1"/>
                </a:solidFill>
                <a:ea typeface="Cambria" panose="02040503050406030204" pitchFamily="18" charset="0"/>
              </a:rPr>
              <a:t>Выделение типов питания </a:t>
            </a:r>
            <a:r>
              <a:rPr lang="ru-RU" sz="4800" dirty="0" smtClean="0">
                <a:solidFill>
                  <a:schemeClr val="bg1"/>
                </a:solidFill>
                <a:ea typeface="Cambria" panose="02040503050406030204" pitchFamily="18" charset="0"/>
              </a:rPr>
              <a:t/>
            </a:r>
            <a:br>
              <a:rPr lang="ru-RU" sz="4800" dirty="0" smtClean="0">
                <a:solidFill>
                  <a:schemeClr val="bg1"/>
                </a:solidFill>
                <a:ea typeface="Cambria" panose="02040503050406030204" pitchFamily="18" charset="0"/>
              </a:rPr>
            </a:br>
            <a:r>
              <a:rPr lang="ru-RU" sz="4800" dirty="0" smtClean="0">
                <a:solidFill>
                  <a:schemeClr val="bg1"/>
                </a:solidFill>
                <a:ea typeface="Cambria" panose="02040503050406030204" pitchFamily="18" charset="0"/>
              </a:rPr>
              <a:t>по </a:t>
            </a:r>
            <a:r>
              <a:rPr lang="ru-RU" sz="4800" dirty="0">
                <a:solidFill>
                  <a:schemeClr val="bg1"/>
                </a:solidFill>
                <a:ea typeface="Cambria" panose="02040503050406030204" pitchFamily="18" charset="0"/>
              </a:rPr>
              <a:t>гидрографу реки</a:t>
            </a:r>
            <a:endParaRPr lang="ru-RU" sz="4800" i="1" dirty="0">
              <a:solidFill>
                <a:schemeClr val="bg1"/>
              </a:solidFill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10743"/>
      </p:ext>
    </p:extLst>
  </p:cSld>
  <p:clrMapOvr>
    <a:masterClrMapping/>
  </p:clrMapOvr>
  <p:transition spd="med" advTm="15000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 txBox="1">
            <a:spLocks/>
          </p:cNvSpPr>
          <p:nvPr/>
        </p:nvSpPr>
        <p:spPr>
          <a:xfrm>
            <a:off x="0" y="242036"/>
            <a:ext cx="12192000" cy="716327"/>
          </a:xfrm>
          <a:prstGeom prst="rect">
            <a:avLst/>
          </a:prstGeom>
          <a:solidFill>
            <a:srgbClr val="6B6BCF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>
                <a:solidFill>
                  <a:schemeClr val="bg1"/>
                </a:solidFill>
                <a:ea typeface="Cambria" panose="02040503050406030204" pitchFamily="18" charset="0"/>
              </a:rPr>
              <a:t>Выделение типов питания по гидрографу реки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551384" y="1151286"/>
            <a:ext cx="1152128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srgbClr val="6B6BCF"/>
                </a:solidFill>
                <a:latin typeface="+mj-lt"/>
              </a:rPr>
              <a:t>Б.П. Поляков </a:t>
            </a:r>
            <a:r>
              <a:rPr lang="ru-RU" sz="2000" dirty="0">
                <a:latin typeface="+mj-lt"/>
              </a:rPr>
              <a:t>предложил считать, что подземное питание по мере подъема весеннего половодья постепенно снижается, прекращаясь при прохождении наибольшего расхода воды, и возрастает на спаде половодья, когда происходит отдача воды поймой реки</a:t>
            </a:r>
          </a:p>
        </p:txBody>
      </p:sp>
      <p:pic>
        <p:nvPicPr>
          <p:cNvPr id="8" name="Picture 2" descr="http://ok-t.ru/studopedia/baza13/816266873915.files/image04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576" y="2492896"/>
            <a:ext cx="7480039" cy="3312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/>
          <p:cNvSpPr/>
          <p:nvPr/>
        </p:nvSpPr>
        <p:spPr>
          <a:xfrm>
            <a:off x="2355980" y="5938818"/>
            <a:ext cx="7596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6B6BCF"/>
                </a:solidFill>
                <a:latin typeface="+mj-lt"/>
              </a:rPr>
              <a:t>1- снеговой сток; 2 – подземный сток; 3 – дождевой сток</a:t>
            </a:r>
          </a:p>
        </p:txBody>
      </p:sp>
    </p:spTree>
    <p:extLst>
      <p:ext uri="{BB962C8B-B14F-4D97-AF65-F5344CB8AC3E}">
        <p14:creationId xmlns:p14="http://schemas.microsoft.com/office/powerpoint/2010/main" val="3811347652"/>
      </p:ext>
    </p:extLst>
  </p:cSld>
  <p:clrMapOvr>
    <a:masterClrMapping/>
  </p:clrMapOvr>
  <p:transition spd="med" advTm="15000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0696" y="2074223"/>
            <a:ext cx="4710608" cy="3781526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119336" y="1006506"/>
            <a:ext cx="5847125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r"/>
            <a:r>
              <a:rPr lang="ru-RU" sz="1600" b="1" dirty="0">
                <a:solidFill>
                  <a:srgbClr val="6B6BCF"/>
                </a:solidFill>
                <a:latin typeface="+mn-lt"/>
              </a:rPr>
              <a:t>а) постоянная односторонняя гидравлическая связь</a:t>
            </a:r>
            <a:r>
              <a:rPr lang="ru-RU" sz="1600" dirty="0">
                <a:latin typeface="+mn-lt"/>
              </a:rPr>
              <a:t>. При низком положении </a:t>
            </a:r>
            <a:r>
              <a:rPr lang="ru-RU" sz="1600" dirty="0" err="1">
                <a:latin typeface="+mn-lt"/>
              </a:rPr>
              <a:t>водоупора</a:t>
            </a:r>
            <a:r>
              <a:rPr lang="ru-RU" sz="1600" dirty="0">
                <a:latin typeface="+mn-lt"/>
              </a:rPr>
              <a:t> река в течение всего года через дно и берега питает грунтовые воды.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263352" y="5754425"/>
            <a:ext cx="5885402" cy="107721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r"/>
            <a:r>
              <a:rPr lang="ru-RU" sz="1600" b="1" dirty="0">
                <a:solidFill>
                  <a:srgbClr val="6B6BCF"/>
                </a:solidFill>
                <a:latin typeface="+mn-lt"/>
              </a:rPr>
              <a:t>в) временная гидравлическая связь. </a:t>
            </a:r>
            <a:r>
              <a:rPr lang="ru-RU" sz="1600" dirty="0">
                <a:latin typeface="+mn-lt"/>
              </a:rPr>
              <a:t>При ещё более высоком положении </a:t>
            </a:r>
            <a:r>
              <a:rPr lang="ru-RU" sz="1600" dirty="0" err="1">
                <a:latin typeface="+mn-lt"/>
              </a:rPr>
              <a:t>водоупора</a:t>
            </a:r>
            <a:r>
              <a:rPr lang="ru-RU" sz="1600" dirty="0">
                <a:latin typeface="+mn-lt"/>
              </a:rPr>
              <a:t> в межень уровень воды в реке оказывается ниже </a:t>
            </a:r>
            <a:r>
              <a:rPr lang="ru-RU" sz="1600" dirty="0" err="1">
                <a:latin typeface="+mn-lt"/>
              </a:rPr>
              <a:t>водоупора</a:t>
            </a:r>
            <a:r>
              <a:rPr lang="ru-RU" sz="1600" dirty="0">
                <a:latin typeface="+mn-lt"/>
              </a:rPr>
              <a:t> и на склонах русла возникают родники и ключи.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6315222" y="5855749"/>
            <a:ext cx="5757442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6B6BCF"/>
                </a:solidFill>
                <a:latin typeface="+mn-lt"/>
              </a:rPr>
              <a:t>г) отсутствие гидравлической связи </a:t>
            </a:r>
            <a:r>
              <a:rPr lang="ru-RU" sz="1600" dirty="0">
                <a:latin typeface="+mn-lt"/>
              </a:rPr>
              <a:t>при очень высоком положении </a:t>
            </a:r>
            <a:r>
              <a:rPr lang="ru-RU" sz="1600" dirty="0" err="1">
                <a:latin typeface="+mn-lt"/>
              </a:rPr>
              <a:t>водоупора</a:t>
            </a:r>
            <a:r>
              <a:rPr lang="ru-RU" sz="1600" dirty="0">
                <a:latin typeface="+mn-lt"/>
              </a:rPr>
              <a:t>. 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6315222" y="1006506"/>
            <a:ext cx="5876778" cy="132343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6B6BCF"/>
                </a:solidFill>
                <a:latin typeface="+mn-lt"/>
              </a:rPr>
              <a:t>б) постоянная двусторонняя гидравлическая связь (береговое регулирование). </a:t>
            </a:r>
            <a:r>
              <a:rPr lang="ru-RU" sz="1600" dirty="0">
                <a:latin typeface="+mn-lt"/>
              </a:rPr>
              <a:t>При более высоком положении </a:t>
            </a:r>
            <a:r>
              <a:rPr lang="ru-RU" sz="1600" dirty="0" err="1">
                <a:latin typeface="+mn-lt"/>
              </a:rPr>
              <a:t>водоупора</a:t>
            </a:r>
            <a:r>
              <a:rPr lang="ru-RU" sz="1600" dirty="0">
                <a:latin typeface="+mn-lt"/>
              </a:rPr>
              <a:t> река питает грунтовые воды в половодье и дренирует их в межень часть аккумулированной в грунте воды. </a:t>
            </a:r>
          </a:p>
        </p:txBody>
      </p:sp>
      <p:sp>
        <p:nvSpPr>
          <p:cNvPr id="10" name="Заголовок 1"/>
          <p:cNvSpPr txBox="1">
            <a:spLocks/>
          </p:cNvSpPr>
          <p:nvPr/>
        </p:nvSpPr>
        <p:spPr>
          <a:xfrm>
            <a:off x="0" y="242036"/>
            <a:ext cx="12192000" cy="716327"/>
          </a:xfrm>
          <a:prstGeom prst="rect">
            <a:avLst/>
          </a:prstGeom>
          <a:solidFill>
            <a:srgbClr val="6B6BCF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>
                <a:solidFill>
                  <a:schemeClr val="bg1"/>
                </a:solidFill>
                <a:ea typeface="Cambria" panose="02040503050406030204" pitchFamily="18" charset="0"/>
              </a:rPr>
              <a:t>Взаимодействие речных и грунтовых вод</a:t>
            </a:r>
          </a:p>
        </p:txBody>
      </p:sp>
    </p:spTree>
    <p:extLst>
      <p:ext uri="{BB962C8B-B14F-4D97-AF65-F5344CB8AC3E}">
        <p14:creationId xmlns:p14="http://schemas.microsoft.com/office/powerpoint/2010/main" val="1200500182"/>
      </p:ext>
    </p:extLst>
  </p:cSld>
  <p:clrMapOvr>
    <a:masterClrMapping/>
  </p:clrMapOvr>
  <p:transition spd="med" advTm="15000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407368" y="1084567"/>
            <a:ext cx="1166529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srgbClr val="6B6BCF"/>
                </a:solidFill>
              </a:rPr>
              <a:t>Б.И. </a:t>
            </a:r>
            <a:r>
              <a:rPr lang="ru-RU" sz="2000" b="1" dirty="0" err="1">
                <a:solidFill>
                  <a:srgbClr val="6B6BCF"/>
                </a:solidFill>
              </a:rPr>
              <a:t>Куделин</a:t>
            </a:r>
            <a:r>
              <a:rPr lang="ru-RU" sz="2000" b="1" dirty="0">
                <a:solidFill>
                  <a:srgbClr val="6B6BCF"/>
                </a:solidFill>
              </a:rPr>
              <a:t> </a:t>
            </a:r>
            <a:r>
              <a:rPr lang="ru-RU" sz="2000" dirty="0"/>
              <a:t>разработал типовые схемы расчленения гидрографа стока в зависимости от гидрогеологических условий и режима подземного стока. Динамика подземного стока из водоносных горизонтов зависит от степени гидравлической связи этих горизонтов с рекой</a:t>
            </a:r>
          </a:p>
        </p:txBody>
      </p:sp>
      <p:pic>
        <p:nvPicPr>
          <p:cNvPr id="6" name="Picture 2" descr="http://ok-t.ru/studopedia/baza13/816266873915.files/image04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3539" y="2284896"/>
            <a:ext cx="6331990" cy="4573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Заголовок 1"/>
          <p:cNvSpPr txBox="1">
            <a:spLocks/>
          </p:cNvSpPr>
          <p:nvPr/>
        </p:nvSpPr>
        <p:spPr>
          <a:xfrm>
            <a:off x="0" y="242036"/>
            <a:ext cx="12192000" cy="716327"/>
          </a:xfrm>
          <a:prstGeom prst="rect">
            <a:avLst/>
          </a:prstGeom>
          <a:solidFill>
            <a:srgbClr val="6B6BCF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>
                <a:solidFill>
                  <a:schemeClr val="bg1"/>
                </a:solidFill>
                <a:ea typeface="Cambria" panose="02040503050406030204" pitchFamily="18" charset="0"/>
              </a:rPr>
              <a:t>Выделение типов питания по гидрографу реки</a:t>
            </a:r>
          </a:p>
        </p:txBody>
      </p:sp>
    </p:spTree>
    <p:extLst>
      <p:ext uri="{BB962C8B-B14F-4D97-AF65-F5344CB8AC3E}">
        <p14:creationId xmlns:p14="http://schemas.microsoft.com/office/powerpoint/2010/main" val="4010297523"/>
      </p:ext>
    </p:extLst>
  </p:cSld>
  <p:clrMapOvr>
    <a:masterClrMapping/>
  </p:clrMapOvr>
  <p:transition spd="med" advTm="15000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479376" y="1053349"/>
            <a:ext cx="1144927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/>
              <a:t>М.Б. Киреева и др., 2018. </a:t>
            </a:r>
            <a:r>
              <a:rPr lang="ru-RU" sz="2000" dirty="0" err="1"/>
              <a:t>Паводочный</a:t>
            </a:r>
            <a:r>
              <a:rPr lang="ru-RU" sz="2000" dirty="0"/>
              <a:t> сток на реках Европейской территории России и его роль в формировании современного водного режима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544" y="1856221"/>
            <a:ext cx="8786041" cy="4742055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0" y="242036"/>
            <a:ext cx="12192000" cy="716327"/>
          </a:xfrm>
          <a:prstGeom prst="rect">
            <a:avLst/>
          </a:prstGeom>
          <a:solidFill>
            <a:srgbClr val="6B6BCF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>
                <a:solidFill>
                  <a:schemeClr val="bg1"/>
                </a:solidFill>
                <a:ea typeface="Cambria" panose="02040503050406030204" pitchFamily="18" charset="0"/>
              </a:rPr>
              <a:t>Выделение типов питания по гидрографу реки</a:t>
            </a:r>
          </a:p>
        </p:txBody>
      </p:sp>
    </p:spTree>
    <p:extLst>
      <p:ext uri="{BB962C8B-B14F-4D97-AF65-F5344CB8AC3E}">
        <p14:creationId xmlns:p14="http://schemas.microsoft.com/office/powerpoint/2010/main" val="1906830703"/>
      </p:ext>
    </p:extLst>
  </p:cSld>
  <p:clrMapOvr>
    <a:masterClrMapping/>
  </p:clrMapOvr>
  <p:transition spd="med" advTm="15000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1699679"/>
            <a:ext cx="6830890" cy="5095432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479376" y="1053349"/>
            <a:ext cx="1188132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/>
              <a:t>Ю. К. </a:t>
            </a:r>
            <a:r>
              <a:rPr lang="ru-RU" sz="2000" dirty="0" err="1"/>
              <a:t>Васильчук</a:t>
            </a:r>
            <a:r>
              <a:rPr lang="ru-RU" sz="2000" dirty="0"/>
              <a:t> и др., 2016. Расчленение гидрографа реки </a:t>
            </a:r>
            <a:r>
              <a:rPr lang="ru-RU" sz="2000" dirty="0" err="1" smtClean="0"/>
              <a:t>Джанкуат</a:t>
            </a:r>
            <a:r>
              <a:rPr lang="ru-RU" sz="2000" dirty="0" smtClean="0"/>
              <a:t>,</a:t>
            </a:r>
            <a:r>
              <a:rPr lang="en-US" sz="2000" dirty="0" smtClean="0"/>
              <a:t> </a:t>
            </a:r>
            <a:r>
              <a:rPr lang="ru-RU" sz="2000" dirty="0" smtClean="0"/>
              <a:t>Центральный </a:t>
            </a:r>
            <a:r>
              <a:rPr lang="ru-RU" sz="2000" dirty="0"/>
              <a:t>Кавказ, с помощью изотопных методов</a:t>
            </a:r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0" y="242036"/>
            <a:ext cx="12192000" cy="716327"/>
          </a:xfrm>
          <a:prstGeom prst="rect">
            <a:avLst/>
          </a:prstGeom>
          <a:solidFill>
            <a:srgbClr val="6B6BCF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>
                <a:solidFill>
                  <a:schemeClr val="bg1"/>
                </a:solidFill>
                <a:ea typeface="Cambria" panose="02040503050406030204" pitchFamily="18" charset="0"/>
              </a:rPr>
              <a:t>Выделение типов питания по гидрографу реки</a:t>
            </a:r>
          </a:p>
        </p:txBody>
      </p:sp>
    </p:spTree>
    <p:extLst>
      <p:ext uri="{BB962C8B-B14F-4D97-AF65-F5344CB8AC3E}">
        <p14:creationId xmlns:p14="http://schemas.microsoft.com/office/powerpoint/2010/main" val="3283215961"/>
      </p:ext>
    </p:extLst>
  </p:cSld>
  <p:clrMapOvr>
    <a:masterClrMapping/>
  </p:clrMapOvr>
  <p:transition spd="med" advTm="15000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802424"/>
            <a:ext cx="12288688" cy="2022231"/>
          </a:xfrm>
          <a:solidFill>
            <a:srgbClr val="6B6BCF"/>
          </a:solidFill>
        </p:spPr>
        <p:txBody>
          <a:bodyPr>
            <a:no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  <a:ea typeface="Cambria" panose="02040503050406030204" pitchFamily="18" charset="0"/>
              </a:rPr>
              <a:t>Выполнение практической работы</a:t>
            </a:r>
            <a:endParaRPr lang="ru-RU" sz="4000" i="1" dirty="0">
              <a:solidFill>
                <a:schemeClr val="bg1"/>
              </a:solidFill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8527312"/>
      </p:ext>
    </p:extLst>
  </p:cSld>
  <p:clrMapOvr>
    <a:masterClrMapping/>
  </p:clrMapOvr>
  <p:transition spd="med" advTm="15000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42036"/>
            <a:ext cx="12192000" cy="716327"/>
          </a:xfrm>
          <a:solidFill>
            <a:srgbClr val="6B6BCF"/>
          </a:solidFill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  <a:ea typeface="Cambria" panose="02040503050406030204" pitchFamily="18" charset="0"/>
              </a:rPr>
              <a:t>Задачи практической работы №2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63352" y="1371600"/>
            <a:ext cx="11881320" cy="5187462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ru-RU" sz="2000" dirty="0"/>
              <a:t>Получить </a:t>
            </a:r>
            <a:r>
              <a:rPr lang="ru-RU" sz="2000" b="1" dirty="0"/>
              <a:t>данные по расходу и уровню воды </a:t>
            </a:r>
            <a:r>
              <a:rPr lang="ru-RU" sz="2000" dirty="0"/>
              <a:t>для выбранной реки;</a:t>
            </a:r>
          </a:p>
          <a:p>
            <a:pPr>
              <a:lnSpc>
                <a:spcPct val="120000"/>
              </a:lnSpc>
            </a:pPr>
            <a:r>
              <a:rPr lang="ru-RU" sz="2000" dirty="0"/>
              <a:t>Проанализировав данные за многолетний период, </a:t>
            </a:r>
            <a:r>
              <a:rPr lang="ru-RU" sz="2000" b="1" dirty="0"/>
              <a:t>выбрать маловодный, средний по водности и многоводный годы;</a:t>
            </a:r>
          </a:p>
          <a:p>
            <a:pPr>
              <a:lnSpc>
                <a:spcPct val="120000"/>
              </a:lnSpc>
            </a:pPr>
            <a:r>
              <a:rPr lang="ru-RU" sz="2000" dirty="0"/>
              <a:t>Построить </a:t>
            </a:r>
            <a:r>
              <a:rPr lang="ru-RU" sz="2000" b="1" dirty="0"/>
              <a:t>гидрографы</a:t>
            </a:r>
            <a:r>
              <a:rPr lang="ru-RU" sz="2000" dirty="0"/>
              <a:t> выбранных лет, проанализировать общие черты и различия в внутригодовом распределении стока в эти годы;</a:t>
            </a:r>
          </a:p>
          <a:p>
            <a:pPr>
              <a:lnSpc>
                <a:spcPct val="120000"/>
              </a:lnSpc>
            </a:pPr>
            <a:r>
              <a:rPr lang="ru-RU" sz="2000" dirty="0"/>
              <a:t>Для года средней водности выделить </a:t>
            </a:r>
            <a:r>
              <a:rPr lang="ru-RU" sz="2000" b="1" dirty="0"/>
              <a:t>фазы водного режима </a:t>
            </a:r>
            <a:r>
              <a:rPr lang="ru-RU" sz="2000" dirty="0"/>
              <a:t>и рассчитать </a:t>
            </a:r>
            <a:r>
              <a:rPr lang="ru-RU" sz="2000" b="1" dirty="0"/>
              <a:t>вклад разных типов питания </a:t>
            </a:r>
            <a:r>
              <a:rPr lang="ru-RU" sz="2000" dirty="0"/>
              <a:t>в годовой водный сток;</a:t>
            </a:r>
          </a:p>
          <a:p>
            <a:pPr>
              <a:lnSpc>
                <a:spcPct val="120000"/>
              </a:lnSpc>
            </a:pPr>
            <a:r>
              <a:rPr lang="ru-RU" sz="2000" dirty="0"/>
              <a:t>Для года средней водности скачать метеорологические данные и проанализировать </a:t>
            </a:r>
            <a:r>
              <a:rPr lang="ru-RU" sz="2000" b="1" dirty="0"/>
              <a:t>связь между погодными условиями и водным стоком</a:t>
            </a:r>
            <a:r>
              <a:rPr lang="ru-RU" sz="2000" dirty="0"/>
              <a:t>;</a:t>
            </a:r>
          </a:p>
          <a:p>
            <a:pPr>
              <a:lnSpc>
                <a:spcPct val="120000"/>
              </a:lnSpc>
            </a:pPr>
            <a:r>
              <a:rPr lang="ru-RU" sz="2000" dirty="0"/>
              <a:t>Описать </a:t>
            </a:r>
            <a:r>
              <a:rPr lang="ru-RU" sz="2000" b="1" dirty="0"/>
              <a:t>ледовый режим реки</a:t>
            </a:r>
            <a:r>
              <a:rPr lang="ru-RU" sz="2000" dirty="0"/>
              <a:t> и связь между </a:t>
            </a:r>
            <a:r>
              <a:rPr lang="ru-RU" sz="2000" b="1" dirty="0"/>
              <a:t>расходами и уровнями воды</a:t>
            </a:r>
            <a:r>
              <a:rPr lang="ru-RU" sz="2000" dirty="0"/>
              <a:t> в год средней водности;</a:t>
            </a:r>
          </a:p>
          <a:p>
            <a:pPr>
              <a:lnSpc>
                <a:spcPct val="120000"/>
              </a:lnSpc>
            </a:pPr>
            <a:r>
              <a:rPr lang="ru-RU" sz="2000" dirty="0"/>
              <a:t>Рассчитать </a:t>
            </a:r>
            <a:r>
              <a:rPr lang="ru-RU" sz="2000" b="1" dirty="0"/>
              <a:t>основные характеристики стока </a:t>
            </a:r>
            <a:r>
              <a:rPr lang="ru-RU" sz="2000" dirty="0"/>
              <a:t>(среднегодовой и среднемноголетний расход воды, объем, модуль и слой стока, коэффициент стока).</a:t>
            </a:r>
          </a:p>
        </p:txBody>
      </p:sp>
    </p:spTree>
    <p:extLst>
      <p:ext uri="{BB962C8B-B14F-4D97-AF65-F5344CB8AC3E}">
        <p14:creationId xmlns:p14="http://schemas.microsoft.com/office/powerpoint/2010/main" val="202049534"/>
      </p:ext>
    </p:extLst>
  </p:cSld>
  <p:clrMapOvr>
    <a:masterClrMapping/>
  </p:clrMapOvr>
  <p:transition spd="med" advTm="15000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802424"/>
            <a:ext cx="12288688" cy="2022231"/>
          </a:xfrm>
          <a:solidFill>
            <a:srgbClr val="6B6BCF"/>
          </a:solidFill>
        </p:spPr>
        <p:txBody>
          <a:bodyPr>
            <a:no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  <a:ea typeface="Cambria" panose="02040503050406030204" pitchFamily="18" charset="0"/>
              </a:rPr>
              <a:t>Выполнение практической работы</a:t>
            </a:r>
            <a:endParaRPr lang="ru-RU" sz="4000" i="1" dirty="0">
              <a:solidFill>
                <a:schemeClr val="bg1"/>
              </a:solidFill>
              <a:ea typeface="Cambria" panose="02040503050406030204" pitchFamily="18" charset="0"/>
            </a:endParaRPr>
          </a:p>
        </p:txBody>
      </p:sp>
      <p:pic>
        <p:nvPicPr>
          <p:cNvPr id="1638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87424"/>
            <a:ext cx="12288688" cy="6912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6188656"/>
      </p:ext>
    </p:extLst>
  </p:cSld>
  <p:clrMapOvr>
    <a:masterClrMapping/>
  </p:clrMapOvr>
  <p:transition spd="med" advTm="15000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0" y="242036"/>
            <a:ext cx="12192000" cy="716327"/>
          </a:xfrm>
          <a:prstGeom prst="rect">
            <a:avLst/>
          </a:prstGeom>
          <a:solidFill>
            <a:srgbClr val="6B6BCF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>
                <a:solidFill>
                  <a:schemeClr val="bg1"/>
                </a:solidFill>
                <a:ea typeface="Cambria" panose="02040503050406030204" pitchFamily="18" charset="0"/>
              </a:rPr>
              <a:t>Среднемесячные расходы </a:t>
            </a:r>
            <a:r>
              <a:rPr lang="ru-RU" sz="4000" dirty="0" smtClean="0">
                <a:solidFill>
                  <a:schemeClr val="bg1"/>
                </a:solidFill>
                <a:ea typeface="Cambria" panose="02040503050406030204" pitchFamily="18" charset="0"/>
              </a:rPr>
              <a:t>воды</a:t>
            </a:r>
            <a:endParaRPr lang="ru-RU" sz="4000" dirty="0">
              <a:solidFill>
                <a:schemeClr val="bg1"/>
              </a:solidFill>
              <a:ea typeface="Cambria" panose="02040503050406030204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967" y="1132744"/>
            <a:ext cx="6895734" cy="5632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270224"/>
      </p:ext>
    </p:extLst>
  </p:cSld>
  <p:clrMapOvr>
    <a:masterClrMapping/>
  </p:clrMapOvr>
  <p:transition spd="med" advTm="15000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967" y="1132744"/>
            <a:ext cx="6895734" cy="5632204"/>
          </a:xfrm>
          <a:prstGeom prst="rect">
            <a:avLst/>
          </a:prstGeom>
        </p:spPr>
      </p:pic>
      <p:sp>
        <p:nvSpPr>
          <p:cNvPr id="2" name="Овал 1"/>
          <p:cNvSpPr/>
          <p:nvPr/>
        </p:nvSpPr>
        <p:spPr>
          <a:xfrm>
            <a:off x="8338039" y="5794131"/>
            <a:ext cx="641839" cy="35169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8338038" y="5355248"/>
            <a:ext cx="641839" cy="35169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8338039" y="3678848"/>
            <a:ext cx="641839" cy="35169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8979876" y="3438507"/>
            <a:ext cx="1617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>
                <a:solidFill>
                  <a:srgbClr val="C00000"/>
                </a:solidFill>
              </a:rPr>
              <a:t>высокая водность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79876" y="5070357"/>
            <a:ext cx="1617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>
                <a:solidFill>
                  <a:srgbClr val="C00000"/>
                </a:solidFill>
              </a:rPr>
              <a:t>низкая водность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79876" y="5785340"/>
            <a:ext cx="1617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>
                <a:solidFill>
                  <a:srgbClr val="C00000"/>
                </a:solidFill>
              </a:rPr>
              <a:t>средняя водность</a:t>
            </a:r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0" y="242036"/>
            <a:ext cx="12192000" cy="716327"/>
          </a:xfrm>
          <a:prstGeom prst="rect">
            <a:avLst/>
          </a:prstGeom>
          <a:solidFill>
            <a:srgbClr val="6B6BCF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>
                <a:solidFill>
                  <a:schemeClr val="bg1"/>
                </a:solidFill>
                <a:ea typeface="Cambria" panose="02040503050406030204" pitchFamily="18" charset="0"/>
              </a:rPr>
              <a:t>Среднемесячные расходы </a:t>
            </a:r>
            <a:r>
              <a:rPr lang="ru-RU" sz="4000" dirty="0" smtClean="0">
                <a:solidFill>
                  <a:schemeClr val="bg1"/>
                </a:solidFill>
                <a:ea typeface="Cambria" panose="02040503050406030204" pitchFamily="18" charset="0"/>
              </a:rPr>
              <a:t>воды</a:t>
            </a:r>
            <a:endParaRPr lang="ru-RU" sz="4000" dirty="0">
              <a:solidFill>
                <a:schemeClr val="bg1"/>
              </a:solidFill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8480790"/>
      </p:ext>
    </p:extLst>
  </p:cSld>
  <p:clrMapOvr>
    <a:masterClrMapping/>
  </p:clrMapOvr>
  <p:transition spd="med" advTm="15000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Диаграмма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51354057"/>
              </p:ext>
            </p:extLst>
          </p:nvPr>
        </p:nvGraphicFramePr>
        <p:xfrm>
          <a:off x="1919536" y="1196752"/>
          <a:ext cx="8681021" cy="54568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Заголовок 1"/>
          <p:cNvSpPr txBox="1">
            <a:spLocks/>
          </p:cNvSpPr>
          <p:nvPr/>
        </p:nvSpPr>
        <p:spPr>
          <a:xfrm>
            <a:off x="0" y="242036"/>
            <a:ext cx="12192000" cy="716327"/>
          </a:xfrm>
          <a:prstGeom prst="rect">
            <a:avLst/>
          </a:prstGeom>
          <a:solidFill>
            <a:srgbClr val="6B6BCF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>
                <a:solidFill>
                  <a:schemeClr val="bg1"/>
                </a:solidFill>
                <a:ea typeface="Cambria" panose="02040503050406030204" pitchFamily="18" charset="0"/>
              </a:rPr>
              <a:t>Среднемесячные расходы </a:t>
            </a:r>
            <a:r>
              <a:rPr lang="ru-RU" sz="4000" dirty="0" smtClean="0">
                <a:solidFill>
                  <a:schemeClr val="bg1"/>
                </a:solidFill>
                <a:ea typeface="Cambria" panose="02040503050406030204" pitchFamily="18" charset="0"/>
              </a:rPr>
              <a:t>воды</a:t>
            </a:r>
            <a:endParaRPr lang="ru-RU" sz="4000" dirty="0">
              <a:solidFill>
                <a:schemeClr val="bg1"/>
              </a:solidFill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044410"/>
      </p:ext>
    </p:extLst>
  </p:cSld>
  <p:clrMapOvr>
    <a:masterClrMapping/>
  </p:clrMapOvr>
  <p:transition spd="med" advTm="15000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Диаграмма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06891547"/>
              </p:ext>
            </p:extLst>
          </p:nvPr>
        </p:nvGraphicFramePr>
        <p:xfrm>
          <a:off x="1559496" y="1412776"/>
          <a:ext cx="8689776" cy="50779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Заголовок 1"/>
          <p:cNvSpPr txBox="1">
            <a:spLocks/>
          </p:cNvSpPr>
          <p:nvPr/>
        </p:nvSpPr>
        <p:spPr>
          <a:xfrm>
            <a:off x="0" y="242036"/>
            <a:ext cx="12192000" cy="716327"/>
          </a:xfrm>
          <a:prstGeom prst="rect">
            <a:avLst/>
          </a:prstGeom>
          <a:solidFill>
            <a:srgbClr val="6B6BCF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 smtClean="0">
                <a:solidFill>
                  <a:schemeClr val="bg1"/>
                </a:solidFill>
                <a:ea typeface="Cambria" panose="02040503050406030204" pitchFamily="18" charset="0"/>
              </a:rPr>
              <a:t>Ежедневные расходы воды</a:t>
            </a:r>
            <a:endParaRPr lang="ru-RU" sz="4000" dirty="0">
              <a:solidFill>
                <a:schemeClr val="bg1"/>
              </a:solidFill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672346"/>
      </p:ext>
    </p:extLst>
  </p:cSld>
  <p:clrMapOvr>
    <a:masterClrMapping/>
  </p:clrMapOvr>
  <p:transition spd="med" advTm="15000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520" y="1268760"/>
            <a:ext cx="8945396" cy="5589240"/>
          </a:xfrm>
          <a:prstGeom prst="rect">
            <a:avLst/>
          </a:prstGeom>
        </p:spPr>
      </p:pic>
      <p:sp>
        <p:nvSpPr>
          <p:cNvPr id="6" name="Заголовок 1"/>
          <p:cNvSpPr txBox="1">
            <a:spLocks/>
          </p:cNvSpPr>
          <p:nvPr/>
        </p:nvSpPr>
        <p:spPr>
          <a:xfrm>
            <a:off x="0" y="205631"/>
            <a:ext cx="12192000" cy="1135138"/>
          </a:xfrm>
          <a:prstGeom prst="rect">
            <a:avLst/>
          </a:prstGeom>
          <a:solidFill>
            <a:srgbClr val="6B6BCF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>
                <a:solidFill>
                  <a:schemeClr val="bg1"/>
                </a:solidFill>
                <a:ea typeface="Cambria" panose="02040503050406030204" pitchFamily="18" charset="0"/>
              </a:rPr>
              <a:t>Совмещение гидрографа с данными о погоде и выделение типов питания</a:t>
            </a:r>
          </a:p>
        </p:txBody>
      </p:sp>
    </p:spTree>
    <p:extLst>
      <p:ext uri="{BB962C8B-B14F-4D97-AF65-F5344CB8AC3E}">
        <p14:creationId xmlns:p14="http://schemas.microsoft.com/office/powerpoint/2010/main" val="1956474730"/>
      </p:ext>
    </p:extLst>
  </p:cSld>
  <p:clrMapOvr>
    <a:masterClrMapping/>
  </p:clrMapOvr>
  <p:transition spd="med" advTm="15000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480" y="1429371"/>
            <a:ext cx="9197376" cy="5428629"/>
          </a:xfrm>
          <a:prstGeom prst="rect">
            <a:avLst/>
          </a:prstGeom>
        </p:spPr>
      </p:pic>
      <p:sp>
        <p:nvSpPr>
          <p:cNvPr id="6" name="Заголовок 1"/>
          <p:cNvSpPr txBox="1">
            <a:spLocks/>
          </p:cNvSpPr>
          <p:nvPr/>
        </p:nvSpPr>
        <p:spPr>
          <a:xfrm>
            <a:off x="0" y="205631"/>
            <a:ext cx="12192000" cy="1135138"/>
          </a:xfrm>
          <a:prstGeom prst="rect">
            <a:avLst/>
          </a:prstGeom>
          <a:solidFill>
            <a:srgbClr val="6B6BCF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>
                <a:solidFill>
                  <a:schemeClr val="bg1"/>
                </a:solidFill>
                <a:ea typeface="Cambria" panose="02040503050406030204" pitchFamily="18" charset="0"/>
              </a:rPr>
              <a:t>Совмещение расхода и уровня воды, ледовых явлений</a:t>
            </a:r>
          </a:p>
        </p:txBody>
      </p:sp>
    </p:spTree>
    <p:extLst>
      <p:ext uri="{BB962C8B-B14F-4D97-AF65-F5344CB8AC3E}">
        <p14:creationId xmlns:p14="http://schemas.microsoft.com/office/powerpoint/2010/main" val="1804079958"/>
      </p:ext>
    </p:extLst>
  </p:cSld>
  <p:clrMapOvr>
    <a:masterClrMapping/>
  </p:clrMapOvr>
  <p:transition spd="med" advTm="15000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1881725" y="1600174"/>
            <a:ext cx="4710777" cy="46628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i="1" dirty="0"/>
              <a:t>Среднегодовой расход воды, </a:t>
            </a:r>
            <a:r>
              <a:rPr lang="ru-RU" dirty="0"/>
              <a:t>м</a:t>
            </a:r>
            <a:r>
              <a:rPr lang="ru-RU" baseline="30000" dirty="0"/>
              <a:t>3</a:t>
            </a:r>
            <a:r>
              <a:rPr lang="ru-RU" dirty="0"/>
              <a:t>/с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i="1" dirty="0"/>
              <a:t>Среднемноголетний расход воды</a:t>
            </a:r>
            <a:r>
              <a:rPr lang="ru-RU" dirty="0"/>
              <a:t>, м</a:t>
            </a:r>
            <a:r>
              <a:rPr lang="ru-RU" baseline="30000" dirty="0"/>
              <a:t>3</a:t>
            </a:r>
            <a:r>
              <a:rPr lang="ru-RU" dirty="0"/>
              <a:t>/с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i="1" dirty="0"/>
              <a:t>Объем стока, </a:t>
            </a:r>
            <a:r>
              <a:rPr lang="ru-RU" dirty="0"/>
              <a:t>м</a:t>
            </a:r>
            <a:r>
              <a:rPr lang="ru-RU" baseline="30000" dirty="0"/>
              <a:t>3</a:t>
            </a:r>
            <a:r>
              <a:rPr lang="ru-RU" dirty="0"/>
              <a:t> или км</a:t>
            </a:r>
            <a:r>
              <a:rPr lang="ru-RU" baseline="30000" dirty="0"/>
              <a:t>3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i="1" dirty="0"/>
              <a:t>Модуль стока, </a:t>
            </a:r>
            <a:r>
              <a:rPr lang="ru-RU" dirty="0"/>
              <a:t>л/(с·км</a:t>
            </a:r>
            <a:r>
              <a:rPr lang="ru-RU" baseline="30000" dirty="0"/>
              <a:t>2</a:t>
            </a:r>
            <a:r>
              <a:rPr lang="ru-RU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i="1" dirty="0"/>
              <a:t>Слой стока</a:t>
            </a:r>
            <a:r>
              <a:rPr lang="ru-RU" dirty="0"/>
              <a:t>, мм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i="1" dirty="0"/>
              <a:t>Коэффициент стока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7086" y="1482236"/>
            <a:ext cx="4229100" cy="781050"/>
          </a:xfrm>
          <a:prstGeom prst="rect">
            <a:avLst/>
          </a:prstGeom>
        </p:spPr>
      </p:pic>
      <p:grpSp>
        <p:nvGrpSpPr>
          <p:cNvPr id="8" name="Группа 7"/>
          <p:cNvGrpSpPr/>
          <p:nvPr/>
        </p:nvGrpSpPr>
        <p:grpSpPr>
          <a:xfrm>
            <a:off x="6374058" y="2373923"/>
            <a:ext cx="3937233" cy="817785"/>
            <a:chOff x="4850057" y="2373922"/>
            <a:chExt cx="3937233" cy="817785"/>
          </a:xfrm>
        </p:grpSpPr>
        <p:pic>
          <p:nvPicPr>
            <p:cNvPr id="5" name="Рисунок 4"/>
            <p:cNvPicPr>
              <a:picLocks noChangeAspect="1"/>
            </p:cNvPicPr>
            <p:nvPr/>
          </p:nvPicPr>
          <p:blipFill rotWithShape="1">
            <a:blip r:embed="rId3"/>
            <a:srcRect t="6678"/>
            <a:stretch/>
          </p:blipFill>
          <p:spPr>
            <a:xfrm>
              <a:off x="4850057" y="2373922"/>
              <a:ext cx="1800225" cy="817785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6777253" y="2470711"/>
              <a:ext cx="20100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– </a:t>
              </a:r>
              <a:r>
                <a:rPr lang="ru-R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количество лет</a:t>
              </a:r>
            </a:p>
          </p:txBody>
        </p:sp>
      </p:grpSp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5426" y="3309644"/>
            <a:ext cx="5362575" cy="476250"/>
          </a:xfrm>
          <a:prstGeom prst="rect">
            <a:avLst/>
          </a:prstGeom>
        </p:spPr>
      </p:pic>
      <p:grpSp>
        <p:nvGrpSpPr>
          <p:cNvPr id="12" name="Группа 11"/>
          <p:cNvGrpSpPr/>
          <p:nvPr/>
        </p:nvGrpSpPr>
        <p:grpSpPr>
          <a:xfrm>
            <a:off x="5807472" y="4060728"/>
            <a:ext cx="4793083" cy="771525"/>
            <a:chOff x="4283471" y="4060727"/>
            <a:chExt cx="4793083" cy="771525"/>
          </a:xfrm>
        </p:grpSpPr>
        <p:pic>
          <p:nvPicPr>
            <p:cNvPr id="10" name="Рисунок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283471" y="4060727"/>
              <a:ext cx="1952625" cy="771525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6236096" y="4166362"/>
              <a:ext cx="28404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– </a:t>
              </a:r>
              <a:r>
                <a:rPr lang="ru-R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площадь бассейна, км</a:t>
              </a:r>
              <a:r>
                <a:rPr lang="ru-RU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</p:grpSp>
      <p:pic>
        <p:nvPicPr>
          <p:cNvPr id="13" name="Рисунок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0850" y="4834945"/>
            <a:ext cx="1009650" cy="714375"/>
          </a:xfrm>
          <a:prstGeom prst="rect">
            <a:avLst/>
          </a:prstGeom>
        </p:spPr>
      </p:pic>
      <p:grpSp>
        <p:nvGrpSpPr>
          <p:cNvPr id="16" name="Группа 15"/>
          <p:cNvGrpSpPr/>
          <p:nvPr/>
        </p:nvGrpSpPr>
        <p:grpSpPr>
          <a:xfrm>
            <a:off x="4670851" y="5690264"/>
            <a:ext cx="5805337" cy="770374"/>
            <a:chOff x="3146850" y="5690264"/>
            <a:chExt cx="5805337" cy="770374"/>
          </a:xfrm>
        </p:grpSpPr>
        <p:pic>
          <p:nvPicPr>
            <p:cNvPr id="14" name="Рисунок 1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146850" y="5690264"/>
              <a:ext cx="895350" cy="647700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4329941" y="5814307"/>
              <a:ext cx="462224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–</a:t>
              </a:r>
              <a:r>
                <a:rPr lang="ru-RU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количество осадков за тот же период, за который рассчитывается слой стока, мм</a:t>
              </a:r>
              <a:endParaRPr lang="ru-RU" baseline="30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Заголовок 1"/>
          <p:cNvSpPr txBox="1">
            <a:spLocks/>
          </p:cNvSpPr>
          <p:nvPr/>
        </p:nvSpPr>
        <p:spPr>
          <a:xfrm>
            <a:off x="0" y="205631"/>
            <a:ext cx="12192000" cy="1135138"/>
          </a:xfrm>
          <a:prstGeom prst="rect">
            <a:avLst/>
          </a:prstGeom>
          <a:solidFill>
            <a:srgbClr val="6B6BCF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>
                <a:solidFill>
                  <a:schemeClr val="bg1"/>
                </a:solidFill>
                <a:ea typeface="Cambria" panose="02040503050406030204" pitchFamily="18" charset="0"/>
              </a:rPr>
              <a:t>Расчет основных характеристик стока</a:t>
            </a:r>
          </a:p>
        </p:txBody>
      </p:sp>
    </p:spTree>
    <p:extLst>
      <p:ext uri="{BB962C8B-B14F-4D97-AF65-F5344CB8AC3E}">
        <p14:creationId xmlns:p14="http://schemas.microsoft.com/office/powerpoint/2010/main" val="158199995"/>
      </p:ext>
    </p:extLst>
  </p:cSld>
  <p:clrMapOvr>
    <a:masterClrMapping/>
  </p:clrMapOvr>
  <p:transition spd="med" advTm="1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Оформление по умолчанию">
  <a:themeElements>
    <a:clrScheme name="Оформление по 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Оформление по умолчанию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25740</TotalTime>
  <Words>2073</Words>
  <Application>Microsoft Office PowerPoint</Application>
  <PresentationFormat>Широкоэкранный</PresentationFormat>
  <Paragraphs>215</Paragraphs>
  <Slides>36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36</vt:i4>
      </vt:variant>
    </vt:vector>
  </HeadingPairs>
  <TitlesOfParts>
    <vt:vector size="42" baseType="lpstr">
      <vt:lpstr>Arial</vt:lpstr>
      <vt:lpstr>Calibri</vt:lpstr>
      <vt:lpstr>Cambria</vt:lpstr>
      <vt:lpstr>Times New Roman</vt:lpstr>
      <vt:lpstr>Verdana</vt:lpstr>
      <vt:lpstr>Оформление по умолчанию</vt:lpstr>
      <vt:lpstr>Гидрология</vt:lpstr>
      <vt:lpstr>Порядок работы</vt:lpstr>
      <vt:lpstr>Практическая работа 2 Гидрологический режим реки</vt:lpstr>
      <vt:lpstr>Презентация PowerPoint</vt:lpstr>
      <vt:lpstr>Водный режим реки</vt:lpstr>
      <vt:lpstr>Водный режим реки - определения</vt:lpstr>
      <vt:lpstr>Водный режим реки</vt:lpstr>
      <vt:lpstr>Питание рек</vt:lpstr>
      <vt:lpstr>Классификации рек по водному режиму и источникам питания</vt:lpstr>
      <vt:lpstr>Классификации рек по водному режиму и источникам питания: классификация Львовича</vt:lpstr>
      <vt:lpstr>Классификации рек по водному режиму и источникам питания: классификация Львовича</vt:lpstr>
      <vt:lpstr>Классификации рек по водному режиму и источникам питания: классификация Львовича</vt:lpstr>
      <vt:lpstr>Презентация PowerPoint</vt:lpstr>
      <vt:lpstr>Классификации рек по водному режиму и источникам питания: классификация Зайкова</vt:lpstr>
      <vt:lpstr>Классификации рек по водному режиму и источникам питания: классификация Зайкова</vt:lpstr>
      <vt:lpstr>Классификации рек по водному режиму и источникам питания: классификация Зайкова</vt:lpstr>
      <vt:lpstr>Презентация PowerPoint</vt:lpstr>
      <vt:lpstr>Классификации рек по водному режиму и источникам питания: классификация Зайкова</vt:lpstr>
      <vt:lpstr>Классификации рек по водному режиму и источникам питания: классификация Зайкова</vt:lpstr>
      <vt:lpstr>Классификации рек по водному режиму и источникам питания: классификация Зайкова</vt:lpstr>
      <vt:lpstr>Выделение типов питания  по гидрографу реки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Выполнение практической работы</vt:lpstr>
      <vt:lpstr>Задачи практической работы №2</vt:lpstr>
      <vt:lpstr>Выполнение практической работы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Кристина Прокопьева</dc:creator>
  <cp:lastModifiedBy>Учетная запись Майкрософт</cp:lastModifiedBy>
  <cp:revision>232</cp:revision>
  <dcterms:created xsi:type="dcterms:W3CDTF">2006-09-16T05:23:25Z</dcterms:created>
  <dcterms:modified xsi:type="dcterms:W3CDTF">2026-10-05T08:32:14Z</dcterms:modified>
</cp:coreProperties>
</file>